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by naming the project: KGP Gyankosh — an enterprise RAG assistant built for Kashmir Government Polytechnic College, Srinagar.
- Frame the deck: this is Capstone Project 2 for IIT Patna's Generative &amp; Agentic AI program — an evaluation defense, not a sales pitch.
- Preview what evaluators will see: 1,158 documents indexed, 8,166 clauses, full 26/26 unit test pass-rate.
- Mention the live deployment at https://kgp-gyankosh.streamlit.app/ and offer to demo it on stage if time permits.
- Transition cue: "Let's begin with the administrative reality KGP faces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Set institutional context: KGP Srinagar is a premier J&amp;K government diploma institute handling thousands of notices, orders, and circulars every year.
- Drive home the pain point: keyword search completely fails on scanned photocopies and image gazettes — staff waste hours on manual lookup.
- Pivot to the solution: KGP Gyankosh is an enterprise RAG system delivering sub-second, source-grounded answers with citations across 1,158 documents.
- Transition cue: "Now let's quantify exactly where naive RAG pipelines break — and how each engineering choice neutralizes a failure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with the failure thesis: standard RAG pipelines collapse on real administrative corpora — they're not robust enough for KGP's document mix.
- Walk each left-card row: pure vector search loses alphanumeric codes; LLMs hallucinate policy; conversation memory breaks on pronoun follow-ups; multi-page scanned PDFs crash naive OCR.
- Map each left failure to the matching right-card solution 1:1 — hybrid BM25+FAISS, strict grounding prompt, multi-turn reformulation, pure-Python ONNX OCR.
- Close on the three engineering goals: zero hallucination, strict two-stage decoupling, multi-provider LLM flexibility.
- Transition cue: "That two-stage decoupling is the heart of the system — let's see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Anchor on the decoupling principle: indexing (offline) and inference (online) are completely independent processes that share only the persisted FAISS + BM25 artifacts.
- Walk Stage 1 left-to-right: multi-format ingestion → ONNX OCR → recursive 500/100 chunking → dual FAISS + BM25Okapi indexing, all in build_index.py.
- Walk Stage 2: bcrypt auth → conversational reformulation → RRF hybrid retrieval → cross-encoder rerank → grounded LLM answer with citations, all in app.py.
- Stress why this matters for cloud memory: the online app stays light, batch jobs run on schedule, zero runtime coupling keeps inference sub-second.
- Transition cue: "Let's zoom into Stage 1's first three steps — the ingestion and OCR pipeline that makes scanned PDFs 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on the breadth of multi-format support: digital PDFs, scanned PDFs, DOCX, TXT, and PNG/JPG circular gazettes all flow through one pipeline.
- Explain the ONNX choice: rapidocr-onnxruntime runs as pure Python — no Poppler, no Tesseract system install — so the entire stack deploys in cloud containers with one pip install.
- Walk the metadata schema: source_file, page_number, format, modified_timestamp, and chunk_id (UUID + MD5) — every chunk is reproducibly traceable.
- Hit the caching speedup: page-level OCR cache under output/ocr_cache/ makes re-indexing 10x faster on rerun.
- Transition cue: "Once chunks are indexed, retrieval has to be both semantically smart and lexically exact — that's where hybrid FAISS+BM25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with the failure mode: pure dense retrieval misses alphanumeric order codes (KGP/EXAM/2026/89), acronyms (SBOTE), and exact fee amounts (Rs. 2,200).
- Explain the BM25 complement: BM25Okapi guarantees 100% lexical precision on those codes while FAISS handles conceptual synonyms.
- Walk the RRF formula: combine rank positions, not raw scores — α=0.5 weights both streams equally, k=60 is the standard smoothing constant.
- Stress why RRF over score normalization: dense cosine and sparse BM25 scores live on completely different scales — fusing ranks sidesteps that problem entirely.
- Transition cue: "The fused candidate pool then goes through cross-encoder reranking — the next slide breaks down that deeper scoring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Bi-encoders are fast but shallow — query and passage never see each other's tokens.
 • Cross-encoder runs (Query, Passage) through full multi-head attention for true semantic scoring.
 • Walk the funnel left-to-right: 8,166 clauses → RRF top-20 → cross-encoder top-4 → LLM context.
 • Model used: ms-marco-MiniLM-L-6-v2 — small, fast, enterprise-grade reranker.
 • Cost &amp; quality win: only 3–5 passages hit the LLM, so token spend drops and lost-in-the-middle attention loss disappears.
 • Transition cue: next we'll see how multi-turn memory layers on top of this retrieval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Multi-turn problem: turn 3 alone ("deadline for that") has zero standalone meaning for vector search.
 • Pronoun resolution: reformulation engine walks prior turns to bind "that" → attendance condonation context.
 • Engine emits a self-contained search query so BM25 + FAISS retrieve as if the question were fresh.
 • Accuracy stays high across 5+ turns — no context degradation, no need to re-prompt the LLM with full history.
 • Transition cue: next we'll see how the anti-hallucination layer keeps every answer grounded in cited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Grounding prompt forces the LLM to answer ONLY from retrieved context — no external knowledge.
 • Missing-info path: explicit "could not find" disclaimer rather than a fabricated answer.
 • Every factual claim carries the source file + page + rerank relevance score as a citation card.
 • Streamlit UI exposes an expandable citation card with one-click source download from the campus repo.
 • Out-of-scope example (PhD mess fees in a diploma system) shows the disclaimer firing on real edge cases.
 • Transition cue: next we'll look at the pluggable LLM backends that run this grounded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Three-tier swap: same RAG pipeline, only env vars change — zero code edits to switch backends.
 • Gemini is the default cloud engine — fast (~1.2s end-to-end), high context efficiency, no local hardware.
 • Ollama (llama3.1) is the recommended path for government use: 100% offline, zero data leakage, stays on campus LAN.
 • OpenAI gpt-4o-mini offers enterprise analytics and mature ecosystem support.
 • Embeddings stay CPU-friendly (all-MiniLM-L6-v2) by default — pluggable to Google / OpenAI embedders.
 • keepalive.yaml cron pings the cloud deployment every 3 days so it never falls asleep.
 • Transition cue: next we lock all of this behind role-based access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Auth: streamlit-authenticator with salted bcrypt — never plaintext, never reversible.
 • Sessions signed via secret key in YAML; cookie + signature guard against tampering.
 • .gitignore hard-blocks auth_config.yaml and .env from ever landing in version control.
 • Four roles map 1:1 to polytechnic departments: Principal, Academics, Exams, HODs.
 • Each role sees only the document classes it owns — no cross-department leakage.
 • Compliance line: strict .gitignore + no committed secrets + bcrypt-hashed passwords.
 • Transition cue: next we prove all of this works on real polytechnic test queries.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Test 1 — exact-fact retrieval: pulls 75% rule + condonation band from the attendance order, page 1.
 • Test 2 — multi-turn follow-up: pronoun "it" resolves to attendance, deadline query still lands on the same source.
 • Test 3 — anti-hallucination: PhD mess-fee query is out-of-scope for a diploma corpus → explicit disclaimer, no source.
 • All three return a verdict badge tied to a measurable behavior: citation verified, context resolved, hallucination prevented.
 • Test suite runs under pytest -v; 26/26 unit + integration tests green.
 • Transition cue: with empirical verification done, we'll close on impact and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with the data scale headline — 1,158 official admin documents ingested across PDF/DOCX/TXT/IMG, expanded into 8,166 semantic clauses indexed in FAISS + BM25 stores.
- Walk the latency profile top-to-bottom: ~120 ms retrieval, ~1.2 s Gemini Flash-Lite E2E, ~3.5 s air-gapped Ollama fallback, incremental indexing only on MD5-changed files.
- Highlight the CPU-only PyTorch optimization — 180 MB vs 3 GB CUDA wheel (−94% footprint), unlocks free-tier Streamlit Community Cloud deployment with no GPU.
- Stress production rigor: 26/26 unit &amp; integration tests passing under pytest -v.
- Transition cue: "Next, the interface that exposes all of this to administrative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Open on the design language: dark glassmorphism, J&amp;K Government palette, Polytechnic branding baked into static/style.css.
- Walk through the four productivity affordances: suggestion chips, system health pill, collapsible source drawer with Cross-Encoder scores, one-click verified PDF download cards.
- Point at the dashed frame — that's where the live Streamlit screenshot will be pasted before defense (kgp-gyankosh.streamlit.app).
- Note the three preview surfaces in the chip strip: dashboard, citation cards, source drawer.
- Transition cue: "Now, the engineering hurdles we hit and how we resolved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Challenge 01 — Scanned photocopies crashed naive OCR; chose RapidOCR ONNX + disk cache because it ships self-contained, no apt packages.
- Challenge 02 — Pure semantic search dropped KGP/EXAM/2026/89-style reference numbers; hybrid BM25 + FAISS with RRF preserved lexical precision without losing semantic recall.
- Challenge 03 — Free-tier Streamlit cloud OOMs on full index build; decoupled into offline build_index.py so the live app stays lightweight and reactive.
- Challenge 04 — Cloud sleep = cold-start latency for evaluators; GitHub Actions cron pings every 3 days to keep the deployment warm.
- Transition cue: "With these engineering issues behind us, here's the roadmap for institutional scale-out."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Phase 01 (Q1 2026) — Agentic workflows: LangGraph + Llama-3.1 for drafting J&amp;K-format notices, governed by a notice → review → dispatch state machine.
- Phase 02 (Q2 2026) — Voice kiosk: multilingual (Urdu, Kashmiri, Hindi, English) for student helpdesks, offline Whisper + MarianMT.
- Phase 03 (Q3 2026) — SSO via J&amp;K e-Governance AD + DigiLocker, retiring YAML auth for institutional identity.
- Phase 04 (Q4 2026) — SBOTE webhook integration for real-time auto-indexing of new circulars and result notifications.
- Transition cue: "That's the path forward — let me wrap up with the conclusion and open the floor for evaluator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three core wins: (1) intelligence hub delivered over 1,158 docs, (2) friction solved via OCR + Hybrid Search + Cross-Encoder rerank, (3) production-verified with 26/26 tests and sub-second response.
- Point evaluators at the four artifacts: live Streamlit URL, pytest suite, documented codebase, QR code (paste before defense).
- Invite a live demonstration — say "I'd be happy to walk through a sample query end-to-end".
- Close with explicit ask: "Opening the floor for evaluator questions".
- Transition cue: pause, smile, step back from the podium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Closing remark: thank the evaluators and the IIT Patna faculty for the capstone opportunity.
- Explicitly invite live demonstration — "I'm ready to walk through any query end-to-end on the live app".
- Reinforce the headline numbers visible in the chips: 1,158 docs, 8,166 clauses, 26/26 tests passing.
- Hand the floor to evaluators for Q&amp;A; pause and make eye contact before responding.
- Final thanks: acknowledge the Kashmir Government Polytechnic College, Srinagar institutional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pic>
        <p:nvPicPr>
          <p:cNvPr id="4" name="Image 2" descr="preencoded.png">    </p:cNvPr>
          <p:cNvPicPr>
            <a:picLocks noChangeAspect="1"/>
          </p:cNvPicPr>
          <p:nvPr/>
        </p:nvPicPr>
        <p:blipFill>
          <a:blip r:embed="rId3"/>
          <a:stretch>
            <a:fillRect/>
          </a:stretch>
        </p:blipFill>
        <p:spPr>
          <a:xfrm>
            <a:off x="0" y="0"/>
            <a:ext cx="9144000" cy="5143500"/>
          </a:xfrm>
          <a:prstGeom prst="rect">
            <a:avLst/>
          </a:prstGeom>
        </p:spPr>
      </p:pic>
      <p:sp>
        <p:nvSpPr>
          <p:cNvPr id="5" name="Text 0"/>
          <p:cNvSpPr/>
          <p:nvPr/>
        </p:nvSpPr>
        <p:spPr>
          <a:xfrm>
            <a:off x="6575822" y="2575322"/>
            <a:ext cx="3850481" cy="3850481"/>
          </a:xfrm>
          <a:prstGeom prst="ellipse">
            <a:avLst/>
          </a:prstGeom>
          <a:noFill/>
          <a:ln w="7144">
            <a:solidFill>
              <a:srgbClr val="06B6D4"/>
            </a:solidFill>
            <a:prstDash val="solid"/>
          </a:ln>
        </p:spPr>
        <p:txBody>
          <a:bodyPr wrap="square" rtlCol="0" anchor="ctr"/>
          <a:lstStyle/>
          <a:p>
            <a:pPr indent="0" marL="0">
              <a:buNone/>
            </a:pPr>
            <a:endParaRPr lang="en-US" dirty="0"/>
          </a:p>
        </p:txBody>
      </p:sp>
      <p:pic>
        <p:nvPicPr>
          <p:cNvPr id="6" name="Image 3" descr="preencoded.png">    </p:cNvPr>
          <p:cNvPicPr>
            <a:picLocks noChangeAspect="1"/>
          </p:cNvPicPr>
          <p:nvPr/>
        </p:nvPicPr>
        <p:blipFill>
          <a:blip r:embed="rId4"/>
          <a:stretch>
            <a:fillRect/>
          </a:stretch>
        </p:blipFill>
        <p:spPr>
          <a:xfrm>
            <a:off x="8496011" y="3536290"/>
            <a:ext cx="1621498" cy="1621497"/>
          </a:xfrm>
          <a:prstGeom prst="rect">
            <a:avLst/>
          </a:prstGeom>
        </p:spPr>
      </p:pic>
      <p:sp>
        <p:nvSpPr>
          <p:cNvPr id="7" name="Shape 1"/>
          <p:cNvSpPr/>
          <p:nvPr/>
        </p:nvSpPr>
        <p:spPr>
          <a:xfrm>
            <a:off x="400050" y="3422079"/>
            <a:ext cx="8343900" cy="0"/>
          </a:xfrm>
          <a:prstGeom prst="line">
            <a:avLst/>
          </a:prstGeom>
          <a:noFill/>
          <a:ln w="7144">
            <a:solidFill>
              <a:srgbClr val="0F172A"/>
            </a:solidFill>
            <a:prstDash val="solid"/>
          </a:ln>
        </p:spPr>
      </p:sp>
      <p:sp>
        <p:nvSpPr>
          <p:cNvPr id="8" name="Shape 2"/>
          <p:cNvSpPr/>
          <p:nvPr/>
        </p:nvSpPr>
        <p:spPr>
          <a:xfrm>
            <a:off x="400050" y="3983868"/>
            <a:ext cx="8343900" cy="0"/>
          </a:xfrm>
          <a:prstGeom prst="line">
            <a:avLst/>
          </a:prstGeom>
          <a:noFill/>
          <a:ln w="7144">
            <a:solidFill>
              <a:srgbClr val="0F172A"/>
            </a:solidFill>
            <a:prstDash val="solid"/>
          </a:ln>
        </p:spPr>
      </p:sp>
      <p:sp>
        <p:nvSpPr>
          <p:cNvPr id="9" name="Text 3"/>
          <p:cNvSpPr/>
          <p:nvPr/>
        </p:nvSpPr>
        <p:spPr>
          <a:xfrm>
            <a:off x="400050" y="391232"/>
            <a:ext cx="7455173" cy="170078"/>
          </a:xfrm>
          <a:prstGeom prst="rect">
            <a:avLst/>
          </a:prstGeom>
          <a:noFill/>
          <a:ln/>
        </p:spPr>
        <p:txBody>
          <a:bodyPr wrap="none" lIns="0" tIns="0" rIns="0" bIns="0" rtlCol="0" anchor="t"/>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CAPSTONE PROJECT 2 · IIT PATNA · GENERATIVE &amp; AGENTIC AI</a:t>
            </a:r>
            <a:endParaRPr lang="en-US" sz="800" dirty="0"/>
          </a:p>
        </p:txBody>
      </p:sp>
      <p:sp>
        <p:nvSpPr>
          <p:cNvPr id="10" name="Text 4"/>
          <p:cNvSpPr/>
          <p:nvPr/>
        </p:nvSpPr>
        <p:spPr>
          <a:xfrm>
            <a:off x="7846650" y="330450"/>
            <a:ext cx="920160" cy="232404"/>
          </a:xfrm>
          <a:prstGeom prst="roundRect">
            <a:avLst>
              <a:gd name="adj" fmla="val 4094368"/>
            </a:avLst>
          </a:prstGeom>
          <a:solidFill>
            <a:srgbClr val="B45309">
              <a:alpha val="10000"/>
            </a:srgbClr>
          </a:solidFill>
          <a:ln w="7144">
            <a:solidFill>
              <a:srgbClr val="B45309"/>
            </a:solidFill>
            <a:prstDash val="solid"/>
          </a:ln>
        </p:spPr>
        <p:txBody>
          <a:bodyPr wrap="square" rtlCol="0" anchor="ctr"/>
          <a:lstStyle/>
          <a:p>
            <a:pPr indent="0" marL="0">
              <a:buNone/>
            </a:pPr>
            <a:endParaRPr lang="en-US" dirty="0"/>
          </a:p>
        </p:txBody>
      </p:sp>
      <p:sp>
        <p:nvSpPr>
          <p:cNvPr id="11" name="Text 5"/>
          <p:cNvSpPr/>
          <p:nvPr/>
        </p:nvSpPr>
        <p:spPr>
          <a:xfrm>
            <a:off x="7869510" y="342900"/>
            <a:ext cx="874440" cy="207504"/>
          </a:xfrm>
          <a:prstGeom prst="rect">
            <a:avLst/>
          </a:prstGeom>
          <a:noFill/>
          <a:ln/>
        </p:spPr>
        <p:txBody>
          <a:bodyPr wrap="none" lIns="0" tIns="0" rIns="0" bIns="0" rtlCol="0" anchor="ctr"/>
          <a:lstStyle/>
          <a:p>
            <a:pPr algn="ctr" indent="0" marL="0">
              <a:lnSpc>
                <a:spcPts val="959"/>
              </a:lnSpc>
              <a:buNone/>
            </a:pPr>
            <a:r>
              <a:rPr lang="en-US" sz="800" spc="37" kern="0" dirty="0">
                <a:solidFill>
                  <a:srgbClr val="B45309"/>
                </a:solidFill>
                <a:latin typeface="Courier New" pitchFamily="34" charset="0"/>
                <a:ea typeface="Courier New" pitchFamily="34" charset="-122"/>
                <a:cs typeface="Courier New" pitchFamily="34" charset="-120"/>
              </a:rPr>
              <a:t>EVALUATION DECK</a:t>
            </a:r>
            <a:endParaRPr lang="en-US" sz="800" dirty="0"/>
          </a:p>
        </p:txBody>
      </p:sp>
      <p:pic>
        <p:nvPicPr>
          <p:cNvPr id="12" name="Image 4" descr="preencoded.png">    </p:cNvPr>
          <p:cNvPicPr>
            <a:picLocks noChangeAspect="1"/>
          </p:cNvPicPr>
          <p:nvPr/>
        </p:nvPicPr>
        <p:blipFill>
          <a:blip r:embed="rId5"/>
          <a:stretch>
            <a:fillRect/>
          </a:stretch>
        </p:blipFill>
        <p:spPr>
          <a:xfrm>
            <a:off x="400050" y="864729"/>
            <a:ext cx="5429250" cy="2325179"/>
          </a:xfrm>
          <a:prstGeom prst="rect">
            <a:avLst/>
          </a:prstGeom>
        </p:spPr>
      </p:pic>
      <p:sp>
        <p:nvSpPr>
          <p:cNvPr id="13" name="Text 6"/>
          <p:cNvSpPr/>
          <p:nvPr/>
        </p:nvSpPr>
        <p:spPr>
          <a:xfrm>
            <a:off x="403622" y="868300"/>
            <a:ext cx="5422106" cy="2318035"/>
          </a:xfrm>
          <a:prstGeom prst="roundRect">
            <a:avLst>
              <a:gd name="adj" fmla="val 7396"/>
            </a:avLst>
          </a:prstGeom>
          <a:noFill/>
          <a:ln w="7144">
            <a:solidFill>
              <a:srgbClr val="06B6D4"/>
            </a:solidFill>
            <a:prstDash val="solid"/>
          </a:ln>
        </p:spPr>
        <p:txBody>
          <a:bodyPr wrap="square" rtlCol="0" anchor="ctr"/>
          <a:lstStyle/>
          <a:p>
            <a:pPr indent="0" marL="0">
              <a:buNone/>
            </a:pPr>
            <a:endParaRPr lang="en-US" dirty="0"/>
          </a:p>
        </p:txBody>
      </p:sp>
      <p:sp>
        <p:nvSpPr>
          <p:cNvPr id="14" name="Text 7"/>
          <p:cNvSpPr/>
          <p:nvPr/>
        </p:nvSpPr>
        <p:spPr>
          <a:xfrm>
            <a:off x="850106" y="1129047"/>
            <a:ext cx="4767453" cy="170047"/>
          </a:xfrm>
          <a:prstGeom prst="rect">
            <a:avLst/>
          </a:prstGeom>
          <a:noFill/>
          <a:ln/>
        </p:spPr>
        <p:txBody>
          <a:bodyPr wrap="square" lIns="0" tIns="0" rIns="0" bIns="0" rtlCol="0" anchor="t"/>
          <a:lstStyle/>
          <a:p>
            <a:pPr algn="l" indent="0" marL="0">
              <a:lnSpc>
                <a:spcPts val="959"/>
              </a:lnSpc>
              <a:buNone/>
            </a:pPr>
            <a:r>
              <a:rPr lang="en-US" sz="800" spc="149" kern="0" dirty="0">
                <a:solidFill>
                  <a:srgbClr val="0E7490"/>
                </a:solidFill>
                <a:latin typeface="Liberation Sans Narrow" pitchFamily="34" charset="0"/>
                <a:ea typeface="Liberation Sans Narrow" pitchFamily="34" charset="-122"/>
                <a:cs typeface="Liberation Sans Narrow" pitchFamily="34" charset="-120"/>
              </a:rPr>
              <a:t>KNOWLEDGE ASSISTANT · BUILD V1.0</a:t>
            </a:r>
            <a:endParaRPr lang="en-US" sz="800" dirty="0"/>
          </a:p>
        </p:txBody>
      </p:sp>
      <p:sp>
        <p:nvSpPr>
          <p:cNvPr id="15" name="Text 8"/>
          <p:cNvSpPr/>
          <p:nvPr/>
        </p:nvSpPr>
        <p:spPr>
          <a:xfrm>
            <a:off x="721519" y="1365126"/>
            <a:ext cx="4786313" cy="574545"/>
          </a:xfrm>
          <a:prstGeom prst="rect">
            <a:avLst/>
          </a:prstGeom>
          <a:noFill/>
          <a:ln/>
        </p:spPr>
        <p:txBody>
          <a:bodyPr wrap="none" lIns="0" tIns="0" rIns="0" bIns="0" rtlCol="0" anchor="t"/>
          <a:lstStyle/>
          <a:p>
            <a:pPr algn="l" indent="0" marL="0">
              <a:lnSpc>
                <a:spcPts val="4190"/>
              </a:lnSpc>
              <a:buNone/>
            </a:pPr>
            <a:r>
              <a:rPr lang="en-US" sz="4275" b="1" spc="-107" kern="0" dirty="0">
                <a:solidFill>
                  <a:srgbClr val="0F172A"/>
                </a:solidFill>
                <a:latin typeface="Carlito" pitchFamily="34" charset="0"/>
                <a:ea typeface="Carlito" pitchFamily="34" charset="-122"/>
                <a:cs typeface="Carlito" pitchFamily="34" charset="-120"/>
              </a:rPr>
              <a:t>KGP Gyankosh</a:t>
            </a:r>
            <a:endParaRPr lang="en-US" sz="4275" dirty="0"/>
          </a:p>
        </p:txBody>
      </p:sp>
      <p:sp>
        <p:nvSpPr>
          <p:cNvPr id="16" name="Text 9"/>
          <p:cNvSpPr/>
          <p:nvPr/>
        </p:nvSpPr>
        <p:spPr>
          <a:xfrm>
            <a:off x="721519" y="1997125"/>
            <a:ext cx="4786313" cy="240619"/>
          </a:xfrm>
          <a:prstGeom prst="rect">
            <a:avLst/>
          </a:prstGeom>
          <a:noFill/>
          <a:ln/>
        </p:spPr>
        <p:txBody>
          <a:bodyPr wrap="square" lIns="0" tIns="0" rIns="0" bIns="0" rtlCol="0" anchor="t"/>
          <a:lstStyle/>
          <a:p>
            <a:pPr algn="l" indent="0" marL="0">
              <a:lnSpc>
                <a:spcPts val="1755"/>
              </a:lnSpc>
              <a:buNone/>
            </a:pPr>
            <a:r>
              <a:rPr lang="en-US" sz="1463" spc="-7" kern="0" dirty="0">
                <a:solidFill>
                  <a:srgbClr val="0E7490"/>
                </a:solidFill>
                <a:latin typeface="Carlito" pitchFamily="34" charset="0"/>
                <a:ea typeface="Carlito" pitchFamily="34" charset="-122"/>
                <a:cs typeface="Carlito" pitchFamily="34" charset="-120"/>
              </a:rPr>
              <a:t>Enterprise Knowledge Assistant with Advanced RAG</a:t>
            </a:r>
            <a:endParaRPr lang="en-US" sz="1463" dirty="0"/>
          </a:p>
        </p:txBody>
      </p:sp>
      <p:sp>
        <p:nvSpPr>
          <p:cNvPr id="17" name="Text 10"/>
          <p:cNvSpPr/>
          <p:nvPr/>
        </p:nvSpPr>
        <p:spPr>
          <a:xfrm>
            <a:off x="721519" y="2377083"/>
            <a:ext cx="4286250" cy="548506"/>
          </a:xfrm>
          <a:prstGeom prst="rect">
            <a:avLst/>
          </a:prstGeom>
          <a:noFill/>
          <a:ln/>
        </p:spPr>
        <p:txBody>
          <a:bodyPr wrap="square" lIns="0" tIns="0" rIns="0" bIns="0" rtlCol="0" anchor="t"/>
          <a:lstStyle/>
          <a:p>
            <a:pPr algn="l" indent="0" marL="0">
              <a:lnSpc>
                <a:spcPts val="1440"/>
              </a:lnSpc>
              <a:buNone/>
            </a:pPr>
            <a:r>
              <a:rPr lang="en-US" sz="900" dirty="0">
                <a:solidFill>
                  <a:srgbClr val="475569"/>
                </a:solidFill>
                <a:latin typeface="Carlito" pitchFamily="34" charset="0"/>
                <a:ea typeface="Carlito" pitchFamily="34" charset="-122"/>
                <a:cs typeface="Carlito" pitchFamily="34" charset="-120"/>
              </a:rPr>
              <a:t>Internal Administrative Intelligence System for Kashmir Government Polytechnic College, Srinagar — delivering sub-second, source-grounded answers across 1,158 multi-format administrative documents.</a:t>
            </a:r>
            <a:endParaRPr lang="en-US" sz="900" dirty="0"/>
          </a:p>
        </p:txBody>
      </p:sp>
      <p:sp>
        <p:nvSpPr>
          <p:cNvPr id="18" name="Text 11"/>
          <p:cNvSpPr/>
          <p:nvPr/>
        </p:nvSpPr>
        <p:spPr>
          <a:xfrm>
            <a:off x="6607969" y="871872"/>
            <a:ext cx="2128838" cy="1414463"/>
          </a:xfrm>
          <a:prstGeom prst="roundRect">
            <a:avLst>
              <a:gd name="adj" fmla="val 8081"/>
            </a:avLst>
          </a:prstGeom>
          <a:solidFill>
            <a:srgbClr val="06B6D4">
              <a:alpha val="4000"/>
            </a:srgbClr>
          </a:solidFill>
          <a:ln w="14288">
            <a:solidFill>
              <a:srgbClr val="0E7490"/>
            </a:solidFill>
            <a:prstDash val="dash"/>
          </a:ln>
        </p:spPr>
        <p:txBody>
          <a:bodyPr wrap="square" rtlCol="0" anchor="ctr"/>
          <a:lstStyle/>
          <a:p>
            <a:pPr indent="0" marL="0">
              <a:buNone/>
            </a:pPr>
            <a:endParaRPr lang="en-US" dirty="0"/>
          </a:p>
        </p:txBody>
      </p:sp>
      <p:sp>
        <p:nvSpPr>
          <p:cNvPr id="19" name="Text 12"/>
          <p:cNvSpPr/>
          <p:nvPr/>
        </p:nvSpPr>
        <p:spPr>
          <a:xfrm>
            <a:off x="7536656" y="1300497"/>
            <a:ext cx="271463" cy="271463"/>
          </a:xfrm>
          <a:prstGeom prst="rect">
            <a:avLst/>
          </a:prstGeom>
          <a:noFill/>
          <a:ln/>
        </p:spPr>
        <p:txBody>
          <a:bodyPr wrap="none" lIns="0" tIns="0" rIns="0" bIns="0" rtlCol="0" anchor="ctr"/>
          <a:lstStyle/>
          <a:p>
            <a:pPr algn="ctr" indent="0" marL="0">
              <a:buNone/>
            </a:pPr>
            <a:r>
              <a:rPr lang="en-US" sz="2672" dirty="0">
                <a:solidFill>
                  <a:srgbClr val="0E7490"/>
                </a:solidFill>
                <a:latin typeface="Segoe UI Symbol" pitchFamily="34" charset="0"/>
                <a:ea typeface="Segoe UI Symbol" pitchFamily="34" charset="-122"/>
                <a:cs typeface="Segoe UI Symbol" pitchFamily="34" charset="-120"/>
              </a:rPr>
              <a:t>＋</a:t>
            </a:r>
            <a:endParaRPr lang="en-US" sz="2672" dirty="0"/>
          </a:p>
        </p:txBody>
      </p:sp>
      <p:sp>
        <p:nvSpPr>
          <p:cNvPr id="20" name="Text 13"/>
          <p:cNvSpPr/>
          <p:nvPr/>
        </p:nvSpPr>
        <p:spPr>
          <a:xfrm>
            <a:off x="7222331" y="1643397"/>
            <a:ext cx="900113" cy="329184"/>
          </a:xfrm>
          <a:prstGeom prst="rect">
            <a:avLst/>
          </a:prstGeom>
          <a:noFill/>
          <a:ln/>
        </p:spPr>
        <p:txBody>
          <a:bodyPr wrap="square" lIns="0" tIns="0" rIns="0" bIns="0" rtlCol="0" anchor="t"/>
          <a:lstStyle/>
          <a:p>
            <a:pPr algn="ctr" indent="0" marL="0">
              <a:lnSpc>
                <a:spcPts val="844"/>
              </a:lnSpc>
              <a:buNone/>
            </a:pPr>
            <a:r>
              <a:rPr lang="en-US" sz="800" spc="113" kern="0" dirty="0">
                <a:solidFill>
                  <a:srgbClr val="64748B"/>
                </a:solidFill>
                <a:latin typeface="Courier New" pitchFamily="34" charset="0"/>
                <a:ea typeface="Courier New" pitchFamily="34" charset="-122"/>
                <a:cs typeface="Courier New" pitchFamily="34" charset="-120"/>
              </a:rPr>
              <a:t>INSERT CAMPUS /</a:t>
            </a:r>
            <a:endParaRPr lang="en-US" sz="800" dirty="0"/>
          </a:p>
          <a:p>
            <a:pPr algn="ctr" indent="0" marL="0">
              <a:lnSpc>
                <a:spcPts val="844"/>
              </a:lnSpc>
              <a:buNone/>
            </a:pPr>
            <a:r>
              <a:rPr lang="en-US" sz="800" spc="113" kern="0" dirty="0">
                <a:solidFill>
                  <a:srgbClr val="64748B"/>
                </a:solidFill>
                <a:latin typeface="Courier New" pitchFamily="34" charset="0"/>
                <a:ea typeface="Courier New" pitchFamily="34" charset="-122"/>
                <a:cs typeface="Courier New" pitchFamily="34" charset="-120"/>
              </a:rPr>
              <a:t>PRODUCT PHOTO HERE</a:t>
            </a:r>
            <a:endParaRPr lang="en-US" sz="800" dirty="0"/>
          </a:p>
        </p:txBody>
      </p:sp>
      <p:sp>
        <p:nvSpPr>
          <p:cNvPr id="21" name="Text 14"/>
          <p:cNvSpPr/>
          <p:nvPr/>
        </p:nvSpPr>
        <p:spPr>
          <a:xfrm>
            <a:off x="428625" y="3554239"/>
            <a:ext cx="3744266" cy="126159"/>
          </a:xfrm>
          <a:prstGeom prst="rect">
            <a:avLst/>
          </a:prstGeom>
          <a:noFill/>
          <a:ln/>
        </p:spPr>
        <p:txBody>
          <a:bodyPr wrap="none" lIns="0" tIns="0" rIns="0" bIns="0" rtlCol="0" anchor="t">
            <a:normAutofit/>
          </a:bodyPr>
          <a:lstStyle/>
          <a:p>
            <a:pPr algn="l" indent="0" marL="0">
              <a:lnSpc>
                <a:spcPts val="872"/>
              </a:lnSpc>
              <a:buNone/>
            </a:pPr>
            <a:r>
              <a:rPr lang="en-US" sz="800" spc="124" kern="0" dirty="0">
                <a:solidFill>
                  <a:srgbClr val="64748B"/>
                </a:solidFill>
                <a:latin typeface="Courier New" pitchFamily="34" charset="0"/>
                <a:ea typeface="Courier New" pitchFamily="34" charset="-122"/>
                <a:cs typeface="Courier New" pitchFamily="34" charset="-120"/>
              </a:rPr>
              <a:t>PRESENTER</a:t>
            </a:r>
            <a:endParaRPr lang="en-US" sz="800" dirty="0"/>
          </a:p>
        </p:txBody>
      </p:sp>
      <p:sp>
        <p:nvSpPr>
          <p:cNvPr id="22" name="Text 15"/>
          <p:cNvSpPr/>
          <p:nvPr/>
        </p:nvSpPr>
        <p:spPr>
          <a:xfrm>
            <a:off x="428625" y="3707829"/>
            <a:ext cx="2740303" cy="143880"/>
          </a:xfrm>
          <a:prstGeom prst="rect">
            <a:avLst/>
          </a:prstGeom>
          <a:noFill/>
          <a:ln/>
        </p:spPr>
        <p:txBody>
          <a:bodyPr wrap="none" lIns="0" tIns="0" rIns="0" bIns="0" rtlCol="0" anchor="t"/>
          <a:lstStyle/>
          <a:p>
            <a:pPr algn="l" indent="0" marL="0">
              <a:lnSpc>
                <a:spcPts val="1133"/>
              </a:lnSpc>
              <a:buNone/>
            </a:pPr>
            <a:r>
              <a:rPr lang="en-US" sz="800" dirty="0">
                <a:solidFill>
                  <a:srgbClr val="0F172A"/>
                </a:solidFill>
                <a:latin typeface="Carlito" pitchFamily="34" charset="0"/>
                <a:ea typeface="Carlito" pitchFamily="34" charset="-122"/>
                <a:cs typeface="Carlito" pitchFamily="34" charset="-120"/>
              </a:rPr>
              <a:t>[Your Name / Team Name]</a:t>
            </a:r>
            <a:endParaRPr lang="en-US" sz="800" dirty="0"/>
          </a:p>
        </p:txBody>
      </p:sp>
      <p:sp>
        <p:nvSpPr>
          <p:cNvPr id="23" name="Text 16"/>
          <p:cNvSpPr/>
          <p:nvPr/>
        </p:nvSpPr>
        <p:spPr>
          <a:xfrm>
            <a:off x="3267038" y="3554239"/>
            <a:ext cx="3744266" cy="126159"/>
          </a:xfrm>
          <a:prstGeom prst="rect">
            <a:avLst/>
          </a:prstGeom>
          <a:noFill/>
          <a:ln/>
        </p:spPr>
        <p:txBody>
          <a:bodyPr wrap="none" lIns="0" tIns="0" rIns="0" bIns="0" rtlCol="0" anchor="t">
            <a:normAutofit/>
          </a:bodyPr>
          <a:lstStyle/>
          <a:p>
            <a:pPr algn="l" indent="0" marL="0">
              <a:lnSpc>
                <a:spcPts val="872"/>
              </a:lnSpc>
              <a:buNone/>
            </a:pPr>
            <a:r>
              <a:rPr lang="en-US" sz="800" spc="124" kern="0" dirty="0">
                <a:solidFill>
                  <a:srgbClr val="64748B"/>
                </a:solidFill>
                <a:latin typeface="Courier New" pitchFamily="34" charset="0"/>
                <a:ea typeface="Courier New" pitchFamily="34" charset="-122"/>
                <a:cs typeface="Courier New" pitchFamily="34" charset="-120"/>
              </a:rPr>
              <a:t>DOMAIN</a:t>
            </a:r>
            <a:endParaRPr lang="en-US" sz="800" dirty="0"/>
          </a:p>
        </p:txBody>
      </p:sp>
      <p:sp>
        <p:nvSpPr>
          <p:cNvPr id="24" name="Text 17"/>
          <p:cNvSpPr/>
          <p:nvPr/>
        </p:nvSpPr>
        <p:spPr>
          <a:xfrm>
            <a:off x="3267038" y="3707829"/>
            <a:ext cx="2818598" cy="143880"/>
          </a:xfrm>
          <a:prstGeom prst="rect">
            <a:avLst/>
          </a:prstGeom>
          <a:noFill/>
          <a:ln/>
        </p:spPr>
        <p:txBody>
          <a:bodyPr wrap="square" lIns="0" tIns="0" rIns="0" bIns="0" rtlCol="0" anchor="t"/>
          <a:lstStyle/>
          <a:p>
            <a:pPr algn="l" indent="0" marL="0">
              <a:lnSpc>
                <a:spcPts val="1133"/>
              </a:lnSpc>
              <a:buNone/>
            </a:pPr>
            <a:r>
              <a:rPr lang="en-US" sz="800" dirty="0">
                <a:solidFill>
                  <a:srgbClr val="0F172A"/>
                </a:solidFill>
                <a:latin typeface="Carlito" pitchFamily="34" charset="0"/>
                <a:ea typeface="Carlito" pitchFamily="34" charset="-122"/>
                <a:cs typeface="Carlito" pitchFamily="34" charset="-120"/>
              </a:rPr>
              <a:t>Enterprise Generative AI &amp; Advanced RAG Systems</a:t>
            </a:r>
            <a:endParaRPr lang="en-US" sz="800" dirty="0"/>
          </a:p>
        </p:txBody>
      </p:sp>
      <p:sp>
        <p:nvSpPr>
          <p:cNvPr id="25" name="Text 18"/>
          <p:cNvSpPr/>
          <p:nvPr/>
        </p:nvSpPr>
        <p:spPr>
          <a:xfrm>
            <a:off x="6105451" y="3554239"/>
            <a:ext cx="2609924" cy="126159"/>
          </a:xfrm>
          <a:prstGeom prst="rect">
            <a:avLst/>
          </a:prstGeom>
          <a:noFill/>
          <a:ln/>
        </p:spPr>
        <p:txBody>
          <a:bodyPr wrap="none" lIns="0" tIns="0" rIns="0" bIns="0" rtlCol="0" anchor="t">
            <a:normAutofit/>
          </a:bodyPr>
          <a:lstStyle/>
          <a:p>
            <a:pPr algn="l" indent="0" marL="0">
              <a:lnSpc>
                <a:spcPts val="872"/>
              </a:lnSpc>
              <a:buNone/>
            </a:pPr>
            <a:r>
              <a:rPr lang="en-US" sz="800" spc="124" kern="0" dirty="0">
                <a:solidFill>
                  <a:srgbClr val="64748B"/>
                </a:solidFill>
                <a:latin typeface="Courier New" pitchFamily="34" charset="0"/>
                <a:ea typeface="Courier New" pitchFamily="34" charset="-122"/>
                <a:cs typeface="Courier New" pitchFamily="34" charset="-120"/>
              </a:rPr>
              <a:t>LIVE</a:t>
            </a:r>
            <a:endParaRPr lang="en-US" sz="800" dirty="0"/>
          </a:p>
        </p:txBody>
      </p:sp>
      <p:sp>
        <p:nvSpPr>
          <p:cNvPr id="26" name="Text 19"/>
          <p:cNvSpPr/>
          <p:nvPr/>
        </p:nvSpPr>
        <p:spPr>
          <a:xfrm>
            <a:off x="6105451" y="3707829"/>
            <a:ext cx="2719652" cy="143880"/>
          </a:xfrm>
          <a:prstGeom prst="rect">
            <a:avLst/>
          </a:prstGeom>
          <a:noFill/>
          <a:ln/>
        </p:spPr>
        <p:txBody>
          <a:bodyPr wrap="square" lIns="0" tIns="0" rIns="0" bIns="0" rtlCol="0" anchor="t"/>
          <a:lstStyle/>
          <a:p>
            <a:pPr algn="l" indent="0" marL="0">
              <a:lnSpc>
                <a:spcPts val="1046"/>
              </a:lnSpc>
              <a:buNone/>
            </a:pPr>
            <a:r>
              <a:rPr lang="en-US" sz="800" dirty="0">
                <a:solidFill>
                  <a:srgbClr val="0E7490"/>
                </a:solidFill>
                <a:latin typeface="Courier New" pitchFamily="34" charset="0"/>
                <a:ea typeface="Courier New" pitchFamily="34" charset="-122"/>
                <a:cs typeface="Courier New" pitchFamily="34" charset="-120"/>
              </a:rPr>
              <a:t>https://kgp-gyankosh.streamlit.app/</a:t>
            </a:r>
            <a:endParaRPr lang="en-US" sz="800" dirty="0"/>
          </a:p>
        </p:txBody>
      </p:sp>
      <p:sp>
        <p:nvSpPr>
          <p:cNvPr id="27" name="Text 20"/>
          <p:cNvSpPr/>
          <p:nvPr/>
        </p:nvSpPr>
        <p:spPr>
          <a:xfrm>
            <a:off x="400050" y="4173178"/>
            <a:ext cx="1840051" cy="432054"/>
          </a:xfrm>
          <a:prstGeom prst="rect">
            <a:avLst/>
          </a:prstGeom>
          <a:noFill/>
          <a:ln/>
        </p:spPr>
        <p:txBody>
          <a:bodyPr wrap="none" lIns="0" tIns="0" rIns="0" bIns="0" rtlCol="0" anchor="t"/>
          <a:lstStyle/>
          <a:p>
            <a:pPr algn="l" indent="0" marL="0">
              <a:lnSpc>
                <a:spcPts val="3150"/>
              </a:lnSpc>
              <a:buNone/>
            </a:pPr>
            <a:r>
              <a:rPr lang="en-US" sz="3150" spc="-79" kern="0" dirty="0">
                <a:solidFill>
                  <a:srgbClr val="0E7490"/>
                </a:solidFill>
                <a:latin typeface="Liberation Sans Narrow" pitchFamily="34" charset="0"/>
                <a:ea typeface="Liberation Sans Narrow" pitchFamily="34" charset="-122"/>
                <a:cs typeface="Liberation Sans Narrow" pitchFamily="34" charset="-120"/>
              </a:rPr>
              <a:t>1,158</a:t>
            </a:r>
            <a:endParaRPr lang="en-US" sz="3150" dirty="0"/>
          </a:p>
        </p:txBody>
      </p:sp>
      <p:sp>
        <p:nvSpPr>
          <p:cNvPr id="28" name="Text 21"/>
          <p:cNvSpPr/>
          <p:nvPr/>
        </p:nvSpPr>
        <p:spPr>
          <a:xfrm>
            <a:off x="400050" y="4644665"/>
            <a:ext cx="1242035" cy="169999"/>
          </a:xfrm>
          <a:prstGeom prst="rect">
            <a:avLst/>
          </a:prstGeom>
          <a:noFill/>
          <a:ln/>
        </p:spPr>
        <p:txBody>
          <a:bodyPr wrap="square" lIns="0" tIns="0" rIns="0" bIns="0" rtlCol="0" anchor="t"/>
          <a:lstStyle/>
          <a:p>
            <a:pPr algn="l" indent="0" marL="0">
              <a:lnSpc>
                <a:spcPts val="1133"/>
              </a:lnSpc>
              <a:buNone/>
            </a:pPr>
            <a:r>
              <a:rPr lang="en-US" sz="731" spc="29" kern="0" dirty="0">
                <a:solidFill>
                  <a:srgbClr val="475569"/>
                </a:solidFill>
                <a:latin typeface="Carlito" pitchFamily="34" charset="0"/>
                <a:ea typeface="Carlito" pitchFamily="34" charset="-122"/>
                <a:cs typeface="Carlito" pitchFamily="34" charset="-120"/>
              </a:rPr>
              <a:t>Administrative Documents</a:t>
            </a:r>
            <a:endParaRPr lang="en-US" sz="731" dirty="0"/>
          </a:p>
        </p:txBody>
      </p:sp>
      <p:pic>
        <p:nvPicPr>
          <p:cNvPr id="29" name="Image 5" descr="preencoded.png">    </p:cNvPr>
          <p:cNvPicPr>
            <a:picLocks noChangeAspect="1"/>
          </p:cNvPicPr>
          <p:nvPr/>
        </p:nvPicPr>
        <p:blipFill>
          <a:blip r:embed="rId6"/>
          <a:stretch>
            <a:fillRect/>
          </a:stretch>
        </p:blipFill>
        <p:spPr>
          <a:xfrm>
            <a:off x="1950132" y="4252206"/>
            <a:ext cx="7144" cy="457200"/>
          </a:xfrm>
          <a:prstGeom prst="rect">
            <a:avLst/>
          </a:prstGeom>
        </p:spPr>
      </p:pic>
      <p:sp>
        <p:nvSpPr>
          <p:cNvPr id="30" name="Text 22"/>
          <p:cNvSpPr/>
          <p:nvPr/>
        </p:nvSpPr>
        <p:spPr>
          <a:xfrm>
            <a:off x="2355935" y="4173178"/>
            <a:ext cx="1523150" cy="432054"/>
          </a:xfrm>
          <a:prstGeom prst="rect">
            <a:avLst/>
          </a:prstGeom>
          <a:noFill/>
          <a:ln/>
        </p:spPr>
        <p:txBody>
          <a:bodyPr wrap="square" lIns="0" tIns="0" rIns="0" bIns="0" rtlCol="0" anchor="t"/>
          <a:lstStyle/>
          <a:p>
            <a:pPr algn="l" indent="0" marL="0">
              <a:lnSpc>
                <a:spcPts val="3150"/>
              </a:lnSpc>
              <a:buNone/>
            </a:pPr>
            <a:r>
              <a:rPr lang="en-US" sz="3150" spc="-79" kern="0" dirty="0">
                <a:solidFill>
                  <a:srgbClr val="0E7490"/>
                </a:solidFill>
                <a:latin typeface="Liberation Sans Narrow" pitchFamily="34" charset="0"/>
                <a:ea typeface="Liberation Sans Narrow" pitchFamily="34" charset="-122"/>
                <a:cs typeface="Liberation Sans Narrow" pitchFamily="34" charset="-120"/>
              </a:rPr>
              <a:t>8,166</a:t>
            </a:r>
            <a:endParaRPr lang="en-US" sz="3150" dirty="0"/>
          </a:p>
        </p:txBody>
      </p:sp>
      <p:sp>
        <p:nvSpPr>
          <p:cNvPr id="31" name="Text 23"/>
          <p:cNvSpPr/>
          <p:nvPr/>
        </p:nvSpPr>
        <p:spPr>
          <a:xfrm>
            <a:off x="2357326" y="4644665"/>
            <a:ext cx="1148413"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475569"/>
                </a:solidFill>
                <a:latin typeface="Carlito" pitchFamily="34" charset="0"/>
                <a:ea typeface="Carlito" pitchFamily="34" charset="-122"/>
                <a:cs typeface="Carlito" pitchFamily="34" charset="-120"/>
              </a:rPr>
              <a:t>Indexed Clauses</a:t>
            </a:r>
            <a:endParaRPr lang="en-US" sz="800" dirty="0"/>
          </a:p>
        </p:txBody>
      </p:sp>
      <p:pic>
        <p:nvPicPr>
          <p:cNvPr id="32" name="Image 6" descr="preencoded.png">    </p:cNvPr>
          <p:cNvPicPr>
            <a:picLocks noChangeAspect="1"/>
          </p:cNvPicPr>
          <p:nvPr/>
        </p:nvPicPr>
        <p:blipFill>
          <a:blip r:embed="rId7"/>
          <a:stretch>
            <a:fillRect/>
          </a:stretch>
        </p:blipFill>
        <p:spPr>
          <a:xfrm>
            <a:off x="3707606" y="4252206"/>
            <a:ext cx="7144" cy="457200"/>
          </a:xfrm>
          <a:prstGeom prst="rect">
            <a:avLst/>
          </a:prstGeom>
        </p:spPr>
      </p:pic>
      <p:sp>
        <p:nvSpPr>
          <p:cNvPr id="33" name="Text 24"/>
          <p:cNvSpPr/>
          <p:nvPr/>
        </p:nvSpPr>
        <p:spPr>
          <a:xfrm>
            <a:off x="4113409" y="4173178"/>
            <a:ext cx="1523150" cy="432054"/>
          </a:xfrm>
          <a:prstGeom prst="rect">
            <a:avLst/>
          </a:prstGeom>
          <a:noFill/>
          <a:ln/>
        </p:spPr>
        <p:txBody>
          <a:bodyPr wrap="square" lIns="0" tIns="0" rIns="0" bIns="0" rtlCol="0" anchor="t"/>
          <a:lstStyle/>
          <a:p>
            <a:pPr algn="l" indent="0" marL="0">
              <a:lnSpc>
                <a:spcPts val="3150"/>
              </a:lnSpc>
              <a:buNone/>
            </a:pPr>
            <a:r>
              <a:rPr lang="en-US" sz="3150" spc="-79" kern="0" dirty="0">
                <a:solidFill>
                  <a:srgbClr val="0E7490"/>
                </a:solidFill>
                <a:latin typeface="Liberation Sans Narrow" pitchFamily="34" charset="0"/>
                <a:ea typeface="Liberation Sans Narrow" pitchFamily="34" charset="-122"/>
                <a:cs typeface="Liberation Sans Narrow" pitchFamily="34" charset="-120"/>
              </a:rPr>
              <a:t>26/26</a:t>
            </a:r>
            <a:endParaRPr lang="en-US" sz="3150" dirty="0"/>
          </a:p>
        </p:txBody>
      </p:sp>
      <p:sp>
        <p:nvSpPr>
          <p:cNvPr id="34" name="Text 25"/>
          <p:cNvSpPr/>
          <p:nvPr/>
        </p:nvSpPr>
        <p:spPr>
          <a:xfrm>
            <a:off x="4114800" y="4644665"/>
            <a:ext cx="1148413"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475569"/>
                </a:solidFill>
                <a:latin typeface="Carlito" pitchFamily="34" charset="0"/>
                <a:ea typeface="Carlito" pitchFamily="34" charset="-122"/>
                <a:cs typeface="Carlito" pitchFamily="34" charset="-120"/>
              </a:rPr>
              <a:t>Unit Tests Passing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022306"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436644" y="157163"/>
            <a:ext cx="1566725"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01 / 16 · EXECUTIVE SUMMARY</a:t>
            </a:r>
            <a:endParaRPr lang="en-US" sz="600" dirty="0"/>
          </a:p>
        </p:txBody>
      </p:sp>
      <p:sp>
        <p:nvSpPr>
          <p:cNvPr id="6" name="Text 2"/>
          <p:cNvSpPr/>
          <p:nvPr/>
        </p:nvSpPr>
        <p:spPr>
          <a:xfrm>
            <a:off x="400050" y="557213"/>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EXECUTIVE SUMMARY &amp; CONTEXT</a:t>
            </a:r>
            <a:endParaRPr lang="en-US" sz="800" dirty="0"/>
          </a:p>
        </p:txBody>
      </p:sp>
      <p:sp>
        <p:nvSpPr>
          <p:cNvPr id="7" name="Text 3"/>
          <p:cNvSpPr/>
          <p:nvPr/>
        </p:nvSpPr>
        <p:spPr>
          <a:xfrm>
            <a:off x="400050" y="725091"/>
            <a:ext cx="8636000" cy="240619"/>
          </a:xfrm>
          <a:prstGeom prst="rect">
            <a:avLst/>
          </a:prstGeom>
          <a:noFill/>
          <a:ln/>
        </p:spPr>
        <p:txBody>
          <a:bodyPr wrap="square" lIns="0" tIns="0" rIns="0" bIns="0" rtlCol="0" anchor="t"/>
          <a:lstStyle/>
          <a:p>
            <a:pPr algn="l" indent="0" marL="0">
              <a:lnSpc>
                <a:spcPts val="1755"/>
              </a:lnSpc>
              <a:buNone/>
            </a:pPr>
            <a:r>
              <a:rPr lang="en-US" sz="1463" spc="-15" kern="0" dirty="0">
                <a:solidFill>
                  <a:srgbClr val="0F172A"/>
                </a:solidFill>
                <a:latin typeface="Carlito" pitchFamily="34" charset="0"/>
                <a:ea typeface="Carlito" pitchFamily="34" charset="-122"/>
                <a:cs typeface="Carlito" pitchFamily="34" charset="-120"/>
              </a:rPr>
              <a:t>The Administrative Reality of Educational Institutions</a:t>
            </a:r>
            <a:endParaRPr lang="en-US" sz="1463" dirty="0"/>
          </a:p>
        </p:txBody>
      </p:sp>
      <p:sp>
        <p:nvSpPr>
          <p:cNvPr id="8" name="Shape 4"/>
          <p:cNvSpPr/>
          <p:nvPr/>
        </p:nvSpPr>
        <p:spPr>
          <a:xfrm>
            <a:off x="400050" y="1577541"/>
            <a:ext cx="4886325" cy="0"/>
          </a:xfrm>
          <a:prstGeom prst="line">
            <a:avLst/>
          </a:prstGeom>
          <a:noFill/>
          <a:ln w="7144">
            <a:solidFill>
              <a:srgbClr val="0F172A"/>
            </a:solidFill>
            <a:prstDash val="dash"/>
          </a:ln>
        </p:spPr>
      </p:sp>
      <p:sp>
        <p:nvSpPr>
          <p:cNvPr id="9" name="Text 5"/>
          <p:cNvSpPr/>
          <p:nvPr/>
        </p:nvSpPr>
        <p:spPr>
          <a:xfrm>
            <a:off x="403622" y="1208633"/>
            <a:ext cx="178594" cy="178594"/>
          </a:xfrm>
          <a:prstGeom prst="roundRect">
            <a:avLst>
              <a:gd name="adj" fmla="val 32000"/>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10" name="Text 6"/>
          <p:cNvSpPr/>
          <p:nvPr/>
        </p:nvSpPr>
        <p:spPr>
          <a:xfrm>
            <a:off x="400050" y="1205061"/>
            <a:ext cx="228600" cy="185738"/>
          </a:xfrm>
          <a:prstGeom prst="rect">
            <a:avLst/>
          </a:prstGeom>
          <a:noFill/>
          <a:ln/>
        </p:spPr>
        <p:txBody>
          <a:bodyPr wrap="none" lIns="0" tIns="0" rIns="0" bIns="0" rtlCol="0" anchor="ctr"/>
          <a:lstStyle/>
          <a:p>
            <a:pPr algn="ctr" indent="0" marL="0">
              <a:lnSpc>
                <a:spcPts val="959"/>
              </a:lnSpc>
              <a:buNone/>
            </a:pPr>
            <a:r>
              <a:rPr lang="en-US" sz="800" dirty="0">
                <a:solidFill>
                  <a:srgbClr val="0E7490"/>
                </a:solidFill>
                <a:latin typeface="Liberation Sans Narrow" pitchFamily="34" charset="0"/>
                <a:ea typeface="Liberation Sans Narrow" pitchFamily="34" charset="-122"/>
                <a:cs typeface="Liberation Sans Narrow" pitchFamily="34" charset="-120"/>
              </a:rPr>
              <a:t>01</a:t>
            </a:r>
            <a:endParaRPr lang="en-US" sz="800" dirty="0"/>
          </a:p>
        </p:txBody>
      </p:sp>
      <p:sp>
        <p:nvSpPr>
          <p:cNvPr id="11" name="Text 7"/>
          <p:cNvSpPr/>
          <p:nvPr/>
        </p:nvSpPr>
        <p:spPr>
          <a:xfrm>
            <a:off x="671513" y="1205061"/>
            <a:ext cx="4614863" cy="111871"/>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INSTITUTIONAL CONTEXT</a:t>
            </a:r>
            <a:endParaRPr lang="en-US" sz="800" dirty="0"/>
          </a:p>
        </p:txBody>
      </p:sp>
      <p:sp>
        <p:nvSpPr>
          <p:cNvPr id="12" name="Text 8"/>
          <p:cNvSpPr/>
          <p:nvPr/>
        </p:nvSpPr>
        <p:spPr>
          <a:xfrm>
            <a:off x="671513" y="1344364"/>
            <a:ext cx="4581041" cy="143880"/>
          </a:xfrm>
          <a:prstGeom prst="rect">
            <a:avLst/>
          </a:prstGeom>
          <a:noFill/>
          <a:ln/>
        </p:spPr>
        <p:txBody>
          <a:bodyPr wrap="square" lIns="0" tIns="0" rIns="0" bIns="0" rtlCol="0" anchor="t"/>
          <a:lstStyle/>
          <a:p>
            <a:pPr algn="l" indent="0" marL="0">
              <a:lnSpc>
                <a:spcPts val="1133"/>
              </a:lnSpc>
              <a:buNone/>
            </a:pPr>
            <a:r>
              <a:rPr lang="en-US" sz="731" dirty="0">
                <a:solidFill>
                  <a:srgbClr val="475569"/>
                </a:solidFill>
                <a:latin typeface="Carlito" pitchFamily="34" charset="0"/>
                <a:ea typeface="Carlito" pitchFamily="34" charset="-122"/>
                <a:cs typeface="Carlito" pitchFamily="34" charset="-120"/>
              </a:rPr>
              <a:t>Kashmir Government Polytechnic (KGP) College, Srinagar: premier government technical diploma institute in J&amp;K.</a:t>
            </a:r>
            <a:endParaRPr lang="en-US" sz="731" dirty="0"/>
          </a:p>
        </p:txBody>
      </p:sp>
      <p:sp>
        <p:nvSpPr>
          <p:cNvPr id="13" name="Shape 9"/>
          <p:cNvSpPr/>
          <p:nvPr/>
        </p:nvSpPr>
        <p:spPr>
          <a:xfrm>
            <a:off x="400050" y="2470956"/>
            <a:ext cx="4886325" cy="0"/>
          </a:xfrm>
          <a:prstGeom prst="line">
            <a:avLst/>
          </a:prstGeom>
          <a:noFill/>
          <a:ln w="7144">
            <a:solidFill>
              <a:srgbClr val="0F172A"/>
            </a:solidFill>
            <a:prstDash val="dash"/>
          </a:ln>
        </p:spPr>
      </p:sp>
      <p:sp>
        <p:nvSpPr>
          <p:cNvPr id="14" name="Text 10"/>
          <p:cNvSpPr/>
          <p:nvPr/>
        </p:nvSpPr>
        <p:spPr>
          <a:xfrm>
            <a:off x="403622" y="1670410"/>
            <a:ext cx="178594" cy="178594"/>
          </a:xfrm>
          <a:prstGeom prst="roundRect">
            <a:avLst>
              <a:gd name="adj" fmla="val 32000"/>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15" name="Text 11"/>
          <p:cNvSpPr/>
          <p:nvPr/>
        </p:nvSpPr>
        <p:spPr>
          <a:xfrm>
            <a:off x="400050" y="1666838"/>
            <a:ext cx="228600" cy="185738"/>
          </a:xfrm>
          <a:prstGeom prst="rect">
            <a:avLst/>
          </a:prstGeom>
          <a:noFill/>
          <a:ln/>
        </p:spPr>
        <p:txBody>
          <a:bodyPr wrap="none" lIns="0" tIns="0" rIns="0" bIns="0" rtlCol="0" anchor="ctr"/>
          <a:lstStyle/>
          <a:p>
            <a:pPr algn="ctr" indent="0" marL="0">
              <a:lnSpc>
                <a:spcPts val="959"/>
              </a:lnSpc>
              <a:buNone/>
            </a:pPr>
            <a:r>
              <a:rPr lang="en-US" sz="800" dirty="0">
                <a:solidFill>
                  <a:srgbClr val="0E7490"/>
                </a:solidFill>
                <a:latin typeface="Liberation Sans Narrow" pitchFamily="34" charset="0"/>
                <a:ea typeface="Liberation Sans Narrow" pitchFamily="34" charset="-122"/>
                <a:cs typeface="Liberation Sans Narrow" pitchFamily="34" charset="-120"/>
              </a:rPr>
              <a:t>02</a:t>
            </a:r>
            <a:endParaRPr lang="en-US" sz="800" dirty="0"/>
          </a:p>
        </p:txBody>
      </p:sp>
      <p:sp>
        <p:nvSpPr>
          <p:cNvPr id="16" name="Text 12"/>
          <p:cNvSpPr/>
          <p:nvPr/>
        </p:nvSpPr>
        <p:spPr>
          <a:xfrm>
            <a:off x="671513" y="1666838"/>
            <a:ext cx="4614863" cy="111871"/>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OPERATIONAL CHALLENGE</a:t>
            </a:r>
            <a:endParaRPr lang="en-US" sz="800" dirty="0"/>
          </a:p>
        </p:txBody>
      </p:sp>
      <p:sp>
        <p:nvSpPr>
          <p:cNvPr id="17" name="Text 13"/>
          <p:cNvSpPr/>
          <p:nvPr/>
        </p:nvSpPr>
        <p:spPr>
          <a:xfrm>
            <a:off x="671513" y="1806141"/>
            <a:ext cx="4614863" cy="575518"/>
          </a:xfrm>
          <a:prstGeom prst="rect">
            <a:avLst/>
          </a:prstGeom>
          <a:noFill/>
          <a:ln/>
        </p:spPr>
        <p:txBody>
          <a:bodyPr wrap="square" lIns="0" tIns="0" rIns="0" bIns="0" rtlCol="0" anchor="t"/>
          <a:lstStyle/>
          <a:p>
            <a:pPr algn="l" indent="0" marL="0">
              <a:lnSpc>
                <a:spcPts val="1133"/>
              </a:lnSpc>
              <a:buNone/>
            </a:pPr>
            <a:r>
              <a:rPr lang="en-US" sz="800" dirty="0">
                <a:solidFill>
                  <a:srgbClr val="475569"/>
                </a:solidFill>
                <a:latin typeface="Carlito" pitchFamily="34" charset="0"/>
                <a:ea typeface="Carlito" pitchFamily="34" charset="-122"/>
                <a:cs typeface="Carlito" pitchFamily="34" charset="-120"/>
              </a:rPr>
              <a:t>Administrative staff handle thousands of notices, state government orders, exam schedules, and circulars annually. Documents span native PDFs, scanned photocopies, Word files, and official image gazettes. Queries about attendance condonation, fee waivers, exam deadlines, and quota eligibility require tedious manual searching.</a:t>
            </a:r>
            <a:endParaRPr lang="en-US" sz="800" dirty="0"/>
          </a:p>
        </p:txBody>
      </p:sp>
      <p:sp>
        <p:nvSpPr>
          <p:cNvPr id="18" name="Text 14"/>
          <p:cNvSpPr/>
          <p:nvPr/>
        </p:nvSpPr>
        <p:spPr>
          <a:xfrm>
            <a:off x="403622" y="2563825"/>
            <a:ext cx="178594" cy="178594"/>
          </a:xfrm>
          <a:prstGeom prst="roundRect">
            <a:avLst>
              <a:gd name="adj" fmla="val 32000"/>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19" name="Text 15"/>
          <p:cNvSpPr/>
          <p:nvPr/>
        </p:nvSpPr>
        <p:spPr>
          <a:xfrm>
            <a:off x="400050" y="2560253"/>
            <a:ext cx="228600" cy="185738"/>
          </a:xfrm>
          <a:prstGeom prst="rect">
            <a:avLst/>
          </a:prstGeom>
          <a:noFill/>
          <a:ln/>
        </p:spPr>
        <p:txBody>
          <a:bodyPr wrap="none" lIns="0" tIns="0" rIns="0" bIns="0" rtlCol="0" anchor="ctr"/>
          <a:lstStyle/>
          <a:p>
            <a:pPr algn="ctr" indent="0" marL="0">
              <a:lnSpc>
                <a:spcPts val="959"/>
              </a:lnSpc>
              <a:buNone/>
            </a:pPr>
            <a:r>
              <a:rPr lang="en-US" sz="800" dirty="0">
                <a:solidFill>
                  <a:srgbClr val="0E7490"/>
                </a:solidFill>
                <a:latin typeface="Liberation Sans Narrow" pitchFamily="34" charset="0"/>
                <a:ea typeface="Liberation Sans Narrow" pitchFamily="34" charset="-122"/>
                <a:cs typeface="Liberation Sans Narrow" pitchFamily="34" charset="-120"/>
              </a:rPr>
              <a:t>03</a:t>
            </a:r>
            <a:endParaRPr lang="en-US" sz="800" dirty="0"/>
          </a:p>
        </p:txBody>
      </p:sp>
      <p:sp>
        <p:nvSpPr>
          <p:cNvPr id="20" name="Text 16"/>
          <p:cNvSpPr/>
          <p:nvPr/>
        </p:nvSpPr>
        <p:spPr>
          <a:xfrm>
            <a:off x="671513" y="2560253"/>
            <a:ext cx="5187652" cy="111871"/>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CRITICAL PAIN POINT</a:t>
            </a:r>
            <a:endParaRPr lang="en-US" sz="800" dirty="0"/>
          </a:p>
        </p:txBody>
      </p:sp>
      <p:sp>
        <p:nvSpPr>
          <p:cNvPr id="21" name="Text 17"/>
          <p:cNvSpPr/>
          <p:nvPr/>
        </p:nvSpPr>
        <p:spPr>
          <a:xfrm>
            <a:off x="671513" y="2699556"/>
            <a:ext cx="3994919" cy="169999"/>
          </a:xfrm>
          <a:prstGeom prst="rect">
            <a:avLst/>
          </a:prstGeom>
          <a:noFill/>
          <a:ln/>
        </p:spPr>
        <p:txBody>
          <a:bodyPr wrap="square" lIns="0" tIns="0" rIns="0" bIns="0" rtlCol="0" anchor="t"/>
          <a:lstStyle/>
          <a:p>
            <a:pPr algn="l" indent="0" marL="0">
              <a:lnSpc>
                <a:spcPts val="1133"/>
              </a:lnSpc>
              <a:buNone/>
            </a:pPr>
            <a:r>
              <a:rPr lang="en-US" sz="731" dirty="0">
                <a:solidFill>
                  <a:srgbClr val="475569"/>
                </a:solidFill>
                <a:latin typeface="Carlito" pitchFamily="34" charset="0"/>
                <a:ea typeface="Carlito" pitchFamily="34" charset="-122"/>
                <a:cs typeface="Carlito" pitchFamily="34" charset="-120"/>
              </a:rPr>
              <a:t>Standard keyword search completely fails on scanned document images without digital text layers.</a:t>
            </a:r>
            <a:endParaRPr lang="en-US" sz="731" dirty="0"/>
          </a:p>
        </p:txBody>
      </p:sp>
      <p:sp>
        <p:nvSpPr>
          <p:cNvPr id="22" name="Text 18"/>
          <p:cNvSpPr/>
          <p:nvPr/>
        </p:nvSpPr>
        <p:spPr>
          <a:xfrm>
            <a:off x="5489972" y="1122908"/>
            <a:ext cx="3250406" cy="1951248"/>
          </a:xfrm>
          <a:prstGeom prst="roundRect">
            <a:avLst>
              <a:gd name="adj" fmla="val 6834"/>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pic>
        <p:nvPicPr>
          <p:cNvPr id="23" name="Image 2" descr="preencoded.png">    </p:cNvPr>
          <p:cNvPicPr>
            <a:picLocks noChangeAspect="1"/>
          </p:cNvPicPr>
          <p:nvPr/>
        </p:nvPicPr>
        <p:blipFill>
          <a:blip r:embed="rId3"/>
          <a:stretch>
            <a:fillRect/>
          </a:stretch>
        </p:blipFill>
        <p:spPr>
          <a:xfrm>
            <a:off x="5493544" y="1126480"/>
            <a:ext cx="21431" cy="1944105"/>
          </a:xfrm>
          <a:prstGeom prst="rect">
            <a:avLst/>
          </a:prstGeom>
        </p:spPr>
      </p:pic>
      <p:sp>
        <p:nvSpPr>
          <p:cNvPr id="24" name="Text 19"/>
          <p:cNvSpPr/>
          <p:nvPr/>
        </p:nvSpPr>
        <p:spPr>
          <a:xfrm>
            <a:off x="5654278" y="1287214"/>
            <a:ext cx="392906" cy="392906"/>
          </a:xfrm>
          <a:prstGeom prst="roundRect">
            <a:avLst>
              <a:gd name="adj" fmla="val 29091"/>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5" name="Text 20"/>
          <p:cNvSpPr/>
          <p:nvPr/>
        </p:nvSpPr>
        <p:spPr>
          <a:xfrm>
            <a:off x="5684996" y="1317933"/>
            <a:ext cx="331470" cy="331470"/>
          </a:xfrm>
          <a:prstGeom prst="rect">
            <a:avLst/>
          </a:prstGeom>
          <a:noFill/>
          <a:ln/>
        </p:spPr>
        <p:txBody>
          <a:bodyPr wrap="none" lIns="0" tIns="0" rIns="0" bIns="0" rtlCol="0" anchor="ctr"/>
          <a:lstStyle/>
          <a:p>
            <a:pPr algn="ctr" indent="0" marL="0">
              <a:buNone/>
            </a:pPr>
            <a:r>
              <a:rPr lang="en-US" sz="2250" dirty="0">
                <a:solidFill>
                  <a:srgbClr val="0E7490"/>
                </a:solidFill>
                <a:latin typeface="Segoe UI Symbol" pitchFamily="34" charset="0"/>
                <a:ea typeface="Segoe UI Symbol" pitchFamily="34" charset="-122"/>
                <a:cs typeface="Segoe UI Symbol" pitchFamily="34" charset="-120"/>
              </a:rPr>
              <a:t>✦</a:t>
            </a:r>
            <a:endParaRPr lang="en-US" sz="2250" dirty="0"/>
          </a:p>
        </p:txBody>
      </p:sp>
      <p:sp>
        <p:nvSpPr>
          <p:cNvPr id="26" name="Text 21"/>
          <p:cNvSpPr/>
          <p:nvPr/>
        </p:nvSpPr>
        <p:spPr>
          <a:xfrm>
            <a:off x="6150769" y="1310990"/>
            <a:ext cx="1504167" cy="173932"/>
          </a:xfrm>
          <a:prstGeom prst="rect">
            <a:avLst/>
          </a:prstGeom>
          <a:noFill/>
          <a:ln/>
        </p:spPr>
        <p:txBody>
          <a:bodyPr wrap="none" lIns="0" tIns="0" rIns="0" bIns="0" rtlCol="0" anchor="t">
            <a:normAutofit/>
          </a:bodyPr>
          <a:lstStyle/>
          <a:p>
            <a:pPr algn="l" indent="0" marL="0">
              <a:lnSpc>
                <a:spcPts val="1361"/>
              </a:lnSpc>
              <a:buNone/>
            </a:pPr>
            <a:r>
              <a:rPr lang="en-US" sz="1238" dirty="0">
                <a:solidFill>
                  <a:srgbClr val="0F172A"/>
                </a:solidFill>
                <a:latin typeface="Carlito" pitchFamily="34" charset="0"/>
                <a:ea typeface="Carlito" pitchFamily="34" charset="-122"/>
                <a:cs typeface="Carlito" pitchFamily="34" charset="-120"/>
              </a:rPr>
              <a:t>KGP Gyankosh</a:t>
            </a:r>
            <a:endParaRPr lang="en-US" sz="1238" dirty="0"/>
          </a:p>
        </p:txBody>
      </p:sp>
      <p:sp>
        <p:nvSpPr>
          <p:cNvPr id="27" name="Text 22"/>
          <p:cNvSpPr/>
          <p:nvPr/>
        </p:nvSpPr>
        <p:spPr>
          <a:xfrm>
            <a:off x="6150769" y="1512354"/>
            <a:ext cx="1386093" cy="169999"/>
          </a:xfrm>
          <a:prstGeom prst="rect">
            <a:avLst/>
          </a:prstGeom>
          <a:noFill/>
          <a:ln/>
        </p:spPr>
        <p:txBody>
          <a:bodyPr wrap="square" lIns="0" tIns="0" rIns="0" bIns="0" rtlCol="0" anchor="t"/>
          <a:lstStyle/>
          <a:p>
            <a:pPr algn="l" indent="0" marL="0">
              <a:lnSpc>
                <a:spcPts val="1133"/>
              </a:lnSpc>
              <a:buNone/>
            </a:pPr>
            <a:r>
              <a:rPr lang="en-US" sz="731" dirty="0">
                <a:solidFill>
                  <a:srgbClr val="0E7490"/>
                </a:solidFill>
                <a:latin typeface="Carlito" pitchFamily="34" charset="0"/>
                <a:ea typeface="Carlito" pitchFamily="34" charset="-122"/>
                <a:cs typeface="Carlito" pitchFamily="34" charset="-120"/>
              </a:rPr>
              <a:t>Enterprise Knowledge Assistant</a:t>
            </a:r>
            <a:endParaRPr lang="en-US" sz="731" dirty="0"/>
          </a:p>
        </p:txBody>
      </p:sp>
      <p:pic>
        <p:nvPicPr>
          <p:cNvPr id="28" name="Image 3" descr="preencoded.png">    </p:cNvPr>
          <p:cNvPicPr>
            <a:picLocks noChangeAspect="1"/>
          </p:cNvPicPr>
          <p:nvPr/>
        </p:nvPicPr>
        <p:blipFill>
          <a:blip r:embed="rId4"/>
          <a:stretch>
            <a:fillRect/>
          </a:stretch>
        </p:blipFill>
        <p:spPr>
          <a:xfrm>
            <a:off x="5650706" y="1797993"/>
            <a:ext cx="2928938" cy="7144"/>
          </a:xfrm>
          <a:prstGeom prst="rect">
            <a:avLst/>
          </a:prstGeom>
        </p:spPr>
      </p:pic>
      <p:sp>
        <p:nvSpPr>
          <p:cNvPr id="29" name="Text 23"/>
          <p:cNvSpPr/>
          <p:nvPr/>
        </p:nvSpPr>
        <p:spPr>
          <a:xfrm>
            <a:off x="5650706" y="1955155"/>
            <a:ext cx="42863" cy="42863"/>
          </a:xfrm>
          <a:prstGeom prst="ellipse">
            <a:avLst/>
          </a:prstGeom>
          <a:solidFill>
            <a:srgbClr val="0E7490"/>
          </a:solidFill>
          <a:ln/>
          <a:effectLst>
            <a:outerShdw sx="100000" sy="100000" kx="0" ky="0" algn="bl" rotWithShape="0" blurRad="57150" dist="50800" dir="16200000">
              <a:srgbClr val="06B6D4">
                <a:alpha val="60000"/>
              </a:srgbClr>
            </a:outerShdw>
          </a:effectLst>
        </p:spPr>
        <p:txBody>
          <a:bodyPr wrap="square" rtlCol="0" anchor="ctr"/>
          <a:lstStyle/>
          <a:p>
            <a:pPr indent="0" marL="0">
              <a:buNone/>
            </a:pPr>
            <a:endParaRPr lang="en-US" dirty="0"/>
          </a:p>
        </p:txBody>
      </p:sp>
      <p:sp>
        <p:nvSpPr>
          <p:cNvPr id="30" name="Text 24"/>
          <p:cNvSpPr/>
          <p:nvPr/>
        </p:nvSpPr>
        <p:spPr>
          <a:xfrm>
            <a:off x="5765006" y="1898005"/>
            <a:ext cx="2814638" cy="169999"/>
          </a:xfrm>
          <a:prstGeom prst="rect">
            <a:avLst/>
          </a:prstGeom>
          <a:noFill/>
          <a:ln/>
        </p:spPr>
        <p:txBody>
          <a:bodyPr wrap="square" lIns="0" tIns="0" rIns="0" bIns="0" rtlCol="0" anchor="t"/>
          <a:lstStyle/>
          <a:p>
            <a:pPr algn="l" indent="0" marL="0">
              <a:lnSpc>
                <a:spcPts val="1133"/>
              </a:lnSpc>
              <a:buNone/>
            </a:pPr>
            <a:r>
              <a:rPr lang="en-US" sz="731" dirty="0">
                <a:solidFill>
                  <a:srgbClr val="0F172A"/>
                </a:solidFill>
                <a:latin typeface="Carlito" pitchFamily="34" charset="0"/>
                <a:ea typeface="Carlito" pitchFamily="34" charset="-122"/>
                <a:cs typeface="Carlito" pitchFamily="34" charset="-120"/>
              </a:rPr>
              <a:t>Enterprise-grade, privacy-aware, multi-format Advanced RAG system</a:t>
            </a:r>
            <a:endParaRPr lang="en-US" sz="731" dirty="0"/>
          </a:p>
        </p:txBody>
      </p:sp>
      <p:sp>
        <p:nvSpPr>
          <p:cNvPr id="31" name="Shape 25"/>
          <p:cNvSpPr/>
          <p:nvPr/>
        </p:nvSpPr>
        <p:spPr>
          <a:xfrm>
            <a:off x="5650706" y="2109750"/>
            <a:ext cx="2928938" cy="0"/>
          </a:xfrm>
          <a:prstGeom prst="line">
            <a:avLst/>
          </a:prstGeom>
          <a:noFill/>
          <a:ln w="7144">
            <a:solidFill>
              <a:srgbClr val="0F172A"/>
            </a:solidFill>
            <a:prstDash val="solid"/>
          </a:ln>
        </p:spPr>
      </p:sp>
      <p:sp>
        <p:nvSpPr>
          <p:cNvPr id="32" name="Text 26"/>
          <p:cNvSpPr/>
          <p:nvPr/>
        </p:nvSpPr>
        <p:spPr>
          <a:xfrm>
            <a:off x="5650706" y="2234766"/>
            <a:ext cx="42863" cy="42863"/>
          </a:xfrm>
          <a:prstGeom prst="ellipse">
            <a:avLst/>
          </a:prstGeom>
          <a:solidFill>
            <a:srgbClr val="0E7490"/>
          </a:solidFill>
          <a:ln/>
          <a:effectLst>
            <a:outerShdw sx="100000" sy="100000" kx="0" ky="0" algn="bl" rotWithShape="0" blurRad="57150" dist="50800" dir="16200000">
              <a:srgbClr val="06B6D4">
                <a:alpha val="60000"/>
              </a:srgbClr>
            </a:outerShdw>
          </a:effectLst>
        </p:spPr>
        <p:txBody>
          <a:bodyPr wrap="square" rtlCol="0" anchor="ctr"/>
          <a:lstStyle/>
          <a:p>
            <a:pPr indent="0" marL="0">
              <a:buNone/>
            </a:pPr>
            <a:endParaRPr lang="en-US" dirty="0"/>
          </a:p>
        </p:txBody>
      </p:sp>
      <p:sp>
        <p:nvSpPr>
          <p:cNvPr id="33" name="Text 27"/>
          <p:cNvSpPr/>
          <p:nvPr/>
        </p:nvSpPr>
        <p:spPr>
          <a:xfrm>
            <a:off x="5765006" y="2177616"/>
            <a:ext cx="2813521" cy="143880"/>
          </a:xfrm>
          <a:prstGeom prst="rect">
            <a:avLst/>
          </a:prstGeom>
          <a:noFill/>
          <a:ln/>
        </p:spPr>
        <p:txBody>
          <a:bodyPr wrap="square" lIns="0" tIns="0" rIns="0" bIns="0" rtlCol="0" anchor="t"/>
          <a:lstStyle/>
          <a:p>
            <a:pPr algn="l" indent="0" marL="0">
              <a:lnSpc>
                <a:spcPts val="1133"/>
              </a:lnSpc>
              <a:buNone/>
            </a:pPr>
            <a:r>
              <a:rPr lang="en-US" sz="731" dirty="0">
                <a:solidFill>
                  <a:srgbClr val="0F172A"/>
                </a:solidFill>
                <a:latin typeface="Carlito" pitchFamily="34" charset="0"/>
                <a:ea typeface="Carlito" pitchFamily="34" charset="-122"/>
                <a:cs typeface="Carlito" pitchFamily="34" charset="-120"/>
              </a:rPr>
              <a:t>Sub-second, source-grounded answers with exact document citations</a:t>
            </a:r>
            <a:endParaRPr lang="en-US" sz="731" dirty="0"/>
          </a:p>
        </p:txBody>
      </p:sp>
      <p:sp>
        <p:nvSpPr>
          <p:cNvPr id="34" name="Shape 28"/>
          <p:cNvSpPr/>
          <p:nvPr/>
        </p:nvSpPr>
        <p:spPr>
          <a:xfrm>
            <a:off x="5650706" y="2389361"/>
            <a:ext cx="2928938" cy="0"/>
          </a:xfrm>
          <a:prstGeom prst="line">
            <a:avLst/>
          </a:prstGeom>
          <a:noFill/>
          <a:ln w="7144">
            <a:solidFill>
              <a:srgbClr val="0F172A"/>
            </a:solidFill>
            <a:prstDash val="solid"/>
          </a:ln>
        </p:spPr>
      </p:sp>
      <p:sp>
        <p:nvSpPr>
          <p:cNvPr id="35" name="Text 29"/>
          <p:cNvSpPr/>
          <p:nvPr/>
        </p:nvSpPr>
        <p:spPr>
          <a:xfrm>
            <a:off x="5650706" y="2514377"/>
            <a:ext cx="42863" cy="42863"/>
          </a:xfrm>
          <a:prstGeom prst="ellipse">
            <a:avLst/>
          </a:prstGeom>
          <a:solidFill>
            <a:srgbClr val="0E7490"/>
          </a:solidFill>
          <a:ln/>
          <a:effectLst>
            <a:outerShdw sx="100000" sy="100000" kx="0" ky="0" algn="bl" rotWithShape="0" blurRad="57150" dist="50800" dir="16200000">
              <a:srgbClr val="06B6D4">
                <a:alpha val="60000"/>
              </a:srgbClr>
            </a:outerShdw>
          </a:effectLst>
        </p:spPr>
        <p:txBody>
          <a:bodyPr wrap="square" rtlCol="0" anchor="ctr"/>
          <a:lstStyle/>
          <a:p>
            <a:pPr indent="0" marL="0">
              <a:buNone/>
            </a:pPr>
            <a:endParaRPr lang="en-US" dirty="0"/>
          </a:p>
        </p:txBody>
      </p:sp>
      <p:sp>
        <p:nvSpPr>
          <p:cNvPr id="36" name="Text 30"/>
          <p:cNvSpPr/>
          <p:nvPr/>
        </p:nvSpPr>
        <p:spPr>
          <a:xfrm>
            <a:off x="5765006" y="2457227"/>
            <a:ext cx="2814638" cy="143880"/>
          </a:xfrm>
          <a:prstGeom prst="rect">
            <a:avLst/>
          </a:prstGeom>
          <a:noFill/>
          <a:ln/>
        </p:spPr>
        <p:txBody>
          <a:bodyPr wrap="square" lIns="0" tIns="0" rIns="0" bIns="0" rtlCol="0" anchor="t"/>
          <a:lstStyle/>
          <a:p>
            <a:pPr algn="l" indent="0" marL="0">
              <a:lnSpc>
                <a:spcPts val="1133"/>
              </a:lnSpc>
              <a:buNone/>
            </a:pPr>
            <a:r>
              <a:rPr lang="en-US" sz="731" dirty="0">
                <a:solidFill>
                  <a:srgbClr val="0F172A"/>
                </a:solidFill>
                <a:latin typeface="Carlito" pitchFamily="34" charset="0"/>
                <a:ea typeface="Carlito" pitchFamily="34" charset="-122"/>
                <a:cs typeface="Carlito" pitchFamily="34" charset="-120"/>
              </a:rPr>
              <a:t>Decoupled offline indexing + online inference architecture</a:t>
            </a:r>
            <a:endParaRPr lang="en-US" sz="731" dirty="0"/>
          </a:p>
        </p:txBody>
      </p:sp>
      <p:sp>
        <p:nvSpPr>
          <p:cNvPr id="37" name="Text 31"/>
          <p:cNvSpPr/>
          <p:nvPr/>
        </p:nvSpPr>
        <p:spPr>
          <a:xfrm>
            <a:off x="5650706" y="2755675"/>
            <a:ext cx="664146" cy="181773"/>
          </a:xfrm>
          <a:prstGeom prst="roundRect">
            <a:avLst>
              <a:gd name="adj" fmla="val 523481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38" name="Text 32"/>
          <p:cNvSpPr/>
          <p:nvPr/>
        </p:nvSpPr>
        <p:spPr>
          <a:xfrm>
            <a:off x="5529206" y="2765413"/>
            <a:ext cx="907146" cy="162297"/>
          </a:xfrm>
          <a:prstGeom prst="rect">
            <a:avLst/>
          </a:prstGeom>
          <a:noFill/>
          <a:ln/>
        </p:spPr>
        <p:txBody>
          <a:bodyPr wrap="none" lIns="0" tIns="0" rIns="0" bIns="0" rtlCol="0" anchor="ctr"/>
          <a:lstStyle/>
          <a:p>
            <a:pPr algn="ctr" indent="0" marL="0">
              <a:lnSpc>
                <a:spcPts val="828"/>
              </a:lnSpc>
              <a:buNone/>
            </a:pPr>
            <a:r>
              <a:rPr lang="en-US" sz="800" spc="75" kern="0" dirty="0">
                <a:solidFill>
                  <a:srgbClr val="0E7490"/>
                </a:solidFill>
                <a:latin typeface="Courier New" pitchFamily="34" charset="0"/>
                <a:ea typeface="Courier New" pitchFamily="34" charset="-122"/>
                <a:cs typeface="Courier New" pitchFamily="34" charset="-120"/>
              </a:rPr>
              <a:t>MULTI-FORMAT</a:t>
            </a:r>
            <a:endParaRPr lang="en-US" sz="800" dirty="0"/>
          </a:p>
        </p:txBody>
      </p:sp>
      <p:sp>
        <p:nvSpPr>
          <p:cNvPr id="39" name="Text 33"/>
          <p:cNvSpPr/>
          <p:nvPr/>
        </p:nvSpPr>
        <p:spPr>
          <a:xfrm>
            <a:off x="6357714" y="2755675"/>
            <a:ext cx="837828" cy="181773"/>
          </a:xfrm>
          <a:prstGeom prst="roundRect">
            <a:avLst>
              <a:gd name="adj" fmla="val 523481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0" name="Text 34"/>
          <p:cNvSpPr/>
          <p:nvPr/>
        </p:nvSpPr>
        <p:spPr>
          <a:xfrm>
            <a:off x="6357714" y="2765413"/>
            <a:ext cx="837828" cy="162297"/>
          </a:xfrm>
          <a:prstGeom prst="rect">
            <a:avLst/>
          </a:prstGeom>
          <a:noFill/>
          <a:ln/>
        </p:spPr>
        <p:txBody>
          <a:bodyPr wrap="square" lIns="0" tIns="0" rIns="0" bIns="0" rtlCol="0" anchor="ctr"/>
          <a:lstStyle/>
          <a:p>
            <a:pPr algn="ctr" indent="0" marL="0">
              <a:lnSpc>
                <a:spcPts val="828"/>
              </a:lnSpc>
              <a:buNone/>
            </a:pPr>
            <a:r>
              <a:rPr lang="en-US" sz="800" spc="75" kern="0" dirty="0">
                <a:solidFill>
                  <a:srgbClr val="0E7490"/>
                </a:solidFill>
                <a:latin typeface="Courier New" pitchFamily="34" charset="0"/>
                <a:ea typeface="Courier New" pitchFamily="34" charset="-122"/>
                <a:cs typeface="Courier New" pitchFamily="34" charset="-120"/>
              </a:rPr>
              <a:t>HYBRID RETRIEVAL</a:t>
            </a:r>
            <a:endParaRPr lang="en-US" sz="800" dirty="0"/>
          </a:p>
        </p:txBody>
      </p:sp>
      <p:sp>
        <p:nvSpPr>
          <p:cNvPr id="41" name="Text 35"/>
          <p:cNvSpPr/>
          <p:nvPr/>
        </p:nvSpPr>
        <p:spPr>
          <a:xfrm>
            <a:off x="7238405" y="2755675"/>
            <a:ext cx="924781" cy="181773"/>
          </a:xfrm>
          <a:prstGeom prst="roundRect">
            <a:avLst>
              <a:gd name="adj" fmla="val 523481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2" name="Text 36"/>
          <p:cNvSpPr/>
          <p:nvPr/>
        </p:nvSpPr>
        <p:spPr>
          <a:xfrm>
            <a:off x="7238405" y="2765413"/>
            <a:ext cx="924781" cy="162297"/>
          </a:xfrm>
          <a:prstGeom prst="rect">
            <a:avLst/>
          </a:prstGeom>
          <a:noFill/>
          <a:ln/>
        </p:spPr>
        <p:txBody>
          <a:bodyPr wrap="square" lIns="0" tIns="0" rIns="0" bIns="0" rtlCol="0" anchor="ctr"/>
          <a:lstStyle/>
          <a:p>
            <a:pPr algn="ctr" indent="0" marL="0">
              <a:lnSpc>
                <a:spcPts val="828"/>
              </a:lnSpc>
              <a:buNone/>
            </a:pPr>
            <a:r>
              <a:rPr lang="en-US" sz="800" spc="75" kern="0" dirty="0">
                <a:solidFill>
                  <a:srgbClr val="0E7490"/>
                </a:solidFill>
                <a:latin typeface="Courier New" pitchFamily="34" charset="0"/>
                <a:ea typeface="Courier New" pitchFamily="34" charset="-122"/>
                <a:cs typeface="Courier New" pitchFamily="34" charset="-120"/>
              </a:rPr>
              <a:t>ZERO HALLUCINATION</a:t>
            </a:r>
            <a:endParaRPr lang="en-US" sz="800" dirty="0"/>
          </a:p>
        </p:txBody>
      </p:sp>
      <p:sp>
        <p:nvSpPr>
          <p:cNvPr id="43" name="Shape 37"/>
          <p:cNvSpPr/>
          <p:nvPr/>
        </p:nvSpPr>
        <p:spPr>
          <a:xfrm>
            <a:off x="400050" y="4829175"/>
            <a:ext cx="8343900" cy="0"/>
          </a:xfrm>
          <a:prstGeom prst="line">
            <a:avLst/>
          </a:prstGeom>
          <a:noFill/>
          <a:ln w="7144">
            <a:solidFill>
              <a:srgbClr val="0F172A"/>
            </a:solidFill>
            <a:prstDash val="solid"/>
          </a:ln>
        </p:spPr>
      </p:sp>
      <p:sp>
        <p:nvSpPr>
          <p:cNvPr id="44" name="Text 38"/>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45" name="Text 39"/>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02 / 18</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022306"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436644" y="157163"/>
            <a:ext cx="1566725"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02 / 16 · PROBLEM STATEMENT</a:t>
            </a:r>
            <a:endParaRPr lang="en-US" sz="600" dirty="0"/>
          </a:p>
        </p:txBody>
      </p:sp>
      <p:sp>
        <p:nvSpPr>
          <p:cNvPr id="6" name="Text 2"/>
          <p:cNvSpPr/>
          <p:nvPr/>
        </p:nvSpPr>
        <p:spPr>
          <a:xfrm>
            <a:off x="400050" y="557213"/>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PROBLEM STATEMENT &amp; EVALUATOR OBJECTIVES</a:t>
            </a:r>
            <a:endParaRPr lang="en-US" sz="800" dirty="0"/>
          </a:p>
        </p:txBody>
      </p:sp>
      <p:sp>
        <p:nvSpPr>
          <p:cNvPr id="7" name="Text 3"/>
          <p:cNvSpPr/>
          <p:nvPr/>
        </p:nvSpPr>
        <p:spPr>
          <a:xfrm>
            <a:off x="400050" y="725091"/>
            <a:ext cx="8636000" cy="240619"/>
          </a:xfrm>
          <a:prstGeom prst="rect">
            <a:avLst/>
          </a:prstGeom>
          <a:noFill/>
          <a:ln/>
        </p:spPr>
        <p:txBody>
          <a:bodyPr wrap="square" lIns="0" tIns="0" rIns="0" bIns="0" rtlCol="0" anchor="t"/>
          <a:lstStyle/>
          <a:p>
            <a:pPr algn="l" indent="0" marL="0">
              <a:lnSpc>
                <a:spcPts val="1755"/>
              </a:lnSpc>
              <a:buNone/>
            </a:pPr>
            <a:r>
              <a:rPr lang="en-US" sz="1463" spc="-15" kern="0" dirty="0">
                <a:solidFill>
                  <a:srgbClr val="0F172A"/>
                </a:solidFill>
                <a:latin typeface="Carlito" pitchFamily="34" charset="0"/>
                <a:ea typeface="Carlito" pitchFamily="34" charset="-122"/>
                <a:cs typeface="Carlito" pitchFamily="34" charset="-120"/>
              </a:rPr>
              <a:t>Overcoming the Vulnerabilities of Naive RAG Systems</a:t>
            </a:r>
            <a:endParaRPr lang="en-US" sz="1463" dirty="0"/>
          </a:p>
        </p:txBody>
      </p:sp>
      <p:sp>
        <p:nvSpPr>
          <p:cNvPr id="8" name="Text 4"/>
          <p:cNvSpPr/>
          <p:nvPr/>
        </p:nvSpPr>
        <p:spPr>
          <a:xfrm>
            <a:off x="400050" y="1005036"/>
            <a:ext cx="6572250" cy="170053"/>
          </a:xfrm>
          <a:prstGeom prst="rect">
            <a:avLst/>
          </a:prstGeom>
          <a:noFill/>
          <a:ln/>
        </p:spPr>
        <p:txBody>
          <a:bodyPr wrap="square" lIns="0" tIns="0" rIns="0" bIns="0" rtlCol="0" anchor="t"/>
          <a:lstStyle/>
          <a:p>
            <a:pPr algn="l" indent="0" marL="0">
              <a:lnSpc>
                <a:spcPts val="1177"/>
              </a:lnSpc>
              <a:buNone/>
            </a:pPr>
            <a:r>
              <a:rPr lang="en-US" sz="759" dirty="0">
                <a:solidFill>
                  <a:srgbClr val="475569"/>
                </a:solidFill>
                <a:latin typeface="Carlito" pitchFamily="34" charset="0"/>
                <a:ea typeface="Carlito" pitchFamily="34" charset="-122"/>
                <a:cs typeface="Carlito" pitchFamily="34" charset="-120"/>
              </a:rPr>
              <a:t>Standard RAG pipelines fail on real administrative document corpora. KGP Gyankosh engineering directly neutralizes each failure mode.</a:t>
            </a:r>
            <a:endParaRPr lang="en-US" sz="759" dirty="0"/>
          </a:p>
        </p:txBody>
      </p:sp>
      <p:sp>
        <p:nvSpPr>
          <p:cNvPr id="9" name="Text 5"/>
          <p:cNvSpPr/>
          <p:nvPr/>
        </p:nvSpPr>
        <p:spPr>
          <a:xfrm>
            <a:off x="400050" y="1283084"/>
            <a:ext cx="4100513" cy="2346722"/>
          </a:xfrm>
          <a:prstGeom prst="roundRect">
            <a:avLst>
              <a:gd name="adj" fmla="val 5682"/>
            </a:avLst>
          </a:prstGeom>
          <a:solidFill>
            <a:srgbClr val="FFFFFF"/>
          </a:solidFill>
          <a:ln/>
        </p:spPr>
        <p:txBody>
          <a:bodyPr wrap="square" rtlCol="0" anchor="ctr"/>
          <a:lstStyle/>
          <a:p>
            <a:pPr indent="0" marL="0">
              <a:buNone/>
            </a:pPr>
            <a:endParaRPr lang="en-US" dirty="0"/>
          </a:p>
        </p:txBody>
      </p:sp>
      <p:sp>
        <p:nvSpPr>
          <p:cNvPr id="10" name="Shape 6"/>
          <p:cNvSpPr/>
          <p:nvPr/>
        </p:nvSpPr>
        <p:spPr>
          <a:xfrm>
            <a:off x="400050" y="1293800"/>
            <a:ext cx="4100513" cy="0"/>
          </a:xfrm>
          <a:prstGeom prst="line">
            <a:avLst/>
          </a:prstGeom>
          <a:noFill/>
          <a:ln w="21431">
            <a:solidFill>
              <a:srgbClr val="B91C1C"/>
            </a:solidFill>
            <a:prstDash val="solid"/>
          </a:ln>
        </p:spPr>
      </p:sp>
      <p:sp>
        <p:nvSpPr>
          <p:cNvPr id="11" name="Shape 7"/>
          <p:cNvSpPr/>
          <p:nvPr/>
        </p:nvSpPr>
        <p:spPr>
          <a:xfrm>
            <a:off x="4496991" y="1283084"/>
            <a:ext cx="0" cy="2346722"/>
          </a:xfrm>
          <a:prstGeom prst="line">
            <a:avLst/>
          </a:prstGeom>
          <a:noFill/>
          <a:ln w="7144">
            <a:solidFill>
              <a:srgbClr val="0F172A"/>
            </a:solidFill>
            <a:prstDash val="solid"/>
          </a:ln>
        </p:spPr>
      </p:sp>
      <p:sp>
        <p:nvSpPr>
          <p:cNvPr id="12" name="Shape 8"/>
          <p:cNvSpPr/>
          <p:nvPr/>
        </p:nvSpPr>
        <p:spPr>
          <a:xfrm>
            <a:off x="400050" y="3626234"/>
            <a:ext cx="4100513" cy="0"/>
          </a:xfrm>
          <a:prstGeom prst="line">
            <a:avLst/>
          </a:prstGeom>
          <a:noFill/>
          <a:ln w="7144">
            <a:solidFill>
              <a:srgbClr val="0F172A"/>
            </a:solidFill>
            <a:prstDash val="solid"/>
          </a:ln>
        </p:spPr>
      </p:sp>
      <p:sp>
        <p:nvSpPr>
          <p:cNvPr id="13" name="Shape 9"/>
          <p:cNvSpPr/>
          <p:nvPr/>
        </p:nvSpPr>
        <p:spPr>
          <a:xfrm>
            <a:off x="403622" y="1283084"/>
            <a:ext cx="0" cy="2346722"/>
          </a:xfrm>
          <a:prstGeom prst="line">
            <a:avLst/>
          </a:prstGeom>
          <a:noFill/>
          <a:ln w="7144">
            <a:solidFill>
              <a:srgbClr val="0F172A"/>
            </a:solidFill>
            <a:prstDash val="solid"/>
          </a:ln>
        </p:spPr>
      </p:sp>
      <p:sp>
        <p:nvSpPr>
          <p:cNvPr id="14" name="Shape 10"/>
          <p:cNvSpPr/>
          <p:nvPr/>
        </p:nvSpPr>
        <p:spPr>
          <a:xfrm>
            <a:off x="550069" y="1679563"/>
            <a:ext cx="3800475" cy="0"/>
          </a:xfrm>
          <a:prstGeom prst="line">
            <a:avLst/>
          </a:prstGeom>
          <a:noFill/>
          <a:ln w="7144">
            <a:solidFill>
              <a:srgbClr val="0F172A"/>
            </a:solidFill>
            <a:prstDash val="solid"/>
          </a:ln>
        </p:spPr>
      </p:sp>
      <p:sp>
        <p:nvSpPr>
          <p:cNvPr id="15" name="Text 11"/>
          <p:cNvSpPr/>
          <p:nvPr/>
        </p:nvSpPr>
        <p:spPr>
          <a:xfrm>
            <a:off x="550069" y="1433103"/>
            <a:ext cx="157163" cy="157163"/>
          </a:xfrm>
          <a:prstGeom prst="rect">
            <a:avLst/>
          </a:prstGeom>
          <a:noFill/>
          <a:ln/>
        </p:spPr>
        <p:txBody>
          <a:bodyPr wrap="none" lIns="0" tIns="0" rIns="0" bIns="0" rtlCol="0" anchor="ctr"/>
          <a:lstStyle/>
          <a:p>
            <a:pPr algn="ctr" indent="0" marL="0">
              <a:buNone/>
            </a:pPr>
            <a:r>
              <a:rPr lang="en-US" sz="1547" dirty="0">
                <a:solidFill>
                  <a:srgbClr val="B91C1C"/>
                </a:solidFill>
                <a:latin typeface="Segoe UI Symbol" pitchFamily="34" charset="0"/>
                <a:ea typeface="Segoe UI Symbol" pitchFamily="34" charset="-122"/>
                <a:cs typeface="Segoe UI Symbol" pitchFamily="34" charset="-120"/>
              </a:rPr>
              <a:t>⚠</a:t>
            </a:r>
            <a:endParaRPr lang="en-US" sz="1547" dirty="0"/>
          </a:p>
        </p:txBody>
      </p:sp>
      <p:sp>
        <p:nvSpPr>
          <p:cNvPr id="16" name="Text 12"/>
          <p:cNvSpPr/>
          <p:nvPr/>
        </p:nvSpPr>
        <p:spPr>
          <a:xfrm>
            <a:off x="778669" y="1450739"/>
            <a:ext cx="3571875" cy="139526"/>
          </a:xfrm>
          <a:prstGeom prst="rect">
            <a:avLst/>
          </a:prstGeom>
          <a:noFill/>
          <a:ln/>
        </p:spPr>
        <p:txBody>
          <a:bodyPr wrap="none" lIns="0" tIns="0" rIns="0" bIns="0" rtlCol="0" anchor="t"/>
          <a:lstStyle/>
          <a:p>
            <a:pPr algn="l" indent="0" marL="0">
              <a:lnSpc>
                <a:spcPts val="959"/>
              </a:lnSpc>
              <a:buNone/>
            </a:pPr>
            <a:r>
              <a:rPr lang="en-US" sz="800" spc="99" kern="0" dirty="0">
                <a:solidFill>
                  <a:srgbClr val="0F172A"/>
                </a:solidFill>
                <a:latin typeface="Courier New" pitchFamily="34" charset="0"/>
                <a:ea typeface="Courier New" pitchFamily="34" charset="-122"/>
                <a:cs typeface="Courier New" pitchFamily="34" charset="-120"/>
              </a:rPr>
              <a:t>NAIVE / BASIC RAG LIMITATIONS</a:t>
            </a:r>
            <a:endParaRPr lang="en-US" sz="800" dirty="0"/>
          </a:p>
        </p:txBody>
      </p:sp>
      <p:sp>
        <p:nvSpPr>
          <p:cNvPr id="17" name="Text 13"/>
          <p:cNvSpPr/>
          <p:nvPr/>
        </p:nvSpPr>
        <p:spPr>
          <a:xfrm>
            <a:off x="553641" y="1765288"/>
            <a:ext cx="150019" cy="150019"/>
          </a:xfrm>
          <a:prstGeom prst="roundRect">
            <a:avLst>
              <a:gd name="adj" fmla="val 38095"/>
            </a:avLst>
          </a:prstGeom>
          <a:solidFill>
            <a:srgbClr val="F87171">
              <a:alpha val="14000"/>
            </a:srgbClr>
          </a:solidFill>
          <a:ln w="7144">
            <a:solidFill>
              <a:srgbClr val="F87171"/>
            </a:solidFill>
            <a:prstDash val="solid"/>
          </a:ln>
        </p:spPr>
        <p:txBody>
          <a:bodyPr wrap="square" rtlCol="0" anchor="ctr"/>
          <a:lstStyle/>
          <a:p>
            <a:pPr indent="0" marL="0">
              <a:buNone/>
            </a:pPr>
            <a:endParaRPr lang="en-US" dirty="0"/>
          </a:p>
        </p:txBody>
      </p:sp>
      <p:sp>
        <p:nvSpPr>
          <p:cNvPr id="18" name="Text 14"/>
          <p:cNvSpPr/>
          <p:nvPr/>
        </p:nvSpPr>
        <p:spPr>
          <a:xfrm>
            <a:off x="550069" y="1761716"/>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B91C1C"/>
                </a:solidFill>
                <a:latin typeface="Liberation Sans Narrow" pitchFamily="34" charset="0"/>
                <a:ea typeface="Liberation Sans Narrow" pitchFamily="34" charset="-122"/>
                <a:cs typeface="Liberation Sans Narrow" pitchFamily="34" charset="-120"/>
              </a:rPr>
              <a:t>1</a:t>
            </a:r>
            <a:endParaRPr lang="en-US" sz="800" dirty="0"/>
          </a:p>
        </p:txBody>
      </p:sp>
      <p:sp>
        <p:nvSpPr>
          <p:cNvPr id="19" name="Text 15"/>
          <p:cNvSpPr/>
          <p:nvPr/>
        </p:nvSpPr>
        <p:spPr>
          <a:xfrm>
            <a:off x="792956" y="1761716"/>
            <a:ext cx="3557588" cy="132409"/>
          </a:xfrm>
          <a:prstGeom prst="rect">
            <a:avLst/>
          </a:prstGeom>
          <a:noFill/>
          <a:ln/>
        </p:spPr>
        <p:txBody>
          <a:bodyPr wrap="non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LOSS OF EXACT MATCH</a:t>
            </a:r>
            <a:endParaRPr lang="en-US" sz="800" dirty="0"/>
          </a:p>
        </p:txBody>
      </p:sp>
      <p:sp>
        <p:nvSpPr>
          <p:cNvPr id="20" name="Text 16"/>
          <p:cNvSpPr/>
          <p:nvPr/>
        </p:nvSpPr>
        <p:spPr>
          <a:xfrm>
            <a:off x="792956" y="1921557"/>
            <a:ext cx="3539282" cy="164592"/>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Pure vector search misses alphanumeric codes: KGP/EXAM/2026/89, SBOTE, Rs. 2,200.</a:t>
            </a:r>
            <a:endParaRPr lang="en-US" sz="703" dirty="0"/>
          </a:p>
        </p:txBody>
      </p:sp>
      <p:sp>
        <p:nvSpPr>
          <p:cNvPr id="21" name="Shape 17"/>
          <p:cNvSpPr/>
          <p:nvPr/>
        </p:nvSpPr>
        <p:spPr>
          <a:xfrm>
            <a:off x="550069" y="2137656"/>
            <a:ext cx="3800475" cy="0"/>
          </a:xfrm>
          <a:prstGeom prst="line">
            <a:avLst/>
          </a:prstGeom>
          <a:noFill/>
          <a:ln w="7144">
            <a:solidFill>
              <a:srgbClr val="0F172A"/>
            </a:solidFill>
            <a:prstDash val="dash"/>
          </a:ln>
        </p:spPr>
      </p:sp>
      <p:sp>
        <p:nvSpPr>
          <p:cNvPr id="22" name="Text 18"/>
          <p:cNvSpPr/>
          <p:nvPr/>
        </p:nvSpPr>
        <p:spPr>
          <a:xfrm>
            <a:off x="553641" y="2223381"/>
            <a:ext cx="150019" cy="150019"/>
          </a:xfrm>
          <a:prstGeom prst="roundRect">
            <a:avLst>
              <a:gd name="adj" fmla="val 38095"/>
            </a:avLst>
          </a:prstGeom>
          <a:solidFill>
            <a:srgbClr val="F87171">
              <a:alpha val="14000"/>
            </a:srgbClr>
          </a:solidFill>
          <a:ln w="7144">
            <a:solidFill>
              <a:srgbClr val="F87171"/>
            </a:solidFill>
            <a:prstDash val="solid"/>
          </a:ln>
        </p:spPr>
        <p:txBody>
          <a:bodyPr wrap="square" rtlCol="0" anchor="ctr"/>
          <a:lstStyle/>
          <a:p>
            <a:pPr indent="0" marL="0">
              <a:buNone/>
            </a:pPr>
            <a:endParaRPr lang="en-US" dirty="0"/>
          </a:p>
        </p:txBody>
      </p:sp>
      <p:sp>
        <p:nvSpPr>
          <p:cNvPr id="23" name="Text 19"/>
          <p:cNvSpPr/>
          <p:nvPr/>
        </p:nvSpPr>
        <p:spPr>
          <a:xfrm>
            <a:off x="550069" y="2219809"/>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B91C1C"/>
                </a:solidFill>
                <a:latin typeface="Liberation Sans Narrow" pitchFamily="34" charset="0"/>
                <a:ea typeface="Liberation Sans Narrow" pitchFamily="34" charset="-122"/>
                <a:cs typeface="Liberation Sans Narrow" pitchFamily="34" charset="-120"/>
              </a:rPr>
              <a:t>2</a:t>
            </a:r>
            <a:endParaRPr lang="en-US" sz="800" dirty="0"/>
          </a:p>
        </p:txBody>
      </p:sp>
      <p:sp>
        <p:nvSpPr>
          <p:cNvPr id="24" name="Text 20"/>
          <p:cNvSpPr/>
          <p:nvPr/>
        </p:nvSpPr>
        <p:spPr>
          <a:xfrm>
            <a:off x="792956" y="2219809"/>
            <a:ext cx="3261970" cy="132409"/>
          </a:xfrm>
          <a:prstGeom prst="rect">
            <a:avLst/>
          </a:prstGeom>
          <a:noFill/>
          <a:ln/>
        </p:spPr>
        <p:txBody>
          <a:bodyPr wrap="non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HALLUCINATIONS</a:t>
            </a:r>
            <a:endParaRPr lang="en-US" sz="800" dirty="0"/>
          </a:p>
        </p:txBody>
      </p:sp>
      <p:sp>
        <p:nvSpPr>
          <p:cNvPr id="25" name="Text 21"/>
          <p:cNvSpPr/>
          <p:nvPr/>
        </p:nvSpPr>
        <p:spPr>
          <a:xfrm>
            <a:off x="792956" y="2379650"/>
            <a:ext cx="3106638" cy="133945"/>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Standard LLMs fabricate administrative policies when documents lack answers.</a:t>
            </a:r>
            <a:endParaRPr lang="en-US" sz="703" dirty="0"/>
          </a:p>
        </p:txBody>
      </p:sp>
      <p:sp>
        <p:nvSpPr>
          <p:cNvPr id="26" name="Shape 22"/>
          <p:cNvSpPr/>
          <p:nvPr/>
        </p:nvSpPr>
        <p:spPr>
          <a:xfrm>
            <a:off x="550069" y="2595749"/>
            <a:ext cx="3800475" cy="0"/>
          </a:xfrm>
          <a:prstGeom prst="line">
            <a:avLst/>
          </a:prstGeom>
          <a:noFill/>
          <a:ln w="7144">
            <a:solidFill>
              <a:srgbClr val="0F172A"/>
            </a:solidFill>
            <a:prstDash val="dash"/>
          </a:ln>
        </p:spPr>
      </p:sp>
      <p:sp>
        <p:nvSpPr>
          <p:cNvPr id="27" name="Text 23"/>
          <p:cNvSpPr/>
          <p:nvPr/>
        </p:nvSpPr>
        <p:spPr>
          <a:xfrm>
            <a:off x="553641" y="2681474"/>
            <a:ext cx="150019" cy="150019"/>
          </a:xfrm>
          <a:prstGeom prst="roundRect">
            <a:avLst>
              <a:gd name="adj" fmla="val 38095"/>
            </a:avLst>
          </a:prstGeom>
          <a:solidFill>
            <a:srgbClr val="F87171">
              <a:alpha val="14000"/>
            </a:srgbClr>
          </a:solidFill>
          <a:ln w="7144">
            <a:solidFill>
              <a:srgbClr val="F87171"/>
            </a:solidFill>
            <a:prstDash val="solid"/>
          </a:ln>
        </p:spPr>
        <p:txBody>
          <a:bodyPr wrap="square" rtlCol="0" anchor="ctr"/>
          <a:lstStyle/>
          <a:p>
            <a:pPr indent="0" marL="0">
              <a:buNone/>
            </a:pPr>
            <a:endParaRPr lang="en-US" dirty="0"/>
          </a:p>
        </p:txBody>
      </p:sp>
      <p:sp>
        <p:nvSpPr>
          <p:cNvPr id="28" name="Text 24"/>
          <p:cNvSpPr/>
          <p:nvPr/>
        </p:nvSpPr>
        <p:spPr>
          <a:xfrm>
            <a:off x="550069" y="2677902"/>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B91C1C"/>
                </a:solidFill>
                <a:latin typeface="Liberation Sans Narrow" pitchFamily="34" charset="0"/>
                <a:ea typeface="Liberation Sans Narrow" pitchFamily="34" charset="-122"/>
                <a:cs typeface="Liberation Sans Narrow" pitchFamily="34" charset="-120"/>
              </a:rPr>
              <a:t>3</a:t>
            </a:r>
            <a:endParaRPr lang="en-US" sz="800" dirty="0"/>
          </a:p>
        </p:txBody>
      </p:sp>
      <p:sp>
        <p:nvSpPr>
          <p:cNvPr id="29" name="Text 25"/>
          <p:cNvSpPr/>
          <p:nvPr/>
        </p:nvSpPr>
        <p:spPr>
          <a:xfrm>
            <a:off x="792956" y="2677902"/>
            <a:ext cx="2494437" cy="132409"/>
          </a:xfrm>
          <a:prstGeom prst="rect">
            <a:avLst/>
          </a:prstGeom>
          <a:noFill/>
          <a:ln/>
        </p:spPr>
        <p:txBody>
          <a:bodyPr wrap="squar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CONVERSATIONAL CONTEXT LOSS</a:t>
            </a:r>
            <a:endParaRPr lang="en-US" sz="800" dirty="0"/>
          </a:p>
        </p:txBody>
      </p:sp>
      <p:sp>
        <p:nvSpPr>
          <p:cNvPr id="30" name="Text 26"/>
          <p:cNvSpPr/>
          <p:nvPr/>
        </p:nvSpPr>
        <p:spPr>
          <a:xfrm>
            <a:off x="792956" y="2837743"/>
            <a:ext cx="2309664" cy="133945"/>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Cannot resolve follow-ups like “What is the deadline for it?”</a:t>
            </a:r>
            <a:endParaRPr lang="en-US" sz="703" dirty="0"/>
          </a:p>
        </p:txBody>
      </p:sp>
      <p:sp>
        <p:nvSpPr>
          <p:cNvPr id="31" name="Shape 27"/>
          <p:cNvSpPr/>
          <p:nvPr/>
        </p:nvSpPr>
        <p:spPr>
          <a:xfrm>
            <a:off x="550069" y="3053842"/>
            <a:ext cx="3800475" cy="0"/>
          </a:xfrm>
          <a:prstGeom prst="line">
            <a:avLst/>
          </a:prstGeom>
          <a:noFill/>
          <a:ln w="7144">
            <a:solidFill>
              <a:srgbClr val="0F172A"/>
            </a:solidFill>
            <a:prstDash val="dash"/>
          </a:ln>
        </p:spPr>
      </p:sp>
      <p:sp>
        <p:nvSpPr>
          <p:cNvPr id="32" name="Text 28"/>
          <p:cNvSpPr/>
          <p:nvPr/>
        </p:nvSpPr>
        <p:spPr>
          <a:xfrm>
            <a:off x="553641" y="3139567"/>
            <a:ext cx="150019" cy="150019"/>
          </a:xfrm>
          <a:prstGeom prst="roundRect">
            <a:avLst>
              <a:gd name="adj" fmla="val 38095"/>
            </a:avLst>
          </a:prstGeom>
          <a:solidFill>
            <a:srgbClr val="F87171">
              <a:alpha val="14000"/>
            </a:srgbClr>
          </a:solidFill>
          <a:ln w="7144">
            <a:solidFill>
              <a:srgbClr val="F87171"/>
            </a:solidFill>
            <a:prstDash val="solid"/>
          </a:ln>
        </p:spPr>
        <p:txBody>
          <a:bodyPr wrap="square" rtlCol="0" anchor="ctr"/>
          <a:lstStyle/>
          <a:p>
            <a:pPr indent="0" marL="0">
              <a:buNone/>
            </a:pPr>
            <a:endParaRPr lang="en-US" dirty="0"/>
          </a:p>
        </p:txBody>
      </p:sp>
      <p:sp>
        <p:nvSpPr>
          <p:cNvPr id="33" name="Text 29"/>
          <p:cNvSpPr/>
          <p:nvPr/>
        </p:nvSpPr>
        <p:spPr>
          <a:xfrm>
            <a:off x="550069" y="3135995"/>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B91C1C"/>
                </a:solidFill>
                <a:latin typeface="Liberation Sans Narrow" pitchFamily="34" charset="0"/>
                <a:ea typeface="Liberation Sans Narrow" pitchFamily="34" charset="-122"/>
                <a:cs typeface="Liberation Sans Narrow" pitchFamily="34" charset="-120"/>
              </a:rPr>
              <a:t>4</a:t>
            </a:r>
            <a:endParaRPr lang="en-US" sz="800" dirty="0"/>
          </a:p>
        </p:txBody>
      </p:sp>
      <p:sp>
        <p:nvSpPr>
          <p:cNvPr id="34" name="Text 30"/>
          <p:cNvSpPr/>
          <p:nvPr/>
        </p:nvSpPr>
        <p:spPr>
          <a:xfrm>
            <a:off x="792956" y="3135995"/>
            <a:ext cx="3063781" cy="132409"/>
          </a:xfrm>
          <a:prstGeom prst="rect">
            <a:avLst/>
          </a:prstGeom>
          <a:noFill/>
          <a:ln/>
        </p:spPr>
        <p:txBody>
          <a:bodyPr wrap="non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OCR BOTTLENECKS</a:t>
            </a:r>
            <a:endParaRPr lang="en-US" sz="800" dirty="0"/>
          </a:p>
        </p:txBody>
      </p:sp>
      <p:sp>
        <p:nvSpPr>
          <p:cNvPr id="35" name="Text 31"/>
          <p:cNvSpPr/>
          <p:nvPr/>
        </p:nvSpPr>
        <p:spPr>
          <a:xfrm>
            <a:off x="792956" y="3295836"/>
            <a:ext cx="2917887" cy="133945"/>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System crashes or freezes when ingesting multi-page scanned PDF orders.</a:t>
            </a:r>
            <a:endParaRPr lang="en-US" sz="703" dirty="0"/>
          </a:p>
        </p:txBody>
      </p:sp>
      <p:pic>
        <p:nvPicPr>
          <p:cNvPr id="36" name="Image 2" descr="preencoded.png">    </p:cNvPr>
          <p:cNvPicPr>
            <a:picLocks noChangeAspect="1"/>
          </p:cNvPicPr>
          <p:nvPr/>
        </p:nvPicPr>
        <p:blipFill>
          <a:blip r:embed="rId3"/>
          <a:stretch>
            <a:fillRect/>
          </a:stretch>
        </p:blipFill>
        <p:spPr>
          <a:xfrm>
            <a:off x="4643438" y="1283084"/>
            <a:ext cx="4100513" cy="2346722"/>
          </a:xfrm>
          <a:prstGeom prst="rect">
            <a:avLst/>
          </a:prstGeom>
        </p:spPr>
      </p:pic>
      <p:sp>
        <p:nvSpPr>
          <p:cNvPr id="37" name="Shape 32"/>
          <p:cNvSpPr/>
          <p:nvPr/>
        </p:nvSpPr>
        <p:spPr>
          <a:xfrm>
            <a:off x="4643438" y="1293800"/>
            <a:ext cx="4100513" cy="0"/>
          </a:xfrm>
          <a:prstGeom prst="line">
            <a:avLst/>
          </a:prstGeom>
          <a:noFill/>
          <a:ln w="21431">
            <a:solidFill>
              <a:srgbClr val="0E7490"/>
            </a:solidFill>
            <a:prstDash val="solid"/>
          </a:ln>
        </p:spPr>
      </p:sp>
      <p:sp>
        <p:nvSpPr>
          <p:cNvPr id="38" name="Shape 33"/>
          <p:cNvSpPr/>
          <p:nvPr/>
        </p:nvSpPr>
        <p:spPr>
          <a:xfrm>
            <a:off x="8740378" y="1283084"/>
            <a:ext cx="0" cy="2346722"/>
          </a:xfrm>
          <a:prstGeom prst="line">
            <a:avLst/>
          </a:prstGeom>
          <a:noFill/>
          <a:ln w="7144">
            <a:solidFill>
              <a:srgbClr val="0E7490"/>
            </a:solidFill>
            <a:prstDash val="solid"/>
          </a:ln>
        </p:spPr>
      </p:sp>
      <p:sp>
        <p:nvSpPr>
          <p:cNvPr id="39" name="Shape 34"/>
          <p:cNvSpPr/>
          <p:nvPr/>
        </p:nvSpPr>
        <p:spPr>
          <a:xfrm>
            <a:off x="4643438" y="3626234"/>
            <a:ext cx="4100513" cy="0"/>
          </a:xfrm>
          <a:prstGeom prst="line">
            <a:avLst/>
          </a:prstGeom>
          <a:noFill/>
          <a:ln w="7144">
            <a:solidFill>
              <a:srgbClr val="0E7490"/>
            </a:solidFill>
            <a:prstDash val="solid"/>
          </a:ln>
        </p:spPr>
      </p:sp>
      <p:sp>
        <p:nvSpPr>
          <p:cNvPr id="40" name="Shape 35"/>
          <p:cNvSpPr/>
          <p:nvPr/>
        </p:nvSpPr>
        <p:spPr>
          <a:xfrm>
            <a:off x="4647009" y="1283084"/>
            <a:ext cx="0" cy="2346722"/>
          </a:xfrm>
          <a:prstGeom prst="line">
            <a:avLst/>
          </a:prstGeom>
          <a:noFill/>
          <a:ln w="7144">
            <a:solidFill>
              <a:srgbClr val="0E7490"/>
            </a:solidFill>
            <a:prstDash val="solid"/>
          </a:ln>
        </p:spPr>
      </p:sp>
      <p:sp>
        <p:nvSpPr>
          <p:cNvPr id="41" name="Shape 36"/>
          <p:cNvSpPr/>
          <p:nvPr/>
        </p:nvSpPr>
        <p:spPr>
          <a:xfrm>
            <a:off x="4793456" y="1679563"/>
            <a:ext cx="3800475" cy="0"/>
          </a:xfrm>
          <a:prstGeom prst="line">
            <a:avLst/>
          </a:prstGeom>
          <a:noFill/>
          <a:ln w="7144">
            <a:solidFill>
              <a:srgbClr val="0F172A"/>
            </a:solidFill>
            <a:prstDash val="solid"/>
          </a:ln>
        </p:spPr>
      </p:sp>
      <p:sp>
        <p:nvSpPr>
          <p:cNvPr id="42" name="Text 37"/>
          <p:cNvSpPr/>
          <p:nvPr/>
        </p:nvSpPr>
        <p:spPr>
          <a:xfrm>
            <a:off x="4793456" y="1433103"/>
            <a:ext cx="157163" cy="157163"/>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43" name="Text 38"/>
          <p:cNvSpPr/>
          <p:nvPr/>
        </p:nvSpPr>
        <p:spPr>
          <a:xfrm>
            <a:off x="5022056" y="1450739"/>
            <a:ext cx="3571875" cy="139526"/>
          </a:xfrm>
          <a:prstGeom prst="rect">
            <a:avLst/>
          </a:prstGeom>
          <a:noFill/>
          <a:ln/>
        </p:spPr>
        <p:txBody>
          <a:bodyPr wrap="none" lIns="0" tIns="0" rIns="0" bIns="0" rtlCol="0" anchor="t"/>
          <a:lstStyle/>
          <a:p>
            <a:pPr algn="l" indent="0" marL="0">
              <a:lnSpc>
                <a:spcPts val="959"/>
              </a:lnSpc>
              <a:buNone/>
            </a:pPr>
            <a:r>
              <a:rPr lang="en-US" sz="800" spc="99" kern="0" dirty="0">
                <a:solidFill>
                  <a:srgbClr val="0F172A"/>
                </a:solidFill>
                <a:latin typeface="Courier New" pitchFamily="34" charset="0"/>
                <a:ea typeface="Courier New" pitchFamily="34" charset="-122"/>
                <a:cs typeface="Courier New" pitchFamily="34" charset="-120"/>
              </a:rPr>
              <a:t>KGP GYANKOSH ENGINEERING SOLUTIONS</a:t>
            </a:r>
            <a:endParaRPr lang="en-US" sz="800" dirty="0"/>
          </a:p>
        </p:txBody>
      </p:sp>
      <p:sp>
        <p:nvSpPr>
          <p:cNvPr id="44" name="Text 39"/>
          <p:cNvSpPr/>
          <p:nvPr/>
        </p:nvSpPr>
        <p:spPr>
          <a:xfrm>
            <a:off x="4797028" y="1765288"/>
            <a:ext cx="150019" cy="150019"/>
          </a:xfrm>
          <a:prstGeom prst="roundRect">
            <a:avLst>
              <a:gd name="adj" fmla="val 38095"/>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5" name="Text 40"/>
          <p:cNvSpPr/>
          <p:nvPr/>
        </p:nvSpPr>
        <p:spPr>
          <a:xfrm>
            <a:off x="4793456" y="1761716"/>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1</a:t>
            </a:r>
            <a:endParaRPr lang="en-US" sz="800" dirty="0"/>
          </a:p>
        </p:txBody>
      </p:sp>
      <p:sp>
        <p:nvSpPr>
          <p:cNvPr id="46" name="Text 41"/>
          <p:cNvSpPr/>
          <p:nvPr/>
        </p:nvSpPr>
        <p:spPr>
          <a:xfrm>
            <a:off x="5036344" y="1761716"/>
            <a:ext cx="2534821" cy="132409"/>
          </a:xfrm>
          <a:prstGeom prst="rect">
            <a:avLst/>
          </a:prstGeom>
          <a:noFill/>
          <a:ln/>
        </p:spPr>
        <p:txBody>
          <a:bodyPr wrap="square" lIns="0" tIns="0" rIns="0" bIns="0" rtlCol="0" anchor="t">
            <a:normAutofit/>
          </a:bodyPr>
          <a:lstStyle/>
          <a:p>
            <a:pPr algn="l" indent="0" marL="0">
              <a:lnSpc>
                <a:spcPts val="1090"/>
              </a:lnSpc>
              <a:buNone/>
            </a:pPr>
            <a:r>
              <a:rPr lang="en-US" sz="800" spc="14" kern="0" dirty="0">
                <a:solidFill>
                  <a:srgbClr val="0F172A"/>
                </a:solidFill>
                <a:latin typeface="Liberation Sans Narrow" pitchFamily="34" charset="0"/>
                <a:ea typeface="Liberation Sans Narrow" pitchFamily="34" charset="-122"/>
                <a:cs typeface="Liberation Sans Narrow" pitchFamily="34" charset="-120"/>
              </a:rPr>
              <a:t>HYBRID RETRIEVAL (BM25 + FAISS)</a:t>
            </a:r>
            <a:endParaRPr lang="en-US" sz="800" dirty="0"/>
          </a:p>
        </p:txBody>
      </p:sp>
      <p:sp>
        <p:nvSpPr>
          <p:cNvPr id="47" name="Text 42"/>
          <p:cNvSpPr/>
          <p:nvPr/>
        </p:nvSpPr>
        <p:spPr>
          <a:xfrm>
            <a:off x="5036344" y="1921557"/>
            <a:ext cx="2347057" cy="164592"/>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100% lexical precision on codes + semantic concept match.</a:t>
            </a:r>
            <a:endParaRPr lang="en-US" sz="703" dirty="0"/>
          </a:p>
        </p:txBody>
      </p:sp>
      <p:sp>
        <p:nvSpPr>
          <p:cNvPr id="48" name="Shape 43"/>
          <p:cNvSpPr/>
          <p:nvPr/>
        </p:nvSpPr>
        <p:spPr>
          <a:xfrm>
            <a:off x="4793456" y="2137656"/>
            <a:ext cx="3800475" cy="0"/>
          </a:xfrm>
          <a:prstGeom prst="line">
            <a:avLst/>
          </a:prstGeom>
          <a:noFill/>
          <a:ln w="7144">
            <a:solidFill>
              <a:srgbClr val="0F172A"/>
            </a:solidFill>
            <a:prstDash val="dash"/>
          </a:ln>
        </p:spPr>
      </p:sp>
      <p:sp>
        <p:nvSpPr>
          <p:cNvPr id="49" name="Text 44"/>
          <p:cNvSpPr/>
          <p:nvPr/>
        </p:nvSpPr>
        <p:spPr>
          <a:xfrm>
            <a:off x="4797028" y="2223381"/>
            <a:ext cx="150019" cy="150019"/>
          </a:xfrm>
          <a:prstGeom prst="roundRect">
            <a:avLst>
              <a:gd name="adj" fmla="val 38095"/>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0" name="Text 45"/>
          <p:cNvSpPr/>
          <p:nvPr/>
        </p:nvSpPr>
        <p:spPr>
          <a:xfrm>
            <a:off x="4793456" y="2219809"/>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2</a:t>
            </a:r>
            <a:endParaRPr lang="en-US" sz="800" dirty="0"/>
          </a:p>
        </p:txBody>
      </p:sp>
      <p:sp>
        <p:nvSpPr>
          <p:cNvPr id="51" name="Text 46"/>
          <p:cNvSpPr/>
          <p:nvPr/>
        </p:nvSpPr>
        <p:spPr>
          <a:xfrm>
            <a:off x="5036344" y="2219809"/>
            <a:ext cx="2232232" cy="132409"/>
          </a:xfrm>
          <a:prstGeom prst="rect">
            <a:avLst/>
          </a:prstGeom>
          <a:noFill/>
          <a:ln/>
        </p:spPr>
        <p:txBody>
          <a:bodyPr wrap="non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STRICT GROUNDING PROMPT</a:t>
            </a:r>
            <a:endParaRPr lang="en-US" sz="800" dirty="0"/>
          </a:p>
        </p:txBody>
      </p:sp>
      <p:sp>
        <p:nvSpPr>
          <p:cNvPr id="52" name="Text 47"/>
          <p:cNvSpPr/>
          <p:nvPr/>
        </p:nvSpPr>
        <p:spPr>
          <a:xfrm>
            <a:off x="5036344" y="2379650"/>
            <a:ext cx="2125935" cy="133945"/>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LLM refuses when context does not support the claim.</a:t>
            </a:r>
            <a:endParaRPr lang="en-US" sz="703" dirty="0"/>
          </a:p>
        </p:txBody>
      </p:sp>
      <p:sp>
        <p:nvSpPr>
          <p:cNvPr id="53" name="Shape 48"/>
          <p:cNvSpPr/>
          <p:nvPr/>
        </p:nvSpPr>
        <p:spPr>
          <a:xfrm>
            <a:off x="4793456" y="2595749"/>
            <a:ext cx="3800475" cy="0"/>
          </a:xfrm>
          <a:prstGeom prst="line">
            <a:avLst/>
          </a:prstGeom>
          <a:noFill/>
          <a:ln w="7144">
            <a:solidFill>
              <a:srgbClr val="0F172A"/>
            </a:solidFill>
            <a:prstDash val="dash"/>
          </a:ln>
        </p:spPr>
      </p:sp>
      <p:sp>
        <p:nvSpPr>
          <p:cNvPr id="54" name="Text 49"/>
          <p:cNvSpPr/>
          <p:nvPr/>
        </p:nvSpPr>
        <p:spPr>
          <a:xfrm>
            <a:off x="4797028" y="2681474"/>
            <a:ext cx="150019" cy="150019"/>
          </a:xfrm>
          <a:prstGeom prst="roundRect">
            <a:avLst>
              <a:gd name="adj" fmla="val 38095"/>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5" name="Text 50"/>
          <p:cNvSpPr/>
          <p:nvPr/>
        </p:nvSpPr>
        <p:spPr>
          <a:xfrm>
            <a:off x="4793456" y="2677902"/>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3</a:t>
            </a:r>
            <a:endParaRPr lang="en-US" sz="800" dirty="0"/>
          </a:p>
        </p:txBody>
      </p:sp>
      <p:sp>
        <p:nvSpPr>
          <p:cNvPr id="56" name="Text 51"/>
          <p:cNvSpPr/>
          <p:nvPr/>
        </p:nvSpPr>
        <p:spPr>
          <a:xfrm>
            <a:off x="5036344" y="2677902"/>
            <a:ext cx="2170637" cy="132409"/>
          </a:xfrm>
          <a:prstGeom prst="rect">
            <a:avLst/>
          </a:prstGeom>
          <a:noFill/>
          <a:ln/>
        </p:spPr>
        <p:txBody>
          <a:bodyPr wrap="squar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MULTI-TURN REFORMULATION</a:t>
            </a:r>
            <a:endParaRPr lang="en-US" sz="800" dirty="0"/>
          </a:p>
        </p:txBody>
      </p:sp>
      <p:sp>
        <p:nvSpPr>
          <p:cNvPr id="57" name="Text 52"/>
          <p:cNvSpPr/>
          <p:nvPr/>
        </p:nvSpPr>
        <p:spPr>
          <a:xfrm>
            <a:off x="5036344" y="2837743"/>
            <a:ext cx="2009849" cy="133945"/>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Resolves pronouns across 5+ conversational turns.</a:t>
            </a:r>
            <a:endParaRPr lang="en-US" sz="703" dirty="0"/>
          </a:p>
        </p:txBody>
      </p:sp>
      <p:sp>
        <p:nvSpPr>
          <p:cNvPr id="58" name="Shape 53"/>
          <p:cNvSpPr/>
          <p:nvPr/>
        </p:nvSpPr>
        <p:spPr>
          <a:xfrm>
            <a:off x="4793456" y="3053842"/>
            <a:ext cx="3800475" cy="0"/>
          </a:xfrm>
          <a:prstGeom prst="line">
            <a:avLst/>
          </a:prstGeom>
          <a:noFill/>
          <a:ln w="7144">
            <a:solidFill>
              <a:srgbClr val="0F172A"/>
            </a:solidFill>
            <a:prstDash val="dash"/>
          </a:ln>
        </p:spPr>
      </p:sp>
      <p:sp>
        <p:nvSpPr>
          <p:cNvPr id="59" name="Text 54"/>
          <p:cNvSpPr/>
          <p:nvPr/>
        </p:nvSpPr>
        <p:spPr>
          <a:xfrm>
            <a:off x="4797028" y="3139567"/>
            <a:ext cx="150019" cy="150019"/>
          </a:xfrm>
          <a:prstGeom prst="roundRect">
            <a:avLst>
              <a:gd name="adj" fmla="val 38095"/>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0" name="Text 55"/>
          <p:cNvSpPr/>
          <p:nvPr/>
        </p:nvSpPr>
        <p:spPr>
          <a:xfrm>
            <a:off x="4793456" y="3135995"/>
            <a:ext cx="200025"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4</a:t>
            </a:r>
            <a:endParaRPr lang="en-US" sz="800" dirty="0"/>
          </a:p>
        </p:txBody>
      </p:sp>
      <p:sp>
        <p:nvSpPr>
          <p:cNvPr id="61" name="Text 56"/>
          <p:cNvSpPr/>
          <p:nvPr/>
        </p:nvSpPr>
        <p:spPr>
          <a:xfrm>
            <a:off x="5036344" y="3135995"/>
            <a:ext cx="2449056" cy="132409"/>
          </a:xfrm>
          <a:prstGeom prst="rect">
            <a:avLst/>
          </a:prstGeom>
          <a:noFill/>
          <a:ln/>
        </p:spPr>
        <p:txBody>
          <a:bodyPr wrap="none" lIns="0" tIns="0" rIns="0" bIns="0" rtlCol="0" anchor="t">
            <a:normAutofit/>
          </a:bodyPr>
          <a:lstStyle/>
          <a:p>
            <a:pPr algn="l" indent="0" marL="0">
              <a:lnSpc>
                <a:spcPts val="1090"/>
              </a:lnSpc>
              <a:buNone/>
            </a:pPr>
            <a:r>
              <a:rPr lang="en-US" sz="800" spc="14" kern="0" dirty="0">
                <a:solidFill>
                  <a:srgbClr val="0F172A"/>
                </a:solidFill>
                <a:latin typeface="Carlito" pitchFamily="34" charset="0"/>
                <a:ea typeface="Carlito" pitchFamily="34" charset="-122"/>
                <a:cs typeface="Carlito" pitchFamily="34" charset="-120"/>
              </a:rPr>
              <a:t>PURE-PYTHON ONNX OCR</a:t>
            </a:r>
            <a:endParaRPr lang="en-US" sz="800" dirty="0"/>
          </a:p>
        </p:txBody>
      </p:sp>
      <p:sp>
        <p:nvSpPr>
          <p:cNvPr id="62" name="Text 57"/>
          <p:cNvSpPr/>
          <p:nvPr/>
        </p:nvSpPr>
        <p:spPr>
          <a:xfrm>
            <a:off x="5036344" y="3295836"/>
            <a:ext cx="2332434" cy="133945"/>
          </a:xfrm>
          <a:prstGeom prst="rect">
            <a:avLst/>
          </a:prstGeom>
          <a:noFill/>
          <a:ln/>
        </p:spPr>
        <p:txBody>
          <a:bodyPr wrap="square" lIns="0" tIns="0" rIns="0" bIns="0" rtlCol="0" anchor="t"/>
          <a:lstStyle/>
          <a:p>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RapidOCR pipeline with disk caching, zero external binaries.</a:t>
            </a:r>
            <a:endParaRPr lang="en-US" sz="703" dirty="0"/>
          </a:p>
        </p:txBody>
      </p:sp>
      <p:sp>
        <p:nvSpPr>
          <p:cNvPr id="63" name="Text 58"/>
          <p:cNvSpPr/>
          <p:nvPr/>
        </p:nvSpPr>
        <p:spPr>
          <a:xfrm>
            <a:off x="403622" y="3761966"/>
            <a:ext cx="8336756" cy="409091"/>
          </a:xfrm>
          <a:prstGeom prst="roundRect">
            <a:avLst>
              <a:gd name="adj" fmla="val 27940"/>
            </a:avLst>
          </a:prstGeom>
          <a:solidFill>
            <a:srgbClr val="FFFFFF"/>
          </a:solidFill>
          <a:ln w="7144">
            <a:solidFill>
              <a:srgbClr val="0F172A"/>
            </a:solidFill>
            <a:prstDash val="solid"/>
          </a:ln>
        </p:spPr>
        <p:txBody>
          <a:bodyPr wrap="square" rtlCol="0" anchor="ctr"/>
          <a:lstStyle/>
          <a:p>
            <a:pPr indent="0" marL="0">
              <a:buNone/>
            </a:pPr>
            <a:endParaRPr lang="en-US" dirty="0"/>
          </a:p>
        </p:txBody>
      </p:sp>
      <p:sp>
        <p:nvSpPr>
          <p:cNvPr id="64" name="Text 59"/>
          <p:cNvSpPr/>
          <p:nvPr/>
        </p:nvSpPr>
        <p:spPr>
          <a:xfrm>
            <a:off x="535781" y="3911092"/>
            <a:ext cx="1714388" cy="156381"/>
          </a:xfrm>
          <a:prstGeom prst="rect">
            <a:avLst/>
          </a:prstGeom>
          <a:noFill/>
          <a:ln/>
        </p:spPr>
        <p:txBody>
          <a:bodyPr wrap="square" lIns="0" tIns="0" rIns="0" bIns="0" rtlCol="0" anchor="t"/>
          <a:lstStyle/>
          <a:p>
            <a:pPr algn="l" indent="0" marL="0">
              <a:lnSpc>
                <a:spcPts val="872"/>
              </a:lnSpc>
              <a:buNone/>
            </a:pPr>
            <a:r>
              <a:rPr lang="en-US" sz="600" spc="113" kern="0" dirty="0">
                <a:solidFill>
                  <a:srgbClr val="64748B"/>
                </a:solidFill>
                <a:latin typeface="Courier New" pitchFamily="34" charset="0"/>
                <a:ea typeface="Courier New" pitchFamily="34" charset="-122"/>
                <a:cs typeface="Courier New" pitchFamily="34" charset="-120"/>
              </a:rPr>
              <a:t>CAPSTONE ENGINEERING GOALS</a:t>
            </a:r>
            <a:endParaRPr lang="en-US" sz="600" dirty="0"/>
          </a:p>
        </p:txBody>
      </p:sp>
      <p:sp>
        <p:nvSpPr>
          <p:cNvPr id="65" name="Text 60"/>
          <p:cNvSpPr/>
          <p:nvPr/>
        </p:nvSpPr>
        <p:spPr>
          <a:xfrm>
            <a:off x="2303748" y="3869122"/>
            <a:ext cx="1517377" cy="194779"/>
          </a:xfrm>
          <a:prstGeom prst="roundRect">
            <a:avLst>
              <a:gd name="adj" fmla="val 4885267"/>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6" name="Text 61"/>
          <p:cNvSpPr/>
          <p:nvPr/>
        </p:nvSpPr>
        <p:spPr>
          <a:xfrm>
            <a:off x="2300176" y="3865550"/>
            <a:ext cx="1553096" cy="201923"/>
          </a:xfrm>
          <a:prstGeom prst="rect">
            <a:avLst/>
          </a:prstGeom>
          <a:noFill/>
          <a:ln/>
        </p:spPr>
        <p:txBody>
          <a:bodyPr wrap="none" lIns="85725" tIns="35719" rIns="85725" bIns="35719" rtlCol="0" anchor="t"/>
          <a:lstStyle/>
          <a:p>
            <a:pPr algn="l" indent="0" marL="0">
              <a:lnSpc>
                <a:spcPts val="915"/>
              </a:lnSpc>
              <a:buNone/>
            </a:pPr>
            <a:r>
              <a:rPr lang="en-US" sz="600" spc="59" kern="0" dirty="0">
                <a:solidFill>
                  <a:srgbClr val="0E7490"/>
                </a:solidFill>
                <a:latin typeface="Courier New" pitchFamily="34" charset="0"/>
                <a:ea typeface="Courier New" pitchFamily="34" charset="-122"/>
                <a:cs typeface="Courier New" pitchFamily="34" charset="-120"/>
              </a:rPr>
              <a:t>ZERO-HALLUCINATION GUARANTEE</a:t>
            </a:r>
            <a:endParaRPr lang="en-US" sz="600" dirty="0"/>
          </a:p>
        </p:txBody>
      </p:sp>
      <p:sp>
        <p:nvSpPr>
          <p:cNvPr id="67" name="Text 62"/>
          <p:cNvSpPr/>
          <p:nvPr/>
        </p:nvSpPr>
        <p:spPr>
          <a:xfrm>
            <a:off x="3885419" y="3869122"/>
            <a:ext cx="2012417" cy="194779"/>
          </a:xfrm>
          <a:prstGeom prst="roundRect">
            <a:avLst>
              <a:gd name="adj" fmla="val 4885267"/>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8" name="Text 63"/>
          <p:cNvSpPr/>
          <p:nvPr/>
        </p:nvSpPr>
        <p:spPr>
          <a:xfrm>
            <a:off x="3881847" y="3865550"/>
            <a:ext cx="2048135" cy="201923"/>
          </a:xfrm>
          <a:prstGeom prst="rect">
            <a:avLst/>
          </a:prstGeom>
          <a:noFill/>
          <a:ln/>
        </p:spPr>
        <p:txBody>
          <a:bodyPr wrap="square" lIns="85725" tIns="35719" rIns="85725" bIns="35719" rtlCol="0" anchor="t"/>
          <a:lstStyle/>
          <a:p>
            <a:pPr algn="l" indent="0" marL="0">
              <a:lnSpc>
                <a:spcPts val="915"/>
              </a:lnSpc>
              <a:buNone/>
            </a:pPr>
            <a:r>
              <a:rPr lang="en-US" sz="600" spc="59" kern="0" dirty="0">
                <a:solidFill>
                  <a:srgbClr val="0E7490"/>
                </a:solidFill>
                <a:latin typeface="Courier New" pitchFamily="34" charset="0"/>
                <a:ea typeface="Courier New" pitchFamily="34" charset="-122"/>
                <a:cs typeface="Courier New" pitchFamily="34" charset="-120"/>
              </a:rPr>
              <a:t>STRICT TWO-STAGE DECOUPLED ARCHITECTURE</a:t>
            </a:r>
            <a:endParaRPr lang="en-US" sz="600" dirty="0"/>
          </a:p>
        </p:txBody>
      </p:sp>
      <p:sp>
        <p:nvSpPr>
          <p:cNvPr id="69" name="Text 64"/>
          <p:cNvSpPr/>
          <p:nvPr/>
        </p:nvSpPr>
        <p:spPr>
          <a:xfrm>
            <a:off x="5962129" y="3869122"/>
            <a:ext cx="2642518" cy="194779"/>
          </a:xfrm>
          <a:prstGeom prst="roundRect">
            <a:avLst>
              <a:gd name="adj" fmla="val 4885267"/>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70" name="Text 65"/>
          <p:cNvSpPr/>
          <p:nvPr/>
        </p:nvSpPr>
        <p:spPr>
          <a:xfrm>
            <a:off x="5958557" y="3865550"/>
            <a:ext cx="2649662" cy="201923"/>
          </a:xfrm>
          <a:prstGeom prst="rect">
            <a:avLst/>
          </a:prstGeom>
          <a:noFill/>
          <a:ln/>
        </p:spPr>
        <p:txBody>
          <a:bodyPr wrap="square" lIns="85725" tIns="35719" rIns="85725" bIns="35719" rtlCol="0" anchor="t"/>
          <a:lstStyle/>
          <a:p>
            <a:pPr algn="l" indent="0" marL="0">
              <a:lnSpc>
                <a:spcPts val="915"/>
              </a:lnSpc>
              <a:buNone/>
            </a:pPr>
            <a:r>
              <a:rPr lang="en-US" sz="600" spc="59" kern="0" dirty="0">
                <a:solidFill>
                  <a:srgbClr val="0E7490"/>
                </a:solidFill>
                <a:latin typeface="Courier New" pitchFamily="34" charset="0"/>
                <a:ea typeface="Courier New" pitchFamily="34" charset="-122"/>
                <a:cs typeface="Courier New" pitchFamily="34" charset="-120"/>
              </a:rPr>
              <a:t>MULTI-PROVIDER FLEXIBILITY (OLLAMA / GEMINI / OPENAI)</a:t>
            </a:r>
            <a:endParaRPr lang="en-US" sz="600" dirty="0"/>
          </a:p>
        </p:txBody>
      </p:sp>
      <p:sp>
        <p:nvSpPr>
          <p:cNvPr id="71" name="Shape 66"/>
          <p:cNvSpPr/>
          <p:nvPr/>
        </p:nvSpPr>
        <p:spPr>
          <a:xfrm>
            <a:off x="400050" y="4829175"/>
            <a:ext cx="8343900" cy="0"/>
          </a:xfrm>
          <a:prstGeom prst="line">
            <a:avLst/>
          </a:prstGeom>
          <a:noFill/>
          <a:ln w="7144">
            <a:solidFill>
              <a:srgbClr val="0F172A"/>
            </a:solidFill>
            <a:prstDash val="solid"/>
          </a:ln>
        </p:spPr>
      </p:sp>
      <p:sp>
        <p:nvSpPr>
          <p:cNvPr id="72" name="Text 67"/>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73" name="Text 68"/>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03 / 18</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250906"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665244" y="157163"/>
            <a:ext cx="1292762"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03 / 16 · ARCHITECTURE</a:t>
            </a:r>
            <a:endParaRPr lang="en-US" sz="600" dirty="0"/>
          </a:p>
        </p:txBody>
      </p:sp>
      <p:sp>
        <p:nvSpPr>
          <p:cNvPr id="6" name="Text 2"/>
          <p:cNvSpPr/>
          <p:nvPr/>
        </p:nvSpPr>
        <p:spPr>
          <a:xfrm>
            <a:off x="400050" y="557213"/>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HIGH-LEVEL SYSTEM ARCHITECTURE</a:t>
            </a:r>
            <a:endParaRPr lang="en-US" sz="800" dirty="0"/>
          </a:p>
        </p:txBody>
      </p:sp>
      <p:sp>
        <p:nvSpPr>
          <p:cNvPr id="7" name="Text 3"/>
          <p:cNvSpPr/>
          <p:nvPr/>
        </p:nvSpPr>
        <p:spPr>
          <a:xfrm>
            <a:off x="400050" y="725091"/>
            <a:ext cx="8636000" cy="240619"/>
          </a:xfrm>
          <a:prstGeom prst="rect">
            <a:avLst/>
          </a:prstGeom>
          <a:noFill/>
          <a:ln/>
        </p:spPr>
        <p:txBody>
          <a:bodyPr wrap="square" lIns="0" tIns="0" rIns="0" bIns="0" rtlCol="0" anchor="t"/>
          <a:lstStyle/>
          <a:p>
            <a:pPr algn="l" indent="0" marL="0">
              <a:lnSpc>
                <a:spcPts val="1755"/>
              </a:lnSpc>
              <a:buNone/>
            </a:pPr>
            <a:r>
              <a:rPr lang="en-US" sz="1463" spc="-15" kern="0" dirty="0">
                <a:solidFill>
                  <a:srgbClr val="0F172A"/>
                </a:solidFill>
                <a:latin typeface="Carlito" pitchFamily="34" charset="0"/>
                <a:ea typeface="Carlito" pitchFamily="34" charset="-122"/>
                <a:cs typeface="Carlito" pitchFamily="34" charset="-120"/>
              </a:rPr>
              <a:t>Decoupled Two-Stage Enterprise Architecture</a:t>
            </a:r>
            <a:endParaRPr lang="en-US" sz="1463" dirty="0"/>
          </a:p>
        </p:txBody>
      </p:sp>
      <p:pic>
        <p:nvPicPr>
          <p:cNvPr id="8" name="Image 2" descr="preencoded.png">    </p:cNvPr>
          <p:cNvPicPr>
            <a:picLocks noChangeAspect="1"/>
          </p:cNvPicPr>
          <p:nvPr/>
        </p:nvPicPr>
        <p:blipFill>
          <a:blip r:embed="rId3"/>
          <a:stretch>
            <a:fillRect/>
          </a:stretch>
        </p:blipFill>
        <p:spPr>
          <a:xfrm>
            <a:off x="400050" y="1076474"/>
            <a:ext cx="3721894" cy="3071813"/>
          </a:xfrm>
          <a:prstGeom prst="rect">
            <a:avLst/>
          </a:prstGeom>
        </p:spPr>
      </p:pic>
      <p:sp>
        <p:nvSpPr>
          <p:cNvPr id="9" name="Text 4"/>
          <p:cNvSpPr/>
          <p:nvPr/>
        </p:nvSpPr>
        <p:spPr>
          <a:xfrm>
            <a:off x="403622" y="1080046"/>
            <a:ext cx="3714750" cy="3064669"/>
          </a:xfrm>
          <a:prstGeom prst="roundRect">
            <a:avLst>
              <a:gd name="adj" fmla="val 4351"/>
            </a:avLst>
          </a:prstGeom>
          <a:noFill/>
          <a:ln w="7144">
            <a:solidFill>
              <a:srgbClr val="0E7490"/>
            </a:solidFill>
            <a:prstDash val="solid"/>
          </a:ln>
          <a:effectLst>
            <a:outerShdw sx="100000" sy="100000" kx="0" ky="0" algn="bl" rotWithShape="0" blurRad="266700" dist="57150" dir="5400000">
              <a:srgbClr val="06B6D4">
                <a:alpha val="6000"/>
              </a:srgbClr>
            </a:outerShdw>
          </a:effectLst>
        </p:spPr>
        <p:txBody>
          <a:bodyPr wrap="square" rtlCol="0" anchor="ctr"/>
          <a:lstStyle/>
          <a:p>
            <a:pPr indent="0" marL="0">
              <a:buNone/>
            </a:pPr>
            <a:endParaRPr lang="en-US" dirty="0"/>
          </a:p>
        </p:txBody>
      </p:sp>
      <p:sp>
        <p:nvSpPr>
          <p:cNvPr id="10" name="Text 5"/>
          <p:cNvSpPr/>
          <p:nvPr/>
        </p:nvSpPr>
        <p:spPr>
          <a:xfrm>
            <a:off x="527209" y="1295930"/>
            <a:ext cx="1200105"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1" name="Text 6"/>
          <p:cNvSpPr/>
          <p:nvPr/>
        </p:nvSpPr>
        <p:spPr>
          <a:xfrm>
            <a:off x="628650" y="1380083"/>
            <a:ext cx="35719" cy="35719"/>
          </a:xfrm>
          <a:prstGeom prst="roundRect">
            <a:avLst>
              <a:gd name="adj" fmla="val 66666"/>
            </a:avLst>
          </a:prstGeom>
          <a:solidFill>
            <a:srgbClr val="0E7490"/>
          </a:solidFill>
          <a:ln/>
        </p:spPr>
        <p:txBody>
          <a:bodyPr wrap="square" rtlCol="0" anchor="ctr"/>
          <a:lstStyle/>
          <a:p>
            <a:pPr indent="0" marL="0">
              <a:buNone/>
            </a:pPr>
            <a:endParaRPr lang="en-US" dirty="0"/>
          </a:p>
        </p:txBody>
      </p:sp>
      <p:sp>
        <p:nvSpPr>
          <p:cNvPr id="12" name="Text 7"/>
          <p:cNvSpPr/>
          <p:nvPr/>
        </p:nvSpPr>
        <p:spPr>
          <a:xfrm>
            <a:off x="550069" y="1306860"/>
            <a:ext cx="1154385"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 STAGE 1 · OFFLINE</a:t>
            </a:r>
            <a:endParaRPr lang="en-US" sz="800" dirty="0"/>
          </a:p>
        </p:txBody>
      </p:sp>
      <p:sp>
        <p:nvSpPr>
          <p:cNvPr id="13" name="Text 8"/>
          <p:cNvSpPr/>
          <p:nvPr/>
        </p:nvSpPr>
        <p:spPr>
          <a:xfrm>
            <a:off x="3604022" y="1215777"/>
            <a:ext cx="364331" cy="364331"/>
          </a:xfrm>
          <a:prstGeom prst="roundRect">
            <a:avLst>
              <a:gd name="adj" fmla="val 31373"/>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14" name="Text 9"/>
          <p:cNvSpPr/>
          <p:nvPr/>
        </p:nvSpPr>
        <p:spPr>
          <a:xfrm>
            <a:off x="3641169" y="1252924"/>
            <a:ext cx="290036" cy="290036"/>
          </a:xfrm>
          <a:prstGeom prst="rect">
            <a:avLst/>
          </a:prstGeom>
          <a:noFill/>
          <a:ln/>
        </p:spPr>
        <p:txBody>
          <a:bodyPr wrap="none" lIns="0" tIns="0" rIns="0" bIns="0" rtlCol="0" anchor="ctr"/>
          <a:lstStyle/>
          <a:p>
            <a:pPr algn="ctr" indent="0" marL="0">
              <a:buNone/>
            </a:pPr>
            <a:r>
              <a:rPr lang="en-US" sz="1969" dirty="0">
                <a:solidFill>
                  <a:srgbClr val="0E7490"/>
                </a:solidFill>
                <a:latin typeface="Segoe UI Symbol" pitchFamily="34" charset="0"/>
                <a:ea typeface="Segoe UI Symbol" pitchFamily="34" charset="-122"/>
                <a:cs typeface="Segoe UI Symbol" pitchFamily="34" charset="-120"/>
              </a:rPr>
              <a:t>▣</a:t>
            </a:r>
            <a:endParaRPr lang="en-US" sz="1969" dirty="0"/>
          </a:p>
        </p:txBody>
      </p:sp>
      <p:sp>
        <p:nvSpPr>
          <p:cNvPr id="15" name="Text 10"/>
          <p:cNvSpPr/>
          <p:nvPr/>
        </p:nvSpPr>
        <p:spPr>
          <a:xfrm>
            <a:off x="550069" y="1683693"/>
            <a:ext cx="3531584" cy="152948"/>
          </a:xfrm>
          <a:prstGeom prst="rect">
            <a:avLst/>
          </a:prstGeom>
          <a:noFill/>
          <a:ln/>
        </p:spPr>
        <p:txBody>
          <a:bodyPr wrap="square" lIns="0" tIns="0" rIns="0" bIns="0" rtlCol="0" anchor="t">
            <a:normAutofit/>
          </a:bodyPr>
          <a:lstStyle/>
          <a:p>
            <a:pPr algn="l" indent="0" marL="0">
              <a:lnSpc>
                <a:spcPts val="1195"/>
              </a:lnSpc>
              <a:buNone/>
            </a:pPr>
            <a:r>
              <a:rPr lang="en-US" sz="956" spc="-5" kern="0" dirty="0">
                <a:solidFill>
                  <a:srgbClr val="0F172A"/>
                </a:solidFill>
                <a:latin typeface="Carlito" pitchFamily="34" charset="0"/>
                <a:ea typeface="Carlito" pitchFamily="34" charset="-122"/>
                <a:cs typeface="Carlito" pitchFamily="34" charset="-120"/>
              </a:rPr>
              <a:t>Ingestion &amp; Incremental Indexing Pipeline</a:t>
            </a:r>
            <a:endParaRPr lang="en-US" sz="956" dirty="0"/>
          </a:p>
        </p:txBody>
      </p:sp>
      <p:sp>
        <p:nvSpPr>
          <p:cNvPr id="16" name="Text 11"/>
          <p:cNvSpPr/>
          <p:nvPr/>
        </p:nvSpPr>
        <p:spPr>
          <a:xfrm>
            <a:off x="550069" y="1864072"/>
            <a:ext cx="3421856" cy="169959"/>
          </a:xfrm>
          <a:prstGeom prst="rect">
            <a:avLst/>
          </a:prstGeom>
          <a:noFill/>
          <a:ln/>
        </p:spPr>
        <p:txBody>
          <a:bodyPr wrap="none" lIns="0" tIns="0" rIns="0" bIns="0" rtlCol="0" anchor="t"/>
          <a:lstStyle/>
          <a:p>
            <a:pPr algn="l" indent="0" marL="0">
              <a:lnSpc>
                <a:spcPts val="1003"/>
              </a:lnSpc>
              <a:buNone/>
            </a:pPr>
            <a:r>
              <a:rPr lang="en-US" sz="800" spc="13" kern="0" dirty="0">
                <a:solidFill>
                  <a:srgbClr val="0E7490"/>
                </a:solidFill>
                <a:latin typeface="Courier New" pitchFamily="34" charset="0"/>
                <a:ea typeface="Courier New" pitchFamily="34" charset="-122"/>
                <a:cs typeface="Courier New" pitchFamily="34" charset="-120"/>
              </a:rPr>
              <a:t>build_index.py</a:t>
            </a:r>
            <a:endParaRPr lang="en-US" sz="800" dirty="0"/>
          </a:p>
        </p:txBody>
      </p:sp>
      <p:pic>
        <p:nvPicPr>
          <p:cNvPr id="17" name="Image 3" descr="preencoded.png">    </p:cNvPr>
          <p:cNvPicPr>
            <a:picLocks noChangeAspect="1"/>
          </p:cNvPicPr>
          <p:nvPr/>
        </p:nvPicPr>
        <p:blipFill>
          <a:blip r:embed="rId4"/>
          <a:stretch>
            <a:fillRect/>
          </a:stretch>
        </p:blipFill>
        <p:spPr>
          <a:xfrm>
            <a:off x="550069" y="2091333"/>
            <a:ext cx="3421856" cy="7144"/>
          </a:xfrm>
          <a:prstGeom prst="rect">
            <a:avLst/>
          </a:prstGeom>
        </p:spPr>
      </p:pic>
      <p:sp>
        <p:nvSpPr>
          <p:cNvPr id="18" name="Text 12"/>
          <p:cNvSpPr/>
          <p:nvPr/>
        </p:nvSpPr>
        <p:spPr>
          <a:xfrm>
            <a:off x="553641" y="2187773"/>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9" name="Text 13"/>
          <p:cNvSpPr/>
          <p:nvPr/>
        </p:nvSpPr>
        <p:spPr>
          <a:xfrm>
            <a:off x="550069" y="2184202"/>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1</a:t>
            </a:r>
            <a:endParaRPr lang="en-US" sz="800" dirty="0"/>
          </a:p>
        </p:txBody>
      </p:sp>
      <p:sp>
        <p:nvSpPr>
          <p:cNvPr id="20" name="Text 14"/>
          <p:cNvSpPr/>
          <p:nvPr/>
        </p:nvSpPr>
        <p:spPr>
          <a:xfrm>
            <a:off x="785813" y="2184202"/>
            <a:ext cx="3186113" cy="329184"/>
          </a:xfrm>
          <a:prstGeom prst="rect">
            <a:avLst/>
          </a:prstGeom>
          <a:noFill/>
          <a:ln/>
        </p:spPr>
        <p:txBody>
          <a:bodyPr wrap="square" lIns="0" tIns="0" rIns="0" bIns="0" rtlCol="0" anchor="t"/>
          <a:lstStyle/>
          <a:p>
            <a:pPr algn="l" indent="0" marL="0">
              <a:lnSpc>
                <a:spcPts val="1055"/>
              </a:lnSpc>
              <a:buNone/>
            </a:pPr>
            <a:r>
              <a:rPr lang="en-US" sz="800" dirty="0">
                <a:solidFill>
                  <a:srgbClr val="0F172A"/>
                </a:solidFill>
                <a:latin typeface="Carlito" pitchFamily="34" charset="0"/>
                <a:ea typeface="Carlito" pitchFamily="34" charset="-122"/>
                <a:cs typeface="Carlito" pitchFamily="34" charset="-120"/>
              </a:rPr>
              <a:t>Multi-format ingestion</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 — PDF (digital + scanned), DOCX, TXT, PNG image gazettes</a:t>
            </a:r>
            <a:endParaRPr lang="en-US" sz="800" dirty="0"/>
          </a:p>
        </p:txBody>
      </p:sp>
      <p:sp>
        <p:nvSpPr>
          <p:cNvPr id="21" name="Shape 15"/>
          <p:cNvSpPr/>
          <p:nvPr/>
        </p:nvSpPr>
        <p:spPr>
          <a:xfrm>
            <a:off x="550069" y="2512814"/>
            <a:ext cx="3421856" cy="0"/>
          </a:xfrm>
          <a:prstGeom prst="line">
            <a:avLst/>
          </a:prstGeom>
          <a:noFill/>
          <a:ln w="7144">
            <a:solidFill>
              <a:srgbClr val="0F172A"/>
            </a:solidFill>
            <a:prstDash val="dash"/>
          </a:ln>
        </p:spPr>
      </p:sp>
      <p:sp>
        <p:nvSpPr>
          <p:cNvPr id="22" name="Text 16"/>
          <p:cNvSpPr/>
          <p:nvPr/>
        </p:nvSpPr>
        <p:spPr>
          <a:xfrm>
            <a:off x="553641" y="2577108"/>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3" name="Text 17"/>
          <p:cNvSpPr/>
          <p:nvPr/>
        </p:nvSpPr>
        <p:spPr>
          <a:xfrm>
            <a:off x="550069" y="2573536"/>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2</a:t>
            </a:r>
            <a:endParaRPr lang="en-US" sz="800" dirty="0"/>
          </a:p>
        </p:txBody>
      </p:sp>
      <p:sp>
        <p:nvSpPr>
          <p:cNvPr id="24" name="Text 18"/>
          <p:cNvSpPr/>
          <p:nvPr/>
        </p:nvSpPr>
        <p:spPr>
          <a:xfrm>
            <a:off x="785813" y="2573536"/>
            <a:ext cx="3186113" cy="157163"/>
          </a:xfrm>
          <a:prstGeom prst="rect">
            <a:avLst/>
          </a:prstGeom>
          <a:noFill/>
          <a:ln/>
        </p:spPr>
        <p:txBody>
          <a:bodyPr wrap="square" lIns="0" tIns="0" rIns="0" bIns="0" rtlCol="0" anchor="t"/>
          <a:lstStyle/>
          <a:p>
            <a:pPr algn="l" indent="0" marL="0">
              <a:lnSpc>
                <a:spcPts val="1055"/>
              </a:lnSpc>
              <a:buNone/>
            </a:pPr>
            <a:r>
              <a:rPr lang="en-US" sz="703" dirty="0">
                <a:solidFill>
                  <a:srgbClr val="0F172A"/>
                </a:solidFill>
                <a:latin typeface="Carlito" pitchFamily="34" charset="0"/>
                <a:ea typeface="Carlito" pitchFamily="34" charset="-122"/>
                <a:cs typeface="Carlito" pitchFamily="34" charset="-120"/>
              </a:rPr>
              <a:t>Pure-Python ONNX OCR Engine</a:t>
            </a:r>
            <a:pPr algn="l" indent="0" marL="0">
              <a:lnSpc>
                <a:spcPts val="1055"/>
              </a:lnSpc>
              <a:buNone/>
            </a:pPr>
            <a:r>
              <a:rPr lang="en-US" sz="703" dirty="0">
                <a:solidFill>
                  <a:srgbClr val="475569"/>
                </a:solidFill>
                <a:latin typeface="Liberation Sans Narrow" pitchFamily="34" charset="0"/>
                <a:ea typeface="Liberation Sans Narrow" pitchFamily="34" charset="-122"/>
                <a:cs typeface="Liberation Sans Narrow" pitchFamily="34" charset="-120"/>
              </a:rPr>
              <a:t> — rapidocr-onnxruntime + pypdfium2</a:t>
            </a:r>
            <a:endParaRPr lang="en-US" sz="703" dirty="0"/>
          </a:p>
        </p:txBody>
      </p:sp>
      <p:sp>
        <p:nvSpPr>
          <p:cNvPr id="25" name="Shape 19"/>
          <p:cNvSpPr/>
          <p:nvPr/>
        </p:nvSpPr>
        <p:spPr>
          <a:xfrm>
            <a:off x="550069" y="2791420"/>
            <a:ext cx="3421856" cy="0"/>
          </a:xfrm>
          <a:prstGeom prst="line">
            <a:avLst/>
          </a:prstGeom>
          <a:noFill/>
          <a:ln w="7144">
            <a:solidFill>
              <a:srgbClr val="0F172A"/>
            </a:solidFill>
            <a:prstDash val="dash"/>
          </a:ln>
        </p:spPr>
      </p:sp>
      <p:sp>
        <p:nvSpPr>
          <p:cNvPr id="26" name="Text 20"/>
          <p:cNvSpPr/>
          <p:nvPr/>
        </p:nvSpPr>
        <p:spPr>
          <a:xfrm>
            <a:off x="553641" y="2855714"/>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7" name="Text 21"/>
          <p:cNvSpPr/>
          <p:nvPr/>
        </p:nvSpPr>
        <p:spPr>
          <a:xfrm>
            <a:off x="550069" y="2852142"/>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3</a:t>
            </a:r>
            <a:endParaRPr lang="en-US" sz="800" dirty="0"/>
          </a:p>
        </p:txBody>
      </p:sp>
      <p:sp>
        <p:nvSpPr>
          <p:cNvPr id="28" name="Text 22"/>
          <p:cNvSpPr/>
          <p:nvPr/>
        </p:nvSpPr>
        <p:spPr>
          <a:xfrm>
            <a:off x="785813" y="2852142"/>
            <a:ext cx="3186113" cy="267891"/>
          </a:xfrm>
          <a:prstGeom prst="rect">
            <a:avLst/>
          </a:prstGeom>
          <a:noFill/>
          <a:ln/>
        </p:spPr>
        <p:txBody>
          <a:bodyPr wrap="square" lIns="0" tIns="0" rIns="0" bIns="0" rtlCol="0" anchor="t"/>
          <a:lstStyle/>
          <a:p>
            <a:pPr algn="l" indent="0" marL="0">
              <a:lnSpc>
                <a:spcPts val="1055"/>
              </a:lnSpc>
              <a:buNone/>
            </a:pPr>
            <a:r>
              <a:rPr lang="en-US" sz="800" dirty="0">
                <a:solidFill>
                  <a:srgbClr val="0F172A"/>
                </a:solidFill>
                <a:latin typeface="Carlito" pitchFamily="34" charset="0"/>
                <a:ea typeface="Carlito" pitchFamily="34" charset="-122"/>
                <a:cs typeface="Carlito" pitchFamily="34" charset="-120"/>
              </a:rPr>
              <a:t>Recursive chunking</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 — 500 chars / 100 overlap, unique chunk UUIDs + MD5 checksum tracking</a:t>
            </a:r>
            <a:endParaRPr lang="en-US" sz="800" dirty="0"/>
          </a:p>
        </p:txBody>
      </p:sp>
      <p:sp>
        <p:nvSpPr>
          <p:cNvPr id="29" name="Shape 23"/>
          <p:cNvSpPr/>
          <p:nvPr/>
        </p:nvSpPr>
        <p:spPr>
          <a:xfrm>
            <a:off x="550069" y="3180755"/>
            <a:ext cx="3421856" cy="0"/>
          </a:xfrm>
          <a:prstGeom prst="line">
            <a:avLst/>
          </a:prstGeom>
          <a:noFill/>
          <a:ln w="7144">
            <a:solidFill>
              <a:srgbClr val="0F172A"/>
            </a:solidFill>
            <a:prstDash val="dash"/>
          </a:ln>
        </p:spPr>
      </p:sp>
      <p:sp>
        <p:nvSpPr>
          <p:cNvPr id="30" name="Text 24"/>
          <p:cNvSpPr/>
          <p:nvPr/>
        </p:nvSpPr>
        <p:spPr>
          <a:xfrm>
            <a:off x="553641" y="3245048"/>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31" name="Text 25"/>
          <p:cNvSpPr/>
          <p:nvPr/>
        </p:nvSpPr>
        <p:spPr>
          <a:xfrm>
            <a:off x="550069" y="3241477"/>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4</a:t>
            </a:r>
            <a:endParaRPr lang="en-US" sz="800" dirty="0"/>
          </a:p>
        </p:txBody>
      </p:sp>
      <p:sp>
        <p:nvSpPr>
          <p:cNvPr id="32" name="Text 26"/>
          <p:cNvSpPr/>
          <p:nvPr/>
        </p:nvSpPr>
        <p:spPr>
          <a:xfrm>
            <a:off x="785813" y="3241477"/>
            <a:ext cx="3186113" cy="157163"/>
          </a:xfrm>
          <a:prstGeom prst="rect">
            <a:avLst/>
          </a:prstGeom>
          <a:noFill/>
          <a:ln/>
        </p:spPr>
        <p:txBody>
          <a:bodyPr wrap="square" lIns="0" tIns="0" rIns="0" bIns="0" rtlCol="0" anchor="t"/>
          <a:lstStyle/>
          <a:p>
            <a:pPr algn="l" indent="0" marL="0">
              <a:lnSpc>
                <a:spcPts val="1055"/>
              </a:lnSpc>
              <a:buNone/>
            </a:pPr>
            <a:r>
              <a:rPr lang="en-US" sz="703" dirty="0">
                <a:solidFill>
                  <a:srgbClr val="0F172A"/>
                </a:solidFill>
                <a:latin typeface="Carlito" pitchFamily="34" charset="0"/>
                <a:ea typeface="Carlito" pitchFamily="34" charset="-122"/>
                <a:cs typeface="Carlito" pitchFamily="34" charset="-120"/>
              </a:rPr>
              <a:t>Dual Indexing</a:t>
            </a:r>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 — Dense FAISS vector store + Sparse BM25Okapi lexical store</a:t>
            </a:r>
            <a:endParaRPr lang="en-US" sz="703" dirty="0"/>
          </a:p>
        </p:txBody>
      </p:sp>
      <p:pic>
        <p:nvPicPr>
          <p:cNvPr id="33" name="Image 4" descr="preencoded.png">    </p:cNvPr>
          <p:cNvPicPr>
            <a:picLocks noChangeAspect="1"/>
          </p:cNvPicPr>
          <p:nvPr/>
        </p:nvPicPr>
        <p:blipFill>
          <a:blip r:embed="rId5"/>
          <a:stretch>
            <a:fillRect/>
          </a:stretch>
        </p:blipFill>
        <p:spPr>
          <a:xfrm>
            <a:off x="4568428" y="1076474"/>
            <a:ext cx="7144" cy="1154720"/>
          </a:xfrm>
          <a:prstGeom prst="rect">
            <a:avLst/>
          </a:prstGeom>
        </p:spPr>
      </p:pic>
      <p:sp>
        <p:nvSpPr>
          <p:cNvPr id="34" name="Text 27"/>
          <p:cNvSpPr/>
          <p:nvPr/>
        </p:nvSpPr>
        <p:spPr>
          <a:xfrm>
            <a:off x="4375547" y="2320491"/>
            <a:ext cx="392906" cy="392906"/>
          </a:xfrm>
          <a:prstGeom prst="ellipse">
            <a:avLst/>
          </a:prstGeom>
          <a:solidFill>
            <a:srgbClr val="FFFFFF"/>
          </a:solidFill>
          <a:ln w="7144">
            <a:solidFill>
              <a:srgbClr val="0E7490"/>
            </a:solidFill>
            <a:prstDash val="solid"/>
          </a:ln>
          <a:effectLst>
            <a:outerShdw sx="100000" sy="100000" kx="0" ky="0" algn="bl" rotWithShape="0" blurRad="228600" dist="50800" dir="16200000">
              <a:srgbClr val="06B6D4">
                <a:alpha val="35000"/>
              </a:srgbClr>
            </a:outerShdw>
          </a:effectLst>
        </p:spPr>
        <p:txBody>
          <a:bodyPr wrap="square" rtlCol="0" anchor="ctr"/>
          <a:lstStyle/>
          <a:p>
            <a:pPr indent="0" marL="0">
              <a:buNone/>
            </a:pPr>
            <a:endParaRPr lang="en-US" dirty="0"/>
          </a:p>
        </p:txBody>
      </p:sp>
      <p:sp>
        <p:nvSpPr>
          <p:cNvPr id="35" name="Text 28"/>
          <p:cNvSpPr/>
          <p:nvPr/>
        </p:nvSpPr>
        <p:spPr>
          <a:xfrm>
            <a:off x="4426982" y="2371926"/>
            <a:ext cx="290036" cy="290036"/>
          </a:xfrm>
          <a:prstGeom prst="rect">
            <a:avLst/>
          </a:prstGeom>
          <a:noFill/>
          <a:ln/>
        </p:spPr>
        <p:txBody>
          <a:bodyPr wrap="none" lIns="0" tIns="0" rIns="0" bIns="0" rtlCol="0" anchor="ctr"/>
          <a:lstStyle/>
          <a:p>
            <a:pPr algn="ctr" indent="0" marL="0">
              <a:buNone/>
            </a:pPr>
            <a:r>
              <a:rPr lang="en-US" sz="1969" dirty="0">
                <a:solidFill>
                  <a:srgbClr val="0E7490"/>
                </a:solidFill>
                <a:latin typeface="Segoe UI Symbol" pitchFamily="34" charset="0"/>
                <a:ea typeface="Segoe UI Symbol" pitchFamily="34" charset="-122"/>
                <a:cs typeface="Segoe UI Symbol" pitchFamily="34" charset="-120"/>
              </a:rPr>
              <a:t>→</a:t>
            </a:r>
            <a:endParaRPr lang="en-US" sz="1969" dirty="0"/>
          </a:p>
        </p:txBody>
      </p:sp>
      <p:sp>
        <p:nvSpPr>
          <p:cNvPr id="36" name="Text 29"/>
          <p:cNvSpPr/>
          <p:nvPr/>
        </p:nvSpPr>
        <p:spPr>
          <a:xfrm>
            <a:off x="4310695" y="2802694"/>
            <a:ext cx="682316" cy="170006"/>
          </a:xfrm>
          <a:prstGeom prst="rect">
            <a:avLst/>
          </a:prstGeom>
          <a:noFill/>
          <a:ln/>
        </p:spPr>
        <p:txBody>
          <a:bodyPr wrap="none" lIns="0" tIns="0" rIns="0" bIns="0" rtlCol="0" anchor="t"/>
          <a:lstStyle/>
          <a:p>
            <a:pPr algn="l" indent="0" marL="0">
              <a:lnSpc>
                <a:spcPts val="828"/>
              </a:lnSpc>
              <a:buNone/>
            </a:pPr>
            <a:r>
              <a:rPr lang="en-US" sz="600" spc="107" kern="0" dirty="0">
                <a:solidFill>
                  <a:srgbClr val="0E7490"/>
                </a:solidFill>
                <a:latin typeface="Courier New" pitchFamily="34" charset="0"/>
                <a:ea typeface="Courier New" pitchFamily="34" charset="-122"/>
                <a:cs typeface="Courier New" pitchFamily="34" charset="-120"/>
              </a:rPr>
              <a:t>INDEX READY</a:t>
            </a:r>
            <a:endParaRPr lang="en-US" sz="600" dirty="0"/>
          </a:p>
        </p:txBody>
      </p:sp>
      <p:pic>
        <p:nvPicPr>
          <p:cNvPr id="37" name="Image 5" descr="preencoded.png">    </p:cNvPr>
          <p:cNvPicPr>
            <a:picLocks noChangeAspect="1"/>
          </p:cNvPicPr>
          <p:nvPr/>
        </p:nvPicPr>
        <p:blipFill>
          <a:blip r:embed="rId6"/>
          <a:stretch>
            <a:fillRect/>
          </a:stretch>
        </p:blipFill>
        <p:spPr>
          <a:xfrm>
            <a:off x="4568428" y="2993566"/>
            <a:ext cx="7144" cy="1154720"/>
          </a:xfrm>
          <a:prstGeom prst="rect">
            <a:avLst/>
          </a:prstGeom>
        </p:spPr>
      </p:pic>
      <p:pic>
        <p:nvPicPr>
          <p:cNvPr id="38" name="Image 6" descr="preencoded.png">    </p:cNvPr>
          <p:cNvPicPr>
            <a:picLocks noChangeAspect="1"/>
          </p:cNvPicPr>
          <p:nvPr/>
        </p:nvPicPr>
        <p:blipFill>
          <a:blip r:embed="rId7"/>
          <a:stretch>
            <a:fillRect/>
          </a:stretch>
        </p:blipFill>
        <p:spPr>
          <a:xfrm>
            <a:off x="5022056" y="1076474"/>
            <a:ext cx="3721894" cy="3071813"/>
          </a:xfrm>
          <a:prstGeom prst="rect">
            <a:avLst/>
          </a:prstGeom>
        </p:spPr>
      </p:pic>
      <p:sp>
        <p:nvSpPr>
          <p:cNvPr id="39" name="Text 30"/>
          <p:cNvSpPr/>
          <p:nvPr/>
        </p:nvSpPr>
        <p:spPr>
          <a:xfrm>
            <a:off x="5025628" y="1080046"/>
            <a:ext cx="3714750" cy="3064669"/>
          </a:xfrm>
          <a:prstGeom prst="roundRect">
            <a:avLst>
              <a:gd name="adj" fmla="val 4351"/>
            </a:avLst>
          </a:prstGeom>
          <a:noFill/>
          <a:ln w="7144">
            <a:solidFill>
              <a:srgbClr val="0E7490"/>
            </a:solidFill>
            <a:prstDash val="solid"/>
          </a:ln>
          <a:effectLst>
            <a:outerShdw sx="100000" sy="100000" kx="0" ky="0" algn="bl" rotWithShape="0" blurRad="266700" dist="57150" dir="5400000">
              <a:srgbClr val="06B6D4">
                <a:alpha val="6000"/>
              </a:srgbClr>
            </a:outerShdw>
          </a:effectLst>
        </p:spPr>
        <p:txBody>
          <a:bodyPr wrap="square" rtlCol="0" anchor="ctr"/>
          <a:lstStyle/>
          <a:p>
            <a:pPr indent="0" marL="0">
              <a:buNone/>
            </a:pPr>
            <a:endParaRPr lang="en-US" dirty="0"/>
          </a:p>
        </p:txBody>
      </p:sp>
      <p:sp>
        <p:nvSpPr>
          <p:cNvPr id="40" name="Text 31"/>
          <p:cNvSpPr/>
          <p:nvPr/>
        </p:nvSpPr>
        <p:spPr>
          <a:xfrm>
            <a:off x="5149215" y="1295930"/>
            <a:ext cx="1151550"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1" name="Text 32"/>
          <p:cNvSpPr/>
          <p:nvPr/>
        </p:nvSpPr>
        <p:spPr>
          <a:xfrm>
            <a:off x="5250656" y="1380083"/>
            <a:ext cx="35719" cy="35719"/>
          </a:xfrm>
          <a:prstGeom prst="roundRect">
            <a:avLst>
              <a:gd name="adj" fmla="val 66666"/>
            </a:avLst>
          </a:prstGeom>
          <a:solidFill>
            <a:srgbClr val="0E7490"/>
          </a:solidFill>
          <a:ln/>
        </p:spPr>
        <p:txBody>
          <a:bodyPr wrap="square" rtlCol="0" anchor="ctr"/>
          <a:lstStyle/>
          <a:p>
            <a:pPr indent="0" marL="0">
              <a:buNone/>
            </a:pPr>
            <a:endParaRPr lang="en-US" dirty="0"/>
          </a:p>
        </p:txBody>
      </p:sp>
      <p:sp>
        <p:nvSpPr>
          <p:cNvPr id="42" name="Text 33"/>
          <p:cNvSpPr/>
          <p:nvPr/>
        </p:nvSpPr>
        <p:spPr>
          <a:xfrm>
            <a:off x="5172075" y="1306860"/>
            <a:ext cx="1105830"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 STAGE 2 · ONLINE</a:t>
            </a:r>
            <a:endParaRPr lang="en-US" sz="800" dirty="0"/>
          </a:p>
        </p:txBody>
      </p:sp>
      <p:sp>
        <p:nvSpPr>
          <p:cNvPr id="43" name="Text 34"/>
          <p:cNvSpPr/>
          <p:nvPr/>
        </p:nvSpPr>
        <p:spPr>
          <a:xfrm>
            <a:off x="8226028" y="1215777"/>
            <a:ext cx="364331" cy="364331"/>
          </a:xfrm>
          <a:prstGeom prst="roundRect">
            <a:avLst>
              <a:gd name="adj" fmla="val 31373"/>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44" name="Text 35"/>
          <p:cNvSpPr/>
          <p:nvPr/>
        </p:nvSpPr>
        <p:spPr>
          <a:xfrm>
            <a:off x="8263176" y="1252924"/>
            <a:ext cx="290036" cy="290036"/>
          </a:xfrm>
          <a:prstGeom prst="rect">
            <a:avLst/>
          </a:prstGeom>
          <a:noFill/>
          <a:ln/>
        </p:spPr>
        <p:txBody>
          <a:bodyPr wrap="none" lIns="0" tIns="0" rIns="0" bIns="0" rtlCol="0" anchor="ctr"/>
          <a:lstStyle/>
          <a:p>
            <a:pPr algn="ctr" indent="0" marL="0">
              <a:buNone/>
            </a:pPr>
            <a:r>
              <a:rPr lang="en-US" sz="1969" dirty="0">
                <a:solidFill>
                  <a:srgbClr val="0E7490"/>
                </a:solidFill>
                <a:latin typeface="Segoe UI Symbol" pitchFamily="34" charset="0"/>
                <a:ea typeface="Segoe UI Symbol" pitchFamily="34" charset="-122"/>
                <a:cs typeface="Segoe UI Symbol" pitchFamily="34" charset="-120"/>
              </a:rPr>
              <a:t>⚡</a:t>
            </a:r>
            <a:endParaRPr lang="en-US" sz="1969" dirty="0"/>
          </a:p>
        </p:txBody>
      </p:sp>
      <p:sp>
        <p:nvSpPr>
          <p:cNvPr id="45" name="Text 36"/>
          <p:cNvSpPr/>
          <p:nvPr/>
        </p:nvSpPr>
        <p:spPr>
          <a:xfrm>
            <a:off x="5172075" y="1683693"/>
            <a:ext cx="3531584" cy="152948"/>
          </a:xfrm>
          <a:prstGeom prst="rect">
            <a:avLst/>
          </a:prstGeom>
          <a:noFill/>
          <a:ln/>
        </p:spPr>
        <p:txBody>
          <a:bodyPr wrap="square" lIns="0" tIns="0" rIns="0" bIns="0" rtlCol="0" anchor="t">
            <a:normAutofit/>
          </a:bodyPr>
          <a:lstStyle/>
          <a:p>
            <a:pPr algn="l" indent="0" marL="0">
              <a:lnSpc>
                <a:spcPts val="1195"/>
              </a:lnSpc>
              <a:buNone/>
            </a:pPr>
            <a:r>
              <a:rPr lang="en-US" sz="956" spc="-5" kern="0" dirty="0">
                <a:solidFill>
                  <a:srgbClr val="0F172A"/>
                </a:solidFill>
                <a:latin typeface="Carlito" pitchFamily="34" charset="0"/>
                <a:ea typeface="Carlito" pitchFamily="34" charset="-122"/>
                <a:cs typeface="Carlito" pitchFamily="34" charset="-120"/>
              </a:rPr>
              <a:t>Query &amp; Hybrid Inference App</a:t>
            </a:r>
            <a:endParaRPr lang="en-US" sz="956" dirty="0"/>
          </a:p>
        </p:txBody>
      </p:sp>
      <p:sp>
        <p:nvSpPr>
          <p:cNvPr id="46" name="Text 37"/>
          <p:cNvSpPr/>
          <p:nvPr/>
        </p:nvSpPr>
        <p:spPr>
          <a:xfrm>
            <a:off x="5172075" y="1864072"/>
            <a:ext cx="3421856" cy="169959"/>
          </a:xfrm>
          <a:prstGeom prst="rect">
            <a:avLst/>
          </a:prstGeom>
          <a:noFill/>
          <a:ln/>
        </p:spPr>
        <p:txBody>
          <a:bodyPr wrap="none" lIns="0" tIns="0" rIns="0" bIns="0" rtlCol="0" anchor="t"/>
          <a:lstStyle/>
          <a:p>
            <a:pPr algn="l" indent="0" marL="0">
              <a:lnSpc>
                <a:spcPts val="1003"/>
              </a:lnSpc>
              <a:buNone/>
            </a:pPr>
            <a:r>
              <a:rPr lang="en-US" sz="800" spc="13" kern="0" dirty="0">
                <a:solidFill>
                  <a:srgbClr val="0E7490"/>
                </a:solidFill>
                <a:latin typeface="Courier New" pitchFamily="34" charset="0"/>
                <a:ea typeface="Courier New" pitchFamily="34" charset="-122"/>
                <a:cs typeface="Courier New" pitchFamily="34" charset="-120"/>
              </a:rPr>
              <a:t>app.py</a:t>
            </a:r>
            <a:endParaRPr lang="en-US" sz="800" dirty="0"/>
          </a:p>
        </p:txBody>
      </p:sp>
      <p:pic>
        <p:nvPicPr>
          <p:cNvPr id="47" name="Image 7" descr="preencoded.png">    </p:cNvPr>
          <p:cNvPicPr>
            <a:picLocks noChangeAspect="1"/>
          </p:cNvPicPr>
          <p:nvPr/>
        </p:nvPicPr>
        <p:blipFill>
          <a:blip r:embed="rId8"/>
          <a:stretch>
            <a:fillRect/>
          </a:stretch>
        </p:blipFill>
        <p:spPr>
          <a:xfrm>
            <a:off x="5172075" y="2091333"/>
            <a:ext cx="3421856" cy="7144"/>
          </a:xfrm>
          <a:prstGeom prst="rect">
            <a:avLst/>
          </a:prstGeom>
        </p:spPr>
      </p:pic>
      <p:sp>
        <p:nvSpPr>
          <p:cNvPr id="48" name="Text 38"/>
          <p:cNvSpPr/>
          <p:nvPr/>
        </p:nvSpPr>
        <p:spPr>
          <a:xfrm>
            <a:off x="5175647" y="2187773"/>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9" name="Text 39"/>
          <p:cNvSpPr/>
          <p:nvPr/>
        </p:nvSpPr>
        <p:spPr>
          <a:xfrm>
            <a:off x="5172075" y="2184202"/>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1</a:t>
            </a:r>
            <a:endParaRPr lang="en-US" sz="800" dirty="0"/>
          </a:p>
        </p:txBody>
      </p:sp>
      <p:sp>
        <p:nvSpPr>
          <p:cNvPr id="50" name="Text 40"/>
          <p:cNvSpPr/>
          <p:nvPr/>
        </p:nvSpPr>
        <p:spPr>
          <a:xfrm>
            <a:off x="5407819" y="2184202"/>
            <a:ext cx="3186113" cy="164592"/>
          </a:xfrm>
          <a:prstGeom prst="rect">
            <a:avLst/>
          </a:prstGeom>
          <a:noFill/>
          <a:ln/>
        </p:spPr>
        <p:txBody>
          <a:bodyPr wrap="square" lIns="0" tIns="0" rIns="0" bIns="0" rtlCol="0" anchor="t"/>
          <a:lstStyle/>
          <a:p>
            <a:pPr algn="l" indent="0" marL="0">
              <a:lnSpc>
                <a:spcPts val="1055"/>
              </a:lnSpc>
              <a:buNone/>
            </a:pPr>
            <a:r>
              <a:rPr lang="en-US" sz="800" dirty="0">
                <a:solidFill>
                  <a:srgbClr val="0F172A"/>
                </a:solidFill>
                <a:latin typeface="Carlito" pitchFamily="34" charset="0"/>
                <a:ea typeface="Carlito" pitchFamily="34" charset="-122"/>
                <a:cs typeface="Carlito" pitchFamily="34" charset="-120"/>
              </a:rPr>
              <a:t>Role-based bcrypt authentication</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 gatekeeper</a:t>
            </a:r>
            <a:endParaRPr lang="en-US" sz="800" dirty="0"/>
          </a:p>
        </p:txBody>
      </p:sp>
      <p:sp>
        <p:nvSpPr>
          <p:cNvPr id="51" name="Shape 41"/>
          <p:cNvSpPr/>
          <p:nvPr/>
        </p:nvSpPr>
        <p:spPr>
          <a:xfrm>
            <a:off x="5172075" y="2402086"/>
            <a:ext cx="3421856" cy="0"/>
          </a:xfrm>
          <a:prstGeom prst="line">
            <a:avLst/>
          </a:prstGeom>
          <a:noFill/>
          <a:ln w="7144">
            <a:solidFill>
              <a:srgbClr val="0F172A"/>
            </a:solidFill>
            <a:prstDash val="dash"/>
          </a:ln>
        </p:spPr>
      </p:sp>
      <p:sp>
        <p:nvSpPr>
          <p:cNvPr id="52" name="Text 42"/>
          <p:cNvSpPr/>
          <p:nvPr/>
        </p:nvSpPr>
        <p:spPr>
          <a:xfrm>
            <a:off x="5175647" y="2466380"/>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3" name="Text 43"/>
          <p:cNvSpPr/>
          <p:nvPr/>
        </p:nvSpPr>
        <p:spPr>
          <a:xfrm>
            <a:off x="5172075" y="2462808"/>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2</a:t>
            </a:r>
            <a:endParaRPr lang="en-US" sz="800" dirty="0"/>
          </a:p>
        </p:txBody>
      </p:sp>
      <p:sp>
        <p:nvSpPr>
          <p:cNvPr id="54" name="Text 44"/>
          <p:cNvSpPr/>
          <p:nvPr/>
        </p:nvSpPr>
        <p:spPr>
          <a:xfrm>
            <a:off x="5407819" y="2462808"/>
            <a:ext cx="3186113" cy="157163"/>
          </a:xfrm>
          <a:prstGeom prst="rect">
            <a:avLst/>
          </a:prstGeom>
          <a:noFill/>
          <a:ln/>
        </p:spPr>
        <p:txBody>
          <a:bodyPr wrap="square" lIns="0" tIns="0" rIns="0" bIns="0" rtlCol="0" anchor="t"/>
          <a:lstStyle/>
          <a:p>
            <a:pPr algn="l" indent="0" marL="0">
              <a:lnSpc>
                <a:spcPts val="1055"/>
              </a:lnSpc>
              <a:buNone/>
            </a:pPr>
            <a:r>
              <a:rPr lang="en-US" sz="703" dirty="0">
                <a:solidFill>
                  <a:srgbClr val="0F172A"/>
                </a:solidFill>
                <a:latin typeface="Carlito" pitchFamily="34" charset="0"/>
                <a:ea typeface="Carlito" pitchFamily="34" charset="-122"/>
                <a:cs typeface="Carlito" pitchFamily="34" charset="-120"/>
              </a:rPr>
              <a:t>Conversational memory reformulation</a:t>
            </a:r>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 for multi-turn dialogues</a:t>
            </a:r>
            <a:endParaRPr lang="en-US" sz="703" dirty="0"/>
          </a:p>
        </p:txBody>
      </p:sp>
      <p:sp>
        <p:nvSpPr>
          <p:cNvPr id="55" name="Shape 45"/>
          <p:cNvSpPr/>
          <p:nvPr/>
        </p:nvSpPr>
        <p:spPr>
          <a:xfrm>
            <a:off x="5172075" y="2680692"/>
            <a:ext cx="3421856" cy="0"/>
          </a:xfrm>
          <a:prstGeom prst="line">
            <a:avLst/>
          </a:prstGeom>
          <a:noFill/>
          <a:ln w="7144">
            <a:solidFill>
              <a:srgbClr val="0F172A"/>
            </a:solidFill>
            <a:prstDash val="dash"/>
          </a:ln>
        </p:spPr>
      </p:sp>
      <p:sp>
        <p:nvSpPr>
          <p:cNvPr id="56" name="Text 46"/>
          <p:cNvSpPr/>
          <p:nvPr/>
        </p:nvSpPr>
        <p:spPr>
          <a:xfrm>
            <a:off x="5175647" y="2744986"/>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7" name="Text 47"/>
          <p:cNvSpPr/>
          <p:nvPr/>
        </p:nvSpPr>
        <p:spPr>
          <a:xfrm>
            <a:off x="5172075" y="2741414"/>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3</a:t>
            </a:r>
            <a:endParaRPr lang="en-US" sz="800" dirty="0"/>
          </a:p>
        </p:txBody>
      </p:sp>
      <p:sp>
        <p:nvSpPr>
          <p:cNvPr id="58" name="Text 48"/>
          <p:cNvSpPr/>
          <p:nvPr/>
        </p:nvSpPr>
        <p:spPr>
          <a:xfrm>
            <a:off x="5407819" y="2741414"/>
            <a:ext cx="3186113" cy="157163"/>
          </a:xfrm>
          <a:prstGeom prst="rect">
            <a:avLst/>
          </a:prstGeom>
          <a:noFill/>
          <a:ln/>
        </p:spPr>
        <p:txBody>
          <a:bodyPr wrap="square" lIns="0" tIns="0" rIns="0" bIns="0" rtlCol="0" anchor="t"/>
          <a:lstStyle/>
          <a:p>
            <a:pPr algn="l" indent="0" marL="0">
              <a:lnSpc>
                <a:spcPts val="1055"/>
              </a:lnSpc>
              <a:buNone/>
            </a:pPr>
            <a:r>
              <a:rPr lang="en-US" sz="800" dirty="0">
                <a:solidFill>
                  <a:srgbClr val="0F172A"/>
                </a:solidFill>
                <a:latin typeface="Carlito" pitchFamily="34" charset="0"/>
                <a:ea typeface="Carlito" pitchFamily="34" charset="-122"/>
                <a:cs typeface="Carlito" pitchFamily="34" charset="-120"/>
              </a:rPr>
              <a:t>Hybrid Retrieval</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 via Reciprocal Rank Fusion (RRF)</a:t>
            </a:r>
            <a:endParaRPr lang="en-US" sz="800" dirty="0"/>
          </a:p>
        </p:txBody>
      </p:sp>
      <p:sp>
        <p:nvSpPr>
          <p:cNvPr id="59" name="Shape 49"/>
          <p:cNvSpPr/>
          <p:nvPr/>
        </p:nvSpPr>
        <p:spPr>
          <a:xfrm>
            <a:off x="5172075" y="2959298"/>
            <a:ext cx="3421856" cy="0"/>
          </a:xfrm>
          <a:prstGeom prst="line">
            <a:avLst/>
          </a:prstGeom>
          <a:noFill/>
          <a:ln w="7144">
            <a:solidFill>
              <a:srgbClr val="0F172A"/>
            </a:solidFill>
            <a:prstDash val="dash"/>
          </a:ln>
        </p:spPr>
      </p:sp>
      <p:sp>
        <p:nvSpPr>
          <p:cNvPr id="60" name="Text 50"/>
          <p:cNvSpPr/>
          <p:nvPr/>
        </p:nvSpPr>
        <p:spPr>
          <a:xfrm>
            <a:off x="5175647" y="3023592"/>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1" name="Text 51"/>
          <p:cNvSpPr/>
          <p:nvPr/>
        </p:nvSpPr>
        <p:spPr>
          <a:xfrm>
            <a:off x="5172075" y="3020020"/>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4</a:t>
            </a:r>
            <a:endParaRPr lang="en-US" sz="800" dirty="0"/>
          </a:p>
        </p:txBody>
      </p:sp>
      <p:sp>
        <p:nvSpPr>
          <p:cNvPr id="62" name="Text 52"/>
          <p:cNvSpPr/>
          <p:nvPr/>
        </p:nvSpPr>
        <p:spPr>
          <a:xfrm>
            <a:off x="5407819" y="3020020"/>
            <a:ext cx="3186113" cy="157163"/>
          </a:xfrm>
          <a:prstGeom prst="rect">
            <a:avLst/>
          </a:prstGeom>
          <a:noFill/>
          <a:ln/>
        </p:spPr>
        <p:txBody>
          <a:bodyPr wrap="square" lIns="0" tIns="0" rIns="0" bIns="0" rtlCol="0" anchor="t"/>
          <a:lstStyle/>
          <a:p>
            <a:pPr algn="l" indent="0" marL="0">
              <a:lnSpc>
                <a:spcPts val="1055"/>
              </a:lnSpc>
              <a:buNone/>
            </a:pPr>
            <a:r>
              <a:rPr lang="en-US" sz="800" dirty="0">
                <a:solidFill>
                  <a:srgbClr val="0F172A"/>
                </a:solidFill>
                <a:latin typeface="Carlito" pitchFamily="34" charset="0"/>
                <a:ea typeface="Carlito" pitchFamily="34" charset="-122"/>
                <a:cs typeface="Carlito" pitchFamily="34" charset="-120"/>
              </a:rPr>
              <a:t>Cross-Encoder deep reranking</a:t>
            </a:r>
            <a:pPr algn="l" indent="0" marL="0">
              <a:lnSpc>
                <a:spcPts val="1055"/>
              </a:lnSpc>
              <a:buNone/>
            </a:pPr>
            <a:r>
              <a:rPr lang="en-US" sz="800" dirty="0">
                <a:solidFill>
                  <a:srgbClr val="475569"/>
                </a:solidFill>
                <a:latin typeface="Liberation Sans Narrow" pitchFamily="34" charset="0"/>
                <a:ea typeface="Liberation Sans Narrow" pitchFamily="34" charset="-122"/>
                <a:cs typeface="Liberation Sans Narrow" pitchFamily="34" charset="-120"/>
              </a:rPr>
              <a:t> — ms-marco-MiniLM-L-6-v2</a:t>
            </a:r>
            <a:endParaRPr lang="en-US" sz="800" dirty="0"/>
          </a:p>
        </p:txBody>
      </p:sp>
      <p:sp>
        <p:nvSpPr>
          <p:cNvPr id="63" name="Shape 53"/>
          <p:cNvSpPr/>
          <p:nvPr/>
        </p:nvSpPr>
        <p:spPr>
          <a:xfrm>
            <a:off x="5172075" y="3237905"/>
            <a:ext cx="3421856" cy="0"/>
          </a:xfrm>
          <a:prstGeom prst="line">
            <a:avLst/>
          </a:prstGeom>
          <a:noFill/>
          <a:ln w="7144">
            <a:solidFill>
              <a:srgbClr val="0F172A"/>
            </a:solidFill>
            <a:prstDash val="dash"/>
          </a:ln>
        </p:spPr>
      </p:sp>
      <p:sp>
        <p:nvSpPr>
          <p:cNvPr id="64" name="Text 54"/>
          <p:cNvSpPr/>
          <p:nvPr/>
        </p:nvSpPr>
        <p:spPr>
          <a:xfrm>
            <a:off x="5175647" y="3302198"/>
            <a:ext cx="150019" cy="150019"/>
          </a:xfrm>
          <a:prstGeom prst="ellipse">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5" name="Text 55"/>
          <p:cNvSpPr/>
          <p:nvPr/>
        </p:nvSpPr>
        <p:spPr>
          <a:xfrm>
            <a:off x="5172075" y="3298627"/>
            <a:ext cx="196453" cy="157163"/>
          </a:xfrm>
          <a:prstGeom prst="rect">
            <a:avLst/>
          </a:prstGeom>
          <a:noFill/>
          <a:ln/>
        </p:spPr>
        <p:txBody>
          <a:bodyPr wrap="none" lIns="0" tIns="0" rIns="0" bIns="0" rtlCol="0" anchor="ctr"/>
          <a:lstStyle/>
          <a:p>
            <a:pPr algn="ctr" indent="0" marL="0">
              <a:lnSpc>
                <a:spcPts val="872"/>
              </a:lnSpc>
              <a:buNone/>
            </a:pPr>
            <a:r>
              <a:rPr lang="en-US" sz="800" b="1" dirty="0">
                <a:solidFill>
                  <a:srgbClr val="0E7490"/>
                </a:solidFill>
                <a:latin typeface="Liberation Sans Narrow" pitchFamily="34" charset="0"/>
                <a:ea typeface="Liberation Sans Narrow" pitchFamily="34" charset="-122"/>
                <a:cs typeface="Liberation Sans Narrow" pitchFamily="34" charset="-120"/>
              </a:rPr>
              <a:t>5</a:t>
            </a:r>
            <a:endParaRPr lang="en-US" sz="800" dirty="0"/>
          </a:p>
        </p:txBody>
      </p:sp>
      <p:sp>
        <p:nvSpPr>
          <p:cNvPr id="66" name="Text 56"/>
          <p:cNvSpPr/>
          <p:nvPr/>
        </p:nvSpPr>
        <p:spPr>
          <a:xfrm>
            <a:off x="5407819" y="3298627"/>
            <a:ext cx="3186113" cy="157163"/>
          </a:xfrm>
          <a:prstGeom prst="rect">
            <a:avLst/>
          </a:prstGeom>
          <a:noFill/>
          <a:ln/>
        </p:spPr>
        <p:txBody>
          <a:bodyPr wrap="square" lIns="0" tIns="0" rIns="0" bIns="0" rtlCol="0" anchor="t"/>
          <a:lstStyle/>
          <a:p>
            <a:pPr algn="l" indent="0" marL="0">
              <a:lnSpc>
                <a:spcPts val="1055"/>
              </a:lnSpc>
              <a:buNone/>
            </a:pPr>
            <a:r>
              <a:rPr lang="en-US" sz="703" dirty="0">
                <a:solidFill>
                  <a:srgbClr val="0F172A"/>
                </a:solidFill>
                <a:latin typeface="Carlito" pitchFamily="34" charset="0"/>
                <a:ea typeface="Carlito" pitchFamily="34" charset="-122"/>
                <a:cs typeface="Carlito" pitchFamily="34" charset="-120"/>
              </a:rPr>
              <a:t>Context-grounded LLM inference</a:t>
            </a:r>
            <a:pPr algn="l" indent="0" marL="0">
              <a:lnSpc>
                <a:spcPts val="1055"/>
              </a:lnSpc>
              <a:buNone/>
            </a:pPr>
            <a:r>
              <a:rPr lang="en-US" sz="703" dirty="0">
                <a:solidFill>
                  <a:srgbClr val="475569"/>
                </a:solidFill>
                <a:latin typeface="Carlito" pitchFamily="34" charset="0"/>
                <a:ea typeface="Carlito" pitchFamily="34" charset="-122"/>
                <a:cs typeface="Carlito" pitchFamily="34" charset="-120"/>
              </a:rPr>
              <a:t> with verbatim document + page citations</a:t>
            </a:r>
            <a:endParaRPr lang="en-US" sz="703" dirty="0"/>
          </a:p>
        </p:txBody>
      </p:sp>
      <p:sp>
        <p:nvSpPr>
          <p:cNvPr id="67" name="Text 57"/>
          <p:cNvSpPr/>
          <p:nvPr/>
        </p:nvSpPr>
        <p:spPr>
          <a:xfrm>
            <a:off x="403622" y="4251871"/>
            <a:ext cx="8336756" cy="333524"/>
          </a:xfrm>
          <a:prstGeom prst="roundRect">
            <a:avLst>
              <a:gd name="adj" fmla="val 34270"/>
            </a:avLst>
          </a:prstGeom>
          <a:solidFill>
            <a:srgbClr val="FFFFFF"/>
          </a:solidFill>
          <a:ln w="7144">
            <a:solidFill>
              <a:srgbClr val="0F172A"/>
            </a:solidFill>
            <a:prstDash val="solid"/>
          </a:ln>
        </p:spPr>
        <p:txBody>
          <a:bodyPr wrap="square" rtlCol="0" anchor="ctr"/>
          <a:lstStyle/>
          <a:p>
            <a:pPr indent="0" marL="0">
              <a:buNone/>
            </a:pPr>
            <a:endParaRPr lang="en-US" dirty="0"/>
          </a:p>
        </p:txBody>
      </p:sp>
      <p:sp>
        <p:nvSpPr>
          <p:cNvPr id="68" name="Text 58"/>
          <p:cNvSpPr/>
          <p:nvPr/>
        </p:nvSpPr>
        <p:spPr>
          <a:xfrm>
            <a:off x="3321258" y="4367622"/>
            <a:ext cx="494731" cy="128476"/>
          </a:xfrm>
          <a:prstGeom prst="rect">
            <a:avLst/>
          </a:prstGeom>
          <a:noFill/>
          <a:ln/>
        </p:spPr>
        <p:txBody>
          <a:bodyPr wrap="none" lIns="0" tIns="0" rIns="0" bIns="0" rtlCol="0" anchor="t"/>
          <a:lstStyle/>
          <a:p>
            <a:pPr algn="l" indent="0" marL="0">
              <a:lnSpc>
                <a:spcPts val="915"/>
              </a:lnSpc>
              <a:buNone/>
            </a:pPr>
            <a:r>
              <a:rPr lang="en-US" sz="800" spc="71" kern="0" dirty="0">
                <a:solidFill>
                  <a:srgbClr val="475569"/>
                </a:solidFill>
                <a:latin typeface="Courier New" pitchFamily="34" charset="0"/>
                <a:ea typeface="Courier New" pitchFamily="34" charset="-122"/>
                <a:cs typeface="Courier New" pitchFamily="34" charset="-120"/>
              </a:rPr>
              <a:t>= BATCH</a:t>
            </a:r>
            <a:endParaRPr lang="en-US" sz="800" dirty="0"/>
          </a:p>
        </p:txBody>
      </p:sp>
      <p:sp>
        <p:nvSpPr>
          <p:cNvPr id="69" name="Text 59"/>
          <p:cNvSpPr/>
          <p:nvPr/>
        </p:nvSpPr>
        <p:spPr>
          <a:xfrm>
            <a:off x="2938649" y="4360478"/>
            <a:ext cx="708347" cy="135620"/>
          </a:xfrm>
          <a:prstGeom prst="rect">
            <a:avLst/>
          </a:prstGeom>
          <a:noFill/>
          <a:ln/>
        </p:spPr>
        <p:txBody>
          <a:bodyPr wrap="none" lIns="0" tIns="0" rIns="0" bIns="0" rtlCol="0" anchor="t"/>
          <a:lstStyle/>
          <a:p>
            <a:pPr algn="l" indent="0" marL="0">
              <a:lnSpc>
                <a:spcPts val="915"/>
              </a:lnSpc>
              <a:buNone/>
            </a:pPr>
            <a:r>
              <a:rPr lang="en-US" sz="800" spc="71" kern="0" dirty="0">
                <a:solidFill>
                  <a:srgbClr val="0E7490"/>
                </a:solidFill>
                <a:latin typeface="Courier New" pitchFamily="34" charset="0"/>
                <a:ea typeface="Courier New" pitchFamily="34" charset="-122"/>
                <a:cs typeface="Courier New" pitchFamily="34" charset="-120"/>
              </a:rPr>
              <a:t>OFFLINE</a:t>
            </a:r>
            <a:endParaRPr lang="en-US" sz="800" dirty="0"/>
          </a:p>
        </p:txBody>
      </p:sp>
      <p:sp>
        <p:nvSpPr>
          <p:cNvPr id="70" name="Text 60"/>
          <p:cNvSpPr/>
          <p:nvPr/>
        </p:nvSpPr>
        <p:spPr>
          <a:xfrm>
            <a:off x="3804158" y="4341168"/>
            <a:ext cx="102580" cy="154930"/>
          </a:xfrm>
          <a:prstGeom prst="rect">
            <a:avLst/>
          </a:prstGeom>
          <a:noFill/>
          <a:ln/>
        </p:spPr>
        <p:txBody>
          <a:bodyPr wrap="square" lIns="0" tIns="0" rIns="0" bIns="0" rtlCol="0" anchor="t"/>
          <a:lstStyle/>
          <a:p>
            <a:pPr algn="l" indent="0" marL="0">
              <a:lnSpc>
                <a:spcPts val="1221"/>
              </a:lnSpc>
              <a:buNone/>
            </a:pPr>
            <a:r>
              <a:rPr lang="en-US" sz="800" dirty="0">
                <a:solidFill>
                  <a:srgbClr val="0F172A"/>
                </a:solidFill>
                <a:latin typeface="Carlito" pitchFamily="34" charset="0"/>
                <a:ea typeface="Carlito" pitchFamily="34" charset="-122"/>
                <a:cs typeface="Carlito" pitchFamily="34" charset="-120"/>
              </a:rPr>
              <a:t>·</a:t>
            </a:r>
            <a:endParaRPr lang="en-US" sz="800" dirty="0"/>
          </a:p>
        </p:txBody>
      </p:sp>
      <p:sp>
        <p:nvSpPr>
          <p:cNvPr id="71" name="Text 61"/>
          <p:cNvSpPr/>
          <p:nvPr/>
        </p:nvSpPr>
        <p:spPr>
          <a:xfrm>
            <a:off x="4321522" y="4367622"/>
            <a:ext cx="747076" cy="128476"/>
          </a:xfrm>
          <a:prstGeom prst="rect">
            <a:avLst/>
          </a:prstGeom>
          <a:noFill/>
          <a:ln/>
        </p:spPr>
        <p:txBody>
          <a:bodyPr wrap="none" lIns="0" tIns="0" rIns="0" bIns="0" rtlCol="0" anchor="t"/>
          <a:lstStyle/>
          <a:p>
            <a:pPr algn="l" indent="0" marL="0">
              <a:lnSpc>
                <a:spcPts val="915"/>
              </a:lnSpc>
              <a:buNone/>
            </a:pPr>
            <a:r>
              <a:rPr lang="en-US" sz="600" spc="71" kern="0" dirty="0">
                <a:solidFill>
                  <a:srgbClr val="475569"/>
                </a:solidFill>
                <a:latin typeface="Courier New" pitchFamily="34" charset="0"/>
                <a:ea typeface="Courier New" pitchFamily="34" charset="-122"/>
                <a:cs typeface="Courier New" pitchFamily="34" charset="-120"/>
              </a:rPr>
              <a:t>= SUB-SECOND</a:t>
            </a:r>
            <a:endParaRPr lang="en-US" sz="600" dirty="0"/>
          </a:p>
        </p:txBody>
      </p:sp>
      <p:sp>
        <p:nvSpPr>
          <p:cNvPr id="72" name="Text 62"/>
          <p:cNvSpPr/>
          <p:nvPr/>
        </p:nvSpPr>
        <p:spPr>
          <a:xfrm>
            <a:off x="3985320" y="4360478"/>
            <a:ext cx="894308" cy="135620"/>
          </a:xfrm>
          <a:prstGeom prst="rect">
            <a:avLst/>
          </a:prstGeom>
          <a:noFill/>
          <a:ln/>
        </p:spPr>
        <p:txBody>
          <a:bodyPr wrap="none" lIns="0" tIns="0" rIns="0" bIns="0" rtlCol="0" anchor="t"/>
          <a:lstStyle/>
          <a:p>
            <a:pPr algn="l" indent="0" marL="0">
              <a:lnSpc>
                <a:spcPts val="915"/>
              </a:lnSpc>
              <a:buNone/>
            </a:pPr>
            <a:r>
              <a:rPr lang="en-US" sz="800" spc="71" kern="0" dirty="0">
                <a:solidFill>
                  <a:srgbClr val="0E7490"/>
                </a:solidFill>
                <a:latin typeface="Courier New" pitchFamily="34" charset="0"/>
                <a:ea typeface="Courier New" pitchFamily="34" charset="-122"/>
                <a:cs typeface="Courier New" pitchFamily="34" charset="-120"/>
              </a:rPr>
              <a:t>ONLINE</a:t>
            </a:r>
            <a:endParaRPr lang="en-US" sz="800" dirty="0"/>
          </a:p>
        </p:txBody>
      </p:sp>
      <p:sp>
        <p:nvSpPr>
          <p:cNvPr id="73" name="Text 63"/>
          <p:cNvSpPr/>
          <p:nvPr/>
        </p:nvSpPr>
        <p:spPr>
          <a:xfrm>
            <a:off x="5036790" y="4341168"/>
            <a:ext cx="102580" cy="154930"/>
          </a:xfrm>
          <a:prstGeom prst="rect">
            <a:avLst/>
          </a:prstGeom>
          <a:noFill/>
          <a:ln/>
        </p:spPr>
        <p:txBody>
          <a:bodyPr wrap="square" lIns="0" tIns="0" rIns="0" bIns="0" rtlCol="0" anchor="t"/>
          <a:lstStyle/>
          <a:p>
            <a:pPr algn="l" indent="0" marL="0">
              <a:lnSpc>
                <a:spcPts val="1221"/>
              </a:lnSpc>
              <a:buNone/>
            </a:pPr>
            <a:r>
              <a:rPr lang="en-US" sz="800" dirty="0">
                <a:solidFill>
                  <a:srgbClr val="0F172A"/>
                </a:solidFill>
                <a:latin typeface="Carlito" pitchFamily="34" charset="0"/>
                <a:ea typeface="Carlito" pitchFamily="34" charset="-122"/>
                <a:cs typeface="Carlito" pitchFamily="34" charset="-120"/>
              </a:rPr>
              <a:t>·</a:t>
            </a:r>
            <a:endParaRPr lang="en-US" sz="800" dirty="0"/>
          </a:p>
        </p:txBody>
      </p:sp>
      <p:sp>
        <p:nvSpPr>
          <p:cNvPr id="74" name="Text 64"/>
          <p:cNvSpPr/>
          <p:nvPr/>
        </p:nvSpPr>
        <p:spPr>
          <a:xfrm>
            <a:off x="5833207" y="4367622"/>
            <a:ext cx="2775012" cy="128476"/>
          </a:xfrm>
          <a:prstGeom prst="rect">
            <a:avLst/>
          </a:prstGeom>
          <a:noFill/>
          <a:ln/>
        </p:spPr>
        <p:txBody>
          <a:bodyPr wrap="none" lIns="0" tIns="0" rIns="0" bIns="0" rtlCol="0" anchor="t"/>
          <a:lstStyle/>
          <a:p>
            <a:pPr algn="l" indent="0" marL="0">
              <a:lnSpc>
                <a:spcPts val="915"/>
              </a:lnSpc>
              <a:buNone/>
            </a:pPr>
            <a:r>
              <a:rPr lang="en-US" sz="800" spc="71" kern="0" dirty="0">
                <a:solidFill>
                  <a:srgbClr val="475569"/>
                </a:solidFill>
                <a:latin typeface="Courier New" pitchFamily="34" charset="0"/>
                <a:ea typeface="Courier New" pitchFamily="34" charset="-122"/>
                <a:cs typeface="Courier New" pitchFamily="34" charset="-120"/>
              </a:rPr>
              <a:t>COUPLING</a:t>
            </a:r>
            <a:endParaRPr lang="en-US" sz="800" dirty="0"/>
          </a:p>
        </p:txBody>
      </p:sp>
      <p:sp>
        <p:nvSpPr>
          <p:cNvPr id="75" name="Text 65"/>
          <p:cNvSpPr/>
          <p:nvPr/>
        </p:nvSpPr>
        <p:spPr>
          <a:xfrm>
            <a:off x="5217951" y="4360478"/>
            <a:ext cx="987400" cy="135620"/>
          </a:xfrm>
          <a:prstGeom prst="rect">
            <a:avLst/>
          </a:prstGeom>
          <a:noFill/>
          <a:ln/>
        </p:spPr>
        <p:txBody>
          <a:bodyPr wrap="none" lIns="0" tIns="0" rIns="0" bIns="0" rtlCol="0" anchor="t"/>
          <a:lstStyle/>
          <a:p>
            <a:pPr algn="l" indent="0" marL="0">
              <a:lnSpc>
                <a:spcPts val="915"/>
              </a:lnSpc>
              <a:buNone/>
            </a:pPr>
            <a:r>
              <a:rPr lang="en-US" sz="800" spc="71" kern="0" dirty="0">
                <a:solidFill>
                  <a:srgbClr val="0E7490"/>
                </a:solidFill>
                <a:latin typeface="Courier New" pitchFamily="34" charset="0"/>
                <a:ea typeface="Courier New" pitchFamily="34" charset="-122"/>
                <a:cs typeface="Courier New" pitchFamily="34" charset="-120"/>
              </a:rPr>
              <a:t>ZERO RUNTIME</a:t>
            </a:r>
            <a:endParaRPr lang="en-US" sz="800" dirty="0"/>
          </a:p>
        </p:txBody>
      </p:sp>
      <p:sp>
        <p:nvSpPr>
          <p:cNvPr id="76" name="Shape 66"/>
          <p:cNvSpPr/>
          <p:nvPr/>
        </p:nvSpPr>
        <p:spPr>
          <a:xfrm>
            <a:off x="400050" y="4829175"/>
            <a:ext cx="8343900" cy="0"/>
          </a:xfrm>
          <a:prstGeom prst="line">
            <a:avLst/>
          </a:prstGeom>
          <a:noFill/>
          <a:ln w="7144">
            <a:solidFill>
              <a:srgbClr val="0F172A"/>
            </a:solidFill>
            <a:prstDash val="solid"/>
          </a:ln>
        </p:spPr>
      </p:sp>
      <p:sp>
        <p:nvSpPr>
          <p:cNvPr id="77" name="Text 67"/>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78" name="Text 68"/>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04 / 18</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113724"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528061" y="157163"/>
            <a:ext cx="1457166"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04 / 16 · INGESTION &amp; OCR</a:t>
            </a:r>
            <a:endParaRPr lang="en-US" sz="600" dirty="0"/>
          </a:p>
        </p:txBody>
      </p:sp>
      <p:sp>
        <p:nvSpPr>
          <p:cNvPr id="6" name="Text 2"/>
          <p:cNvSpPr/>
          <p:nvPr/>
        </p:nvSpPr>
        <p:spPr>
          <a:xfrm>
            <a:off x="400050" y="557213"/>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MULTI-FORMAT INGESTION &amp; ROBUST OCR PIPELINE</a:t>
            </a:r>
            <a:endParaRPr lang="en-US" sz="800" dirty="0"/>
          </a:p>
        </p:txBody>
      </p:sp>
      <p:sp>
        <p:nvSpPr>
          <p:cNvPr id="7" name="Text 3"/>
          <p:cNvSpPr/>
          <p:nvPr/>
        </p:nvSpPr>
        <p:spPr>
          <a:xfrm>
            <a:off x="400050" y="725091"/>
            <a:ext cx="8636000" cy="240619"/>
          </a:xfrm>
          <a:prstGeom prst="rect">
            <a:avLst/>
          </a:prstGeom>
          <a:noFill/>
          <a:ln/>
        </p:spPr>
        <p:txBody>
          <a:bodyPr wrap="square" lIns="0" tIns="0" rIns="0" bIns="0" rtlCol="0" anchor="t"/>
          <a:lstStyle/>
          <a:p>
            <a:pPr algn="l" indent="0" marL="0">
              <a:lnSpc>
                <a:spcPts val="1755"/>
              </a:lnSpc>
              <a:buNone/>
            </a:pPr>
            <a:r>
              <a:rPr lang="en-US" sz="1463" spc="-15" kern="0" dirty="0">
                <a:solidFill>
                  <a:srgbClr val="0F172A"/>
                </a:solidFill>
                <a:latin typeface="Carlito" pitchFamily="34" charset="0"/>
                <a:ea typeface="Carlito" pitchFamily="34" charset="-122"/>
                <a:cs typeface="Carlito" pitchFamily="34" charset="-120"/>
              </a:rPr>
              <a:t>Zero-Dependency Document Processing at Scale</a:t>
            </a:r>
            <a:endParaRPr lang="en-US" sz="1463" dirty="0"/>
          </a:p>
        </p:txBody>
      </p:sp>
      <p:pic>
        <p:nvPicPr>
          <p:cNvPr id="8" name="Image 2" descr="preencoded.png">    </p:cNvPr>
          <p:cNvPicPr>
            <a:picLocks noChangeAspect="1"/>
          </p:cNvPicPr>
          <p:nvPr/>
        </p:nvPicPr>
        <p:blipFill>
          <a:blip r:embed="rId3"/>
          <a:stretch>
            <a:fillRect/>
          </a:stretch>
        </p:blipFill>
        <p:spPr>
          <a:xfrm>
            <a:off x="400050" y="1076474"/>
            <a:ext cx="2647876" cy="2071688"/>
          </a:xfrm>
          <a:prstGeom prst="rect">
            <a:avLst/>
          </a:prstGeom>
        </p:spPr>
      </p:pic>
      <p:sp>
        <p:nvSpPr>
          <p:cNvPr id="9" name="Text 4"/>
          <p:cNvSpPr/>
          <p:nvPr/>
        </p:nvSpPr>
        <p:spPr>
          <a:xfrm>
            <a:off x="403622" y="1080046"/>
            <a:ext cx="2640732" cy="2064544"/>
          </a:xfrm>
          <a:prstGeom prst="roundRect">
            <a:avLst>
              <a:gd name="adj" fmla="val 6459"/>
            </a:avLst>
          </a:prstGeom>
          <a:noFill/>
          <a:ln w="7144">
            <a:solidFill>
              <a:srgbClr val="0E7490"/>
            </a:solidFill>
            <a:prstDash val="solid"/>
          </a:ln>
          <a:effectLst>
            <a:outerShdw sx="100000" sy="100000" kx="0" ky="0" algn="bl" rotWithShape="0" blurRad="228600" dist="57150" dir="5400000">
              <a:srgbClr val="06B6D4">
                <a:alpha val="6000"/>
              </a:srgbClr>
            </a:outerShdw>
          </a:effectLst>
        </p:spPr>
        <p:txBody>
          <a:bodyPr wrap="square" rtlCol="0" anchor="ctr"/>
          <a:lstStyle/>
          <a:p>
            <a:pPr indent="0" marL="0">
              <a:buNone/>
            </a:pPr>
            <a:endParaRPr lang="en-US" dirty="0"/>
          </a:p>
        </p:txBody>
      </p:sp>
      <p:sp>
        <p:nvSpPr>
          <p:cNvPr id="10" name="Text 5"/>
          <p:cNvSpPr/>
          <p:nvPr/>
        </p:nvSpPr>
        <p:spPr>
          <a:xfrm>
            <a:off x="535781" y="1197918"/>
            <a:ext cx="2047801" cy="277749"/>
          </a:xfrm>
          <a:prstGeom prst="rect">
            <a:avLst/>
          </a:prstGeom>
          <a:noFill/>
          <a:ln/>
        </p:spPr>
        <p:txBody>
          <a:bodyPr wrap="none" lIns="0" tIns="0" rIns="0" bIns="0" rtlCol="0" anchor="t"/>
          <a:lstStyle/>
          <a:p>
            <a:pPr algn="l" indent="0" marL="0">
              <a:lnSpc>
                <a:spcPts val="2025"/>
              </a:lnSpc>
              <a:buNone/>
            </a:pPr>
            <a:r>
              <a:rPr lang="en-US" sz="2025" spc="-40" kern="0" dirty="0">
                <a:solidFill>
                  <a:srgbClr val="0E7490"/>
                </a:solidFill>
                <a:latin typeface="Liberation Sans Narrow" pitchFamily="34" charset="0"/>
                <a:ea typeface="Liberation Sans Narrow" pitchFamily="34" charset="-122"/>
                <a:cs typeface="Liberation Sans Narrow" pitchFamily="34" charset="-120"/>
              </a:rPr>
              <a:t>01</a:t>
            </a:r>
            <a:endParaRPr lang="en-US" sz="2025" dirty="0"/>
          </a:p>
        </p:txBody>
      </p:sp>
      <p:sp>
        <p:nvSpPr>
          <p:cNvPr id="11" name="Text 6"/>
          <p:cNvSpPr/>
          <p:nvPr/>
        </p:nvSpPr>
        <p:spPr>
          <a:xfrm>
            <a:off x="2601441" y="1201489"/>
            <a:ext cx="307181" cy="307181"/>
          </a:xfrm>
          <a:prstGeom prst="roundRect">
            <a:avLst>
              <a:gd name="adj" fmla="val 31008"/>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12" name="Text 7"/>
          <p:cNvSpPr/>
          <p:nvPr/>
        </p:nvSpPr>
        <p:spPr>
          <a:xfrm>
            <a:off x="2630731" y="1230779"/>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13" name="Text 8"/>
          <p:cNvSpPr/>
          <p:nvPr/>
        </p:nvSpPr>
        <p:spPr>
          <a:xfrm>
            <a:off x="535781" y="1597968"/>
            <a:ext cx="2376413" cy="191314"/>
          </a:xfrm>
          <a:prstGeom prst="rect">
            <a:avLst/>
          </a:prstGeom>
          <a:noFill/>
          <a:ln/>
        </p:spPr>
        <p:txBody>
          <a:bodyPr wrap="non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Auto-Detection</a:t>
            </a:r>
            <a:endParaRPr lang="en-US" sz="900" dirty="0"/>
          </a:p>
        </p:txBody>
      </p:sp>
      <p:pic>
        <p:nvPicPr>
          <p:cNvPr id="14" name="Image 3" descr="preencoded.png">    </p:cNvPr>
          <p:cNvPicPr>
            <a:picLocks noChangeAspect="1"/>
          </p:cNvPicPr>
          <p:nvPr/>
        </p:nvPicPr>
        <p:blipFill>
          <a:blip r:embed="rId4"/>
          <a:stretch>
            <a:fillRect/>
          </a:stretch>
        </p:blipFill>
        <p:spPr>
          <a:xfrm>
            <a:off x="535781" y="1846548"/>
            <a:ext cx="2376413" cy="7144"/>
          </a:xfrm>
          <a:prstGeom prst="rect">
            <a:avLst/>
          </a:prstGeom>
        </p:spPr>
      </p:pic>
      <p:sp>
        <p:nvSpPr>
          <p:cNvPr id="15" name="Text 9"/>
          <p:cNvSpPr/>
          <p:nvPr/>
        </p:nvSpPr>
        <p:spPr>
          <a:xfrm>
            <a:off x="535781" y="1989423"/>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16" name="Text 10"/>
          <p:cNvSpPr/>
          <p:nvPr/>
        </p:nvSpPr>
        <p:spPr>
          <a:xfrm>
            <a:off x="628650" y="1939417"/>
            <a:ext cx="2283544"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Digital PDFs (text-layer present)</a:t>
            </a:r>
            <a:endParaRPr lang="en-US" sz="800" dirty="0"/>
          </a:p>
        </p:txBody>
      </p:sp>
      <p:sp>
        <p:nvSpPr>
          <p:cNvPr id="17" name="Text 11"/>
          <p:cNvSpPr/>
          <p:nvPr/>
        </p:nvSpPr>
        <p:spPr>
          <a:xfrm>
            <a:off x="535781" y="2170807"/>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18" name="Text 12"/>
          <p:cNvSpPr/>
          <p:nvPr/>
        </p:nvSpPr>
        <p:spPr>
          <a:xfrm>
            <a:off x="628650" y="2120801"/>
            <a:ext cx="2283544"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Scanned image PDFs</a:t>
            </a:r>
            <a:endParaRPr lang="en-US" sz="800" dirty="0"/>
          </a:p>
        </p:txBody>
      </p:sp>
      <p:sp>
        <p:nvSpPr>
          <p:cNvPr id="19" name="Text 13"/>
          <p:cNvSpPr/>
          <p:nvPr/>
        </p:nvSpPr>
        <p:spPr>
          <a:xfrm>
            <a:off x="535781" y="2352191"/>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20" name="Text 14"/>
          <p:cNvSpPr/>
          <p:nvPr/>
        </p:nvSpPr>
        <p:spPr>
          <a:xfrm>
            <a:off x="628650" y="2302185"/>
            <a:ext cx="2283544"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Word documents (.docx)</a:t>
            </a:r>
            <a:endParaRPr lang="en-US" sz="800" dirty="0"/>
          </a:p>
        </p:txBody>
      </p:sp>
      <p:sp>
        <p:nvSpPr>
          <p:cNvPr id="21" name="Text 15"/>
          <p:cNvSpPr/>
          <p:nvPr/>
        </p:nvSpPr>
        <p:spPr>
          <a:xfrm>
            <a:off x="535781" y="2533576"/>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22" name="Text 16"/>
          <p:cNvSpPr/>
          <p:nvPr/>
        </p:nvSpPr>
        <p:spPr>
          <a:xfrm>
            <a:off x="628650" y="2483569"/>
            <a:ext cx="2283544"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Plain text (.txt)</a:t>
            </a:r>
            <a:endParaRPr lang="en-US" sz="800" dirty="0"/>
          </a:p>
        </p:txBody>
      </p:sp>
      <p:sp>
        <p:nvSpPr>
          <p:cNvPr id="23" name="Text 17"/>
          <p:cNvSpPr/>
          <p:nvPr/>
        </p:nvSpPr>
        <p:spPr>
          <a:xfrm>
            <a:off x="535781" y="2714960"/>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24" name="Text 18"/>
          <p:cNvSpPr/>
          <p:nvPr/>
        </p:nvSpPr>
        <p:spPr>
          <a:xfrm>
            <a:off x="628650" y="2664954"/>
            <a:ext cx="2283544"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Circular images (PNG/JPG gazettes)</a:t>
            </a:r>
            <a:endParaRPr lang="en-US" sz="800" dirty="0"/>
          </a:p>
        </p:txBody>
      </p:sp>
      <p:sp>
        <p:nvSpPr>
          <p:cNvPr id="25" name="Text 19"/>
          <p:cNvSpPr/>
          <p:nvPr/>
        </p:nvSpPr>
        <p:spPr>
          <a:xfrm>
            <a:off x="3051497" y="2015877"/>
            <a:ext cx="192881" cy="192881"/>
          </a:xfrm>
          <a:prstGeom prst="ellipse">
            <a:avLst/>
          </a:prstGeom>
          <a:solidFill>
            <a:srgbClr val="FFFFFF"/>
          </a:solidFill>
          <a:ln w="7144">
            <a:solidFill>
              <a:srgbClr val="0E7490"/>
            </a:solidFill>
            <a:prstDash val="solid"/>
          </a:ln>
          <a:effectLst>
            <a:outerShdw sx="100000" sy="100000" kx="0" ky="0" algn="bl" rotWithShape="0" blurRad="133350" dist="50800" dir="16200000">
              <a:srgbClr val="06B6D4">
                <a:alpha val="18000"/>
              </a:srgbClr>
            </a:outerShdw>
          </a:effectLst>
        </p:spPr>
        <p:txBody>
          <a:bodyPr wrap="square" rtlCol="0" anchor="ctr"/>
          <a:lstStyle/>
          <a:p>
            <a:pPr indent="0" marL="0">
              <a:buNone/>
            </a:pPr>
            <a:endParaRPr lang="en-US" dirty="0"/>
          </a:p>
        </p:txBody>
      </p:sp>
      <p:sp>
        <p:nvSpPr>
          <p:cNvPr id="26" name="Text 20"/>
          <p:cNvSpPr/>
          <p:nvPr/>
        </p:nvSpPr>
        <p:spPr>
          <a:xfrm>
            <a:off x="3054712" y="2019092"/>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pic>
        <p:nvPicPr>
          <p:cNvPr id="27" name="Image 4" descr="preencoded.png">    </p:cNvPr>
          <p:cNvPicPr>
            <a:picLocks noChangeAspect="1"/>
          </p:cNvPicPr>
          <p:nvPr/>
        </p:nvPicPr>
        <p:blipFill>
          <a:blip r:embed="rId5"/>
          <a:stretch>
            <a:fillRect/>
          </a:stretch>
        </p:blipFill>
        <p:spPr>
          <a:xfrm>
            <a:off x="3247951" y="1076474"/>
            <a:ext cx="2647987" cy="2071688"/>
          </a:xfrm>
          <a:prstGeom prst="rect">
            <a:avLst/>
          </a:prstGeom>
        </p:spPr>
      </p:pic>
      <p:sp>
        <p:nvSpPr>
          <p:cNvPr id="28" name="Text 21"/>
          <p:cNvSpPr/>
          <p:nvPr/>
        </p:nvSpPr>
        <p:spPr>
          <a:xfrm>
            <a:off x="3251522" y="1080046"/>
            <a:ext cx="2640843" cy="2064544"/>
          </a:xfrm>
          <a:prstGeom prst="roundRect">
            <a:avLst>
              <a:gd name="adj" fmla="val 6459"/>
            </a:avLst>
          </a:prstGeom>
          <a:noFill/>
          <a:ln w="7144">
            <a:solidFill>
              <a:srgbClr val="0E7490"/>
            </a:solidFill>
            <a:prstDash val="solid"/>
          </a:ln>
          <a:effectLst>
            <a:outerShdw sx="100000" sy="100000" kx="0" ky="0" algn="bl" rotWithShape="0" blurRad="228600" dist="57150" dir="5400000">
              <a:srgbClr val="06B6D4">
                <a:alpha val="6000"/>
              </a:srgbClr>
            </a:outerShdw>
          </a:effectLst>
        </p:spPr>
        <p:txBody>
          <a:bodyPr wrap="square" rtlCol="0" anchor="ctr"/>
          <a:lstStyle/>
          <a:p>
            <a:pPr indent="0" marL="0">
              <a:buNone/>
            </a:pPr>
            <a:endParaRPr lang="en-US" dirty="0"/>
          </a:p>
        </p:txBody>
      </p:sp>
      <p:sp>
        <p:nvSpPr>
          <p:cNvPr id="29" name="Text 22"/>
          <p:cNvSpPr/>
          <p:nvPr/>
        </p:nvSpPr>
        <p:spPr>
          <a:xfrm>
            <a:off x="3383682" y="1197918"/>
            <a:ext cx="2047912" cy="277749"/>
          </a:xfrm>
          <a:prstGeom prst="rect">
            <a:avLst/>
          </a:prstGeom>
          <a:noFill/>
          <a:ln/>
        </p:spPr>
        <p:txBody>
          <a:bodyPr wrap="none" lIns="0" tIns="0" rIns="0" bIns="0" rtlCol="0" anchor="t"/>
          <a:lstStyle/>
          <a:p>
            <a:pPr algn="l" indent="0" marL="0">
              <a:lnSpc>
                <a:spcPts val="2025"/>
              </a:lnSpc>
              <a:buNone/>
            </a:pPr>
            <a:r>
              <a:rPr lang="en-US" sz="2025" spc="-40" kern="0" dirty="0">
                <a:solidFill>
                  <a:srgbClr val="0E7490"/>
                </a:solidFill>
                <a:latin typeface="Liberation Sans Narrow" pitchFamily="34" charset="0"/>
                <a:ea typeface="Liberation Sans Narrow" pitchFamily="34" charset="-122"/>
                <a:cs typeface="Liberation Sans Narrow" pitchFamily="34" charset="-120"/>
              </a:rPr>
              <a:t>02</a:t>
            </a:r>
            <a:endParaRPr lang="en-US" sz="2025" dirty="0"/>
          </a:p>
        </p:txBody>
      </p:sp>
      <p:sp>
        <p:nvSpPr>
          <p:cNvPr id="30" name="Text 23"/>
          <p:cNvSpPr/>
          <p:nvPr/>
        </p:nvSpPr>
        <p:spPr>
          <a:xfrm>
            <a:off x="5449453" y="1201489"/>
            <a:ext cx="307181" cy="307181"/>
          </a:xfrm>
          <a:prstGeom prst="roundRect">
            <a:avLst>
              <a:gd name="adj" fmla="val 31008"/>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31" name="Text 24"/>
          <p:cNvSpPr/>
          <p:nvPr/>
        </p:nvSpPr>
        <p:spPr>
          <a:xfrm>
            <a:off x="5478743" y="1230779"/>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32" name="Text 25"/>
          <p:cNvSpPr/>
          <p:nvPr/>
        </p:nvSpPr>
        <p:spPr>
          <a:xfrm>
            <a:off x="3383682" y="1597968"/>
            <a:ext cx="2376525" cy="191314"/>
          </a:xfrm>
          <a:prstGeom prst="rect">
            <a:avLst/>
          </a:prstGeom>
          <a:noFill/>
          <a:ln/>
        </p:spPr>
        <p:txBody>
          <a:bodyPr wrap="non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ONNX OCR Extraction</a:t>
            </a:r>
            <a:endParaRPr lang="en-US" sz="900" dirty="0"/>
          </a:p>
        </p:txBody>
      </p:sp>
      <p:pic>
        <p:nvPicPr>
          <p:cNvPr id="33" name="Image 5" descr="preencoded.png">    </p:cNvPr>
          <p:cNvPicPr>
            <a:picLocks noChangeAspect="1"/>
          </p:cNvPicPr>
          <p:nvPr/>
        </p:nvPicPr>
        <p:blipFill>
          <a:blip r:embed="rId6"/>
          <a:stretch>
            <a:fillRect/>
          </a:stretch>
        </p:blipFill>
        <p:spPr>
          <a:xfrm>
            <a:off x="3383682" y="1846548"/>
            <a:ext cx="2376525" cy="7144"/>
          </a:xfrm>
          <a:prstGeom prst="rect">
            <a:avLst/>
          </a:prstGeom>
        </p:spPr>
      </p:pic>
      <p:sp>
        <p:nvSpPr>
          <p:cNvPr id="34" name="Text 26"/>
          <p:cNvSpPr/>
          <p:nvPr/>
        </p:nvSpPr>
        <p:spPr>
          <a:xfrm>
            <a:off x="3383682" y="1989423"/>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35" name="Text 27"/>
          <p:cNvSpPr/>
          <p:nvPr/>
        </p:nvSpPr>
        <p:spPr>
          <a:xfrm>
            <a:off x="3476551" y="1939417"/>
            <a:ext cx="2283656"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rapidocr-onnxruntime engine</a:t>
            </a:r>
            <a:endParaRPr lang="en-US" sz="800" dirty="0"/>
          </a:p>
        </p:txBody>
      </p:sp>
      <p:sp>
        <p:nvSpPr>
          <p:cNvPr id="36" name="Text 28"/>
          <p:cNvSpPr/>
          <p:nvPr/>
        </p:nvSpPr>
        <p:spPr>
          <a:xfrm>
            <a:off x="3383682" y="2170807"/>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37" name="Text 29"/>
          <p:cNvSpPr/>
          <p:nvPr/>
        </p:nvSpPr>
        <p:spPr>
          <a:xfrm>
            <a:off x="3476551" y="2120801"/>
            <a:ext cx="2283656"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Powered by ONNX runtime</a:t>
            </a:r>
            <a:endParaRPr lang="en-US" sz="800" dirty="0"/>
          </a:p>
        </p:txBody>
      </p:sp>
      <p:sp>
        <p:nvSpPr>
          <p:cNvPr id="38" name="Text 30"/>
          <p:cNvSpPr/>
          <p:nvPr/>
        </p:nvSpPr>
        <p:spPr>
          <a:xfrm>
            <a:off x="3383682" y="2352191"/>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39" name="Text 31"/>
          <p:cNvSpPr/>
          <p:nvPr/>
        </p:nvSpPr>
        <p:spPr>
          <a:xfrm>
            <a:off x="3476551" y="2302185"/>
            <a:ext cx="2283656" cy="31804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ZERO external binaries — no Poppler, no Tesseract system install</a:t>
            </a:r>
            <a:endParaRPr lang="en-US" sz="800" dirty="0"/>
          </a:p>
        </p:txBody>
      </p:sp>
      <p:sp>
        <p:nvSpPr>
          <p:cNvPr id="40" name="Text 32"/>
          <p:cNvSpPr/>
          <p:nvPr/>
        </p:nvSpPr>
        <p:spPr>
          <a:xfrm>
            <a:off x="3383682" y="2657810"/>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41" name="Text 33"/>
          <p:cNvSpPr/>
          <p:nvPr/>
        </p:nvSpPr>
        <p:spPr>
          <a:xfrm>
            <a:off x="3476551" y="2607804"/>
            <a:ext cx="2283656" cy="159020"/>
          </a:xfrm>
          <a:prstGeom prst="rect">
            <a:avLst/>
          </a:prstGeom>
          <a:noFill/>
          <a:ln/>
        </p:spPr>
        <p:txBody>
          <a:bodyPr wrap="square" lIns="0" tIns="0" rIns="0" bIns="0" rtlCol="0" anchor="t"/>
          <a:lstStyle/>
          <a:p>
            <a:pPr algn="l" indent="0" marL="0">
              <a:lnSpc>
                <a:spcPts val="979"/>
              </a:lnSpc>
              <a:buNone/>
            </a:pPr>
            <a:r>
              <a:rPr lang="en-US" sz="675" dirty="0">
                <a:solidFill>
                  <a:srgbClr val="475569"/>
                </a:solidFill>
                <a:latin typeface="Carlito" pitchFamily="34" charset="0"/>
                <a:ea typeface="Carlito" pitchFamily="34" charset="-122"/>
                <a:cs typeface="Carlito" pitchFamily="34" charset="-120"/>
              </a:rPr>
              <a:t>Graceful fallback to Tesseract if explicitly specified</a:t>
            </a:r>
            <a:endParaRPr lang="en-US" sz="675" dirty="0"/>
          </a:p>
        </p:txBody>
      </p:sp>
      <p:sp>
        <p:nvSpPr>
          <p:cNvPr id="42" name="Text 34"/>
          <p:cNvSpPr/>
          <p:nvPr/>
        </p:nvSpPr>
        <p:spPr>
          <a:xfrm>
            <a:off x="3383682" y="2839194"/>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43" name="Text 35"/>
          <p:cNvSpPr/>
          <p:nvPr/>
        </p:nvSpPr>
        <p:spPr>
          <a:xfrm>
            <a:off x="3476551" y="2789188"/>
            <a:ext cx="2283656" cy="159020"/>
          </a:xfrm>
          <a:prstGeom prst="rect">
            <a:avLst/>
          </a:prstGeom>
          <a:noFill/>
          <a:ln/>
        </p:spPr>
        <p:txBody>
          <a:bodyPr wrap="square" lIns="0" tIns="0" rIns="0" bIns="0" rtlCol="0" anchor="t"/>
          <a:lstStyle/>
          <a:p>
            <a:pPr algn="l" indent="0" marL="0">
              <a:lnSpc>
                <a:spcPts val="979"/>
              </a:lnSpc>
              <a:buNone/>
            </a:pPr>
            <a:r>
              <a:rPr lang="en-US" sz="800" dirty="0">
                <a:solidFill>
                  <a:srgbClr val="475569"/>
                </a:solidFill>
                <a:latin typeface="Carlito" pitchFamily="34" charset="0"/>
                <a:ea typeface="Carlito" pitchFamily="34" charset="-122"/>
                <a:cs typeface="Carlito" pitchFamily="34" charset="-120"/>
              </a:rPr>
              <a:t>Native cloud-container deployment</a:t>
            </a:r>
            <a:endParaRPr lang="en-US" sz="800" dirty="0"/>
          </a:p>
        </p:txBody>
      </p:sp>
      <p:sp>
        <p:nvSpPr>
          <p:cNvPr id="44" name="Text 36"/>
          <p:cNvSpPr/>
          <p:nvPr/>
        </p:nvSpPr>
        <p:spPr>
          <a:xfrm>
            <a:off x="5899510" y="2015877"/>
            <a:ext cx="192881" cy="192881"/>
          </a:xfrm>
          <a:prstGeom prst="ellipse">
            <a:avLst/>
          </a:prstGeom>
          <a:solidFill>
            <a:srgbClr val="FFFFFF"/>
          </a:solidFill>
          <a:ln w="7144">
            <a:solidFill>
              <a:srgbClr val="0E7490"/>
            </a:solidFill>
            <a:prstDash val="solid"/>
          </a:ln>
          <a:effectLst>
            <a:outerShdw sx="100000" sy="100000" kx="0" ky="0" algn="bl" rotWithShape="0" blurRad="133350" dist="50800" dir="16200000">
              <a:srgbClr val="06B6D4">
                <a:alpha val="18000"/>
              </a:srgbClr>
            </a:outerShdw>
          </a:effectLst>
        </p:spPr>
        <p:txBody>
          <a:bodyPr wrap="square" rtlCol="0" anchor="ctr"/>
          <a:lstStyle/>
          <a:p>
            <a:pPr indent="0" marL="0">
              <a:buNone/>
            </a:pPr>
            <a:endParaRPr lang="en-US" dirty="0"/>
          </a:p>
        </p:txBody>
      </p:sp>
      <p:sp>
        <p:nvSpPr>
          <p:cNvPr id="45" name="Text 37"/>
          <p:cNvSpPr/>
          <p:nvPr/>
        </p:nvSpPr>
        <p:spPr>
          <a:xfrm>
            <a:off x="5902724" y="2019092"/>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pic>
        <p:nvPicPr>
          <p:cNvPr id="46" name="Image 6" descr="preencoded.png">    </p:cNvPr>
          <p:cNvPicPr>
            <a:picLocks noChangeAspect="1"/>
          </p:cNvPicPr>
          <p:nvPr/>
        </p:nvPicPr>
        <p:blipFill>
          <a:blip r:embed="rId7"/>
          <a:stretch>
            <a:fillRect/>
          </a:stretch>
        </p:blipFill>
        <p:spPr>
          <a:xfrm>
            <a:off x="6095963" y="1076474"/>
            <a:ext cx="2647876" cy="2071688"/>
          </a:xfrm>
          <a:prstGeom prst="rect">
            <a:avLst/>
          </a:prstGeom>
        </p:spPr>
      </p:pic>
      <p:sp>
        <p:nvSpPr>
          <p:cNvPr id="47" name="Text 38"/>
          <p:cNvSpPr/>
          <p:nvPr/>
        </p:nvSpPr>
        <p:spPr>
          <a:xfrm>
            <a:off x="6099535" y="1080046"/>
            <a:ext cx="2640732" cy="2064544"/>
          </a:xfrm>
          <a:prstGeom prst="roundRect">
            <a:avLst>
              <a:gd name="adj" fmla="val 6459"/>
            </a:avLst>
          </a:prstGeom>
          <a:noFill/>
          <a:ln w="7144">
            <a:solidFill>
              <a:srgbClr val="0E7490"/>
            </a:solidFill>
            <a:prstDash val="solid"/>
          </a:ln>
          <a:effectLst>
            <a:outerShdw sx="100000" sy="100000" kx="0" ky="0" algn="bl" rotWithShape="0" blurRad="228600" dist="57150" dir="5400000">
              <a:srgbClr val="06B6D4">
                <a:alpha val="6000"/>
              </a:srgbClr>
            </a:outerShdw>
          </a:effectLst>
        </p:spPr>
        <p:txBody>
          <a:bodyPr wrap="square" rtlCol="0" anchor="ctr"/>
          <a:lstStyle/>
          <a:p>
            <a:pPr indent="0" marL="0">
              <a:buNone/>
            </a:pPr>
            <a:endParaRPr lang="en-US" dirty="0"/>
          </a:p>
        </p:txBody>
      </p:sp>
      <p:sp>
        <p:nvSpPr>
          <p:cNvPr id="48" name="Text 39"/>
          <p:cNvSpPr/>
          <p:nvPr/>
        </p:nvSpPr>
        <p:spPr>
          <a:xfrm>
            <a:off x="6231694" y="1197918"/>
            <a:ext cx="2047801" cy="277749"/>
          </a:xfrm>
          <a:prstGeom prst="rect">
            <a:avLst/>
          </a:prstGeom>
          <a:noFill/>
          <a:ln/>
        </p:spPr>
        <p:txBody>
          <a:bodyPr wrap="none" lIns="0" tIns="0" rIns="0" bIns="0" rtlCol="0" anchor="t"/>
          <a:lstStyle/>
          <a:p>
            <a:pPr algn="l" indent="0" marL="0">
              <a:lnSpc>
                <a:spcPts val="2025"/>
              </a:lnSpc>
              <a:buNone/>
            </a:pPr>
            <a:r>
              <a:rPr lang="en-US" sz="2025" spc="-40" kern="0" dirty="0">
                <a:solidFill>
                  <a:srgbClr val="0E7490"/>
                </a:solidFill>
                <a:latin typeface="Liberation Sans Narrow" pitchFamily="34" charset="0"/>
                <a:ea typeface="Liberation Sans Narrow" pitchFamily="34" charset="-122"/>
                <a:cs typeface="Liberation Sans Narrow" pitchFamily="34" charset="-120"/>
              </a:rPr>
              <a:t>03</a:t>
            </a:r>
            <a:endParaRPr lang="en-US" sz="2025" dirty="0"/>
          </a:p>
        </p:txBody>
      </p:sp>
      <p:sp>
        <p:nvSpPr>
          <p:cNvPr id="49" name="Text 40"/>
          <p:cNvSpPr/>
          <p:nvPr/>
        </p:nvSpPr>
        <p:spPr>
          <a:xfrm>
            <a:off x="8297354" y="1201489"/>
            <a:ext cx="307181" cy="307181"/>
          </a:xfrm>
          <a:prstGeom prst="roundRect">
            <a:avLst>
              <a:gd name="adj" fmla="val 31008"/>
            </a:avLst>
          </a:prstGeom>
          <a:solidFill>
            <a:srgbClr val="06B6D4">
              <a:alpha val="10000"/>
            </a:srgbClr>
          </a:solidFill>
          <a:ln w="7144">
            <a:solidFill>
              <a:srgbClr val="0E7490"/>
            </a:solidFill>
            <a:prstDash val="solid"/>
          </a:ln>
        </p:spPr>
        <p:txBody>
          <a:bodyPr wrap="square" rtlCol="0" anchor="ctr"/>
          <a:lstStyle/>
          <a:p>
            <a:pPr indent="0" marL="0">
              <a:buNone/>
            </a:pPr>
            <a:endParaRPr lang="en-US" dirty="0"/>
          </a:p>
        </p:txBody>
      </p:sp>
      <p:sp>
        <p:nvSpPr>
          <p:cNvPr id="50" name="Text 41"/>
          <p:cNvSpPr/>
          <p:nvPr/>
        </p:nvSpPr>
        <p:spPr>
          <a:xfrm>
            <a:off x="8326643" y="1230779"/>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51" name="Text 42"/>
          <p:cNvSpPr/>
          <p:nvPr/>
        </p:nvSpPr>
        <p:spPr>
          <a:xfrm>
            <a:off x="6231694" y="1597968"/>
            <a:ext cx="2376413" cy="191314"/>
          </a:xfrm>
          <a:prstGeom prst="rect">
            <a:avLst/>
          </a:prstGeom>
          <a:noFill/>
          <a:ln/>
        </p:spPr>
        <p:txBody>
          <a:bodyPr wrap="non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Metadata Tagging</a:t>
            </a:r>
            <a:endParaRPr lang="en-US" sz="900" dirty="0"/>
          </a:p>
        </p:txBody>
      </p:sp>
      <p:pic>
        <p:nvPicPr>
          <p:cNvPr id="52" name="Image 7" descr="preencoded.png">    </p:cNvPr>
          <p:cNvPicPr>
            <a:picLocks noChangeAspect="1"/>
          </p:cNvPicPr>
          <p:nvPr/>
        </p:nvPicPr>
        <p:blipFill>
          <a:blip r:embed="rId8"/>
          <a:stretch>
            <a:fillRect/>
          </a:stretch>
        </p:blipFill>
        <p:spPr>
          <a:xfrm>
            <a:off x="6231694" y="1846548"/>
            <a:ext cx="2376413" cy="7144"/>
          </a:xfrm>
          <a:prstGeom prst="rect">
            <a:avLst/>
          </a:prstGeom>
        </p:spPr>
      </p:pic>
      <p:sp>
        <p:nvSpPr>
          <p:cNvPr id="53" name="Text 43"/>
          <p:cNvSpPr/>
          <p:nvPr/>
        </p:nvSpPr>
        <p:spPr>
          <a:xfrm>
            <a:off x="6231694" y="1989423"/>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54" name="Text 44"/>
          <p:cNvSpPr/>
          <p:nvPr/>
        </p:nvSpPr>
        <p:spPr>
          <a:xfrm>
            <a:off x="6324563" y="1939417"/>
            <a:ext cx="2283544" cy="159076"/>
          </a:xfrm>
          <a:prstGeom prst="rect">
            <a:avLst/>
          </a:prstGeom>
          <a:noFill/>
          <a:ln/>
        </p:spPr>
        <p:txBody>
          <a:bodyPr wrap="square" lIns="0" tIns="0" rIns="0" bIns="0" rtlCol="0" anchor="t"/>
          <a:lstStyle/>
          <a:p>
            <a:pPr algn="l" indent="0" marL="0">
              <a:lnSpc>
                <a:spcPts val="938"/>
              </a:lnSpc>
              <a:buNone/>
            </a:pPr>
            <a:r>
              <a:rPr lang="en-US" sz="800" spc="6" kern="0" dirty="0">
                <a:solidFill>
                  <a:srgbClr val="0E7490"/>
                </a:solidFill>
                <a:latin typeface="Courier New" pitchFamily="34" charset="0"/>
                <a:ea typeface="Courier New" pitchFamily="34" charset="-122"/>
                <a:cs typeface="Courier New" pitchFamily="34" charset="-120"/>
              </a:rPr>
              <a:t>source_file</a:t>
            </a:r>
            <a:endParaRPr lang="en-US" sz="800" dirty="0"/>
          </a:p>
        </p:txBody>
      </p:sp>
      <p:sp>
        <p:nvSpPr>
          <p:cNvPr id="55" name="Text 45"/>
          <p:cNvSpPr/>
          <p:nvPr/>
        </p:nvSpPr>
        <p:spPr>
          <a:xfrm>
            <a:off x="6231694" y="2165672"/>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56" name="Text 46"/>
          <p:cNvSpPr/>
          <p:nvPr/>
        </p:nvSpPr>
        <p:spPr>
          <a:xfrm>
            <a:off x="6324563" y="2115666"/>
            <a:ext cx="2283544" cy="159076"/>
          </a:xfrm>
          <a:prstGeom prst="rect">
            <a:avLst/>
          </a:prstGeom>
          <a:noFill/>
          <a:ln/>
        </p:spPr>
        <p:txBody>
          <a:bodyPr wrap="square" lIns="0" tIns="0" rIns="0" bIns="0" rtlCol="0" anchor="t"/>
          <a:lstStyle/>
          <a:p>
            <a:pPr algn="l" indent="0" marL="0">
              <a:lnSpc>
                <a:spcPts val="938"/>
              </a:lnSpc>
              <a:buNone/>
            </a:pPr>
            <a:r>
              <a:rPr lang="en-US" sz="800" spc="6" kern="0" dirty="0">
                <a:solidFill>
                  <a:srgbClr val="0E7490"/>
                </a:solidFill>
                <a:latin typeface="Courier New" pitchFamily="34" charset="0"/>
                <a:ea typeface="Courier New" pitchFamily="34" charset="-122"/>
                <a:cs typeface="Courier New" pitchFamily="34" charset="-120"/>
              </a:rPr>
              <a:t>page_number</a:t>
            </a:r>
            <a:endParaRPr lang="en-US" sz="800" dirty="0"/>
          </a:p>
        </p:txBody>
      </p:sp>
      <p:sp>
        <p:nvSpPr>
          <p:cNvPr id="57" name="Text 47"/>
          <p:cNvSpPr/>
          <p:nvPr/>
        </p:nvSpPr>
        <p:spPr>
          <a:xfrm>
            <a:off x="6231694" y="2341922"/>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58" name="Text 48"/>
          <p:cNvSpPr/>
          <p:nvPr/>
        </p:nvSpPr>
        <p:spPr>
          <a:xfrm>
            <a:off x="6324563" y="2291916"/>
            <a:ext cx="2283544" cy="159076"/>
          </a:xfrm>
          <a:prstGeom prst="rect">
            <a:avLst/>
          </a:prstGeom>
          <a:noFill/>
          <a:ln/>
        </p:spPr>
        <p:txBody>
          <a:bodyPr wrap="square" lIns="0" tIns="0" rIns="0" bIns="0" rtlCol="0" anchor="t"/>
          <a:lstStyle/>
          <a:p>
            <a:pPr algn="l" indent="0" marL="0">
              <a:lnSpc>
                <a:spcPts val="938"/>
              </a:lnSpc>
              <a:buNone/>
            </a:pPr>
            <a:r>
              <a:rPr lang="en-US" sz="800" spc="6" kern="0" dirty="0">
                <a:solidFill>
                  <a:srgbClr val="0E7490"/>
                </a:solidFill>
                <a:latin typeface="Courier New" pitchFamily="34" charset="0"/>
                <a:ea typeface="Courier New" pitchFamily="34" charset="-122"/>
                <a:cs typeface="Courier New" pitchFamily="34" charset="-120"/>
              </a:rPr>
              <a:t>format</a:t>
            </a:r>
            <a:endParaRPr lang="en-US" sz="800" dirty="0"/>
          </a:p>
        </p:txBody>
      </p:sp>
      <p:sp>
        <p:nvSpPr>
          <p:cNvPr id="59" name="Text 49"/>
          <p:cNvSpPr/>
          <p:nvPr/>
        </p:nvSpPr>
        <p:spPr>
          <a:xfrm>
            <a:off x="6231694" y="2518172"/>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60" name="Text 50"/>
          <p:cNvSpPr/>
          <p:nvPr/>
        </p:nvSpPr>
        <p:spPr>
          <a:xfrm>
            <a:off x="6324563" y="2468166"/>
            <a:ext cx="2283544" cy="159076"/>
          </a:xfrm>
          <a:prstGeom prst="rect">
            <a:avLst/>
          </a:prstGeom>
          <a:noFill/>
          <a:ln/>
        </p:spPr>
        <p:txBody>
          <a:bodyPr wrap="square" lIns="0" tIns="0" rIns="0" bIns="0" rtlCol="0" anchor="t"/>
          <a:lstStyle/>
          <a:p>
            <a:pPr algn="l" indent="0" marL="0">
              <a:lnSpc>
                <a:spcPts val="938"/>
              </a:lnSpc>
              <a:buNone/>
            </a:pPr>
            <a:r>
              <a:rPr lang="en-US" sz="800" spc="6" kern="0" dirty="0">
                <a:solidFill>
                  <a:srgbClr val="0E7490"/>
                </a:solidFill>
                <a:latin typeface="Courier New" pitchFamily="34" charset="0"/>
                <a:ea typeface="Courier New" pitchFamily="34" charset="-122"/>
                <a:cs typeface="Courier New" pitchFamily="34" charset="-120"/>
              </a:rPr>
              <a:t>modified_timestamp</a:t>
            </a:r>
            <a:endParaRPr lang="en-US" sz="800" dirty="0"/>
          </a:p>
        </p:txBody>
      </p:sp>
      <p:sp>
        <p:nvSpPr>
          <p:cNvPr id="61" name="Text 51"/>
          <p:cNvSpPr/>
          <p:nvPr/>
        </p:nvSpPr>
        <p:spPr>
          <a:xfrm>
            <a:off x="6231694" y="2694422"/>
            <a:ext cx="35719" cy="35719"/>
          </a:xfrm>
          <a:prstGeom prst="ellipse">
            <a:avLst/>
          </a:prstGeom>
          <a:solidFill>
            <a:srgbClr val="0E7490">
              <a:alpha val="85000"/>
            </a:srgbClr>
          </a:solidFill>
          <a:ln/>
        </p:spPr>
        <p:txBody>
          <a:bodyPr wrap="square" rtlCol="0" anchor="ctr"/>
          <a:lstStyle/>
          <a:p>
            <a:pPr indent="0" marL="0">
              <a:buNone/>
            </a:pPr>
            <a:endParaRPr lang="en-US" dirty="0"/>
          </a:p>
        </p:txBody>
      </p:sp>
      <p:sp>
        <p:nvSpPr>
          <p:cNvPr id="62" name="Text 52"/>
          <p:cNvSpPr/>
          <p:nvPr/>
        </p:nvSpPr>
        <p:spPr>
          <a:xfrm>
            <a:off x="6324563" y="2644415"/>
            <a:ext cx="2283544" cy="159076"/>
          </a:xfrm>
          <a:prstGeom prst="rect">
            <a:avLst/>
          </a:prstGeom>
          <a:noFill/>
          <a:ln/>
        </p:spPr>
        <p:txBody>
          <a:bodyPr wrap="square" lIns="0" tIns="0" rIns="0" bIns="0" rtlCol="0" anchor="t"/>
          <a:lstStyle/>
          <a:p>
            <a:pPr algn="l" indent="0" marL="0">
              <a:lnSpc>
                <a:spcPts val="938"/>
              </a:lnSpc>
              <a:buNone/>
            </a:pPr>
            <a:r>
              <a:rPr lang="en-US" sz="800" spc="6" kern="0" dirty="0">
                <a:solidFill>
                  <a:srgbClr val="0E7490"/>
                </a:solidFill>
                <a:latin typeface="Courier New" pitchFamily="34" charset="0"/>
                <a:ea typeface="Courier New" pitchFamily="34" charset="-122"/>
                <a:cs typeface="Courier New" pitchFamily="34" charset="-120"/>
              </a:rPr>
              <a:t>chunk_id</a:t>
            </a:r>
            <a:pPr algn="l" indent="0" marL="0">
              <a:lnSpc>
                <a:spcPts val="938"/>
              </a:lnSpc>
              <a:buNone/>
            </a:pPr>
            <a:r>
              <a:rPr lang="en-US" sz="800" spc="6" kern="0" dirty="0">
                <a:solidFill>
                  <a:srgbClr val="0F172A"/>
                </a:solidFill>
                <a:latin typeface="Liberation Sans Narrow" pitchFamily="34" charset="0"/>
                <a:ea typeface="Liberation Sans Narrow" pitchFamily="34" charset="-122"/>
                <a:cs typeface="Liberation Sans Narrow" pitchFamily="34" charset="-120"/>
              </a:rPr>
              <a:t> (UUID + MD5)</a:t>
            </a:r>
            <a:endParaRPr lang="en-US" sz="800" dirty="0"/>
          </a:p>
        </p:txBody>
      </p:sp>
      <p:sp>
        <p:nvSpPr>
          <p:cNvPr id="63" name="Text 53"/>
          <p:cNvSpPr/>
          <p:nvPr/>
        </p:nvSpPr>
        <p:spPr>
          <a:xfrm>
            <a:off x="400050" y="3248174"/>
            <a:ext cx="4121944" cy="599182"/>
          </a:xfrm>
          <a:prstGeom prst="roundRect">
            <a:avLst>
              <a:gd name="adj" fmla="val 15897"/>
            </a:avLst>
          </a:prstGeom>
          <a:solidFill>
            <a:srgbClr val="F5EFE3"/>
          </a:solidFill>
          <a:ln/>
        </p:spPr>
        <p:txBody>
          <a:bodyPr wrap="square" rtlCol="0" anchor="ctr"/>
          <a:lstStyle/>
          <a:p>
            <a:pPr indent="0" marL="0">
              <a:buNone/>
            </a:pPr>
            <a:endParaRPr lang="en-US" dirty="0"/>
          </a:p>
        </p:txBody>
      </p:sp>
      <p:sp>
        <p:nvSpPr>
          <p:cNvPr id="64" name="Shape 54"/>
          <p:cNvSpPr/>
          <p:nvPr/>
        </p:nvSpPr>
        <p:spPr>
          <a:xfrm>
            <a:off x="400050" y="3251746"/>
            <a:ext cx="4121944" cy="0"/>
          </a:xfrm>
          <a:prstGeom prst="line">
            <a:avLst/>
          </a:prstGeom>
          <a:noFill/>
          <a:ln w="7144">
            <a:solidFill>
              <a:srgbClr val="0E7490"/>
            </a:solidFill>
            <a:prstDash val="solid"/>
          </a:ln>
        </p:spPr>
      </p:sp>
      <p:sp>
        <p:nvSpPr>
          <p:cNvPr id="65" name="Shape 55"/>
          <p:cNvSpPr/>
          <p:nvPr/>
        </p:nvSpPr>
        <p:spPr>
          <a:xfrm>
            <a:off x="4518422" y="3248174"/>
            <a:ext cx="0" cy="599182"/>
          </a:xfrm>
          <a:prstGeom prst="line">
            <a:avLst/>
          </a:prstGeom>
          <a:noFill/>
          <a:ln w="7144">
            <a:solidFill>
              <a:srgbClr val="0E7490"/>
            </a:solidFill>
            <a:prstDash val="solid"/>
          </a:ln>
        </p:spPr>
      </p:sp>
      <p:sp>
        <p:nvSpPr>
          <p:cNvPr id="66" name="Shape 56"/>
          <p:cNvSpPr/>
          <p:nvPr/>
        </p:nvSpPr>
        <p:spPr>
          <a:xfrm>
            <a:off x="400050" y="3843784"/>
            <a:ext cx="4121944" cy="0"/>
          </a:xfrm>
          <a:prstGeom prst="line">
            <a:avLst/>
          </a:prstGeom>
          <a:noFill/>
          <a:ln w="7144">
            <a:solidFill>
              <a:srgbClr val="0E7490"/>
            </a:solidFill>
            <a:prstDash val="solid"/>
          </a:ln>
        </p:spPr>
      </p:sp>
      <p:sp>
        <p:nvSpPr>
          <p:cNvPr id="67" name="Shape 57"/>
          <p:cNvSpPr/>
          <p:nvPr/>
        </p:nvSpPr>
        <p:spPr>
          <a:xfrm>
            <a:off x="410766" y="3248174"/>
            <a:ext cx="0" cy="599182"/>
          </a:xfrm>
          <a:prstGeom prst="line">
            <a:avLst/>
          </a:prstGeom>
          <a:noFill/>
          <a:ln w="21431">
            <a:solidFill>
              <a:srgbClr val="0E7490"/>
            </a:solidFill>
            <a:prstDash val="solid"/>
          </a:ln>
        </p:spPr>
      </p:sp>
      <p:sp>
        <p:nvSpPr>
          <p:cNvPr id="68" name="Text 58"/>
          <p:cNvSpPr/>
          <p:nvPr/>
        </p:nvSpPr>
        <p:spPr>
          <a:xfrm>
            <a:off x="525066" y="3344614"/>
            <a:ext cx="250031" cy="250031"/>
          </a:xfrm>
          <a:prstGeom prst="roundRect">
            <a:avLst>
              <a:gd name="adj" fmla="val 30476"/>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9" name="Text 59"/>
          <p:cNvSpPr/>
          <p:nvPr/>
        </p:nvSpPr>
        <p:spPr>
          <a:xfrm>
            <a:off x="546497" y="3366046"/>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70" name="Text 60"/>
          <p:cNvSpPr/>
          <p:nvPr/>
        </p:nvSpPr>
        <p:spPr>
          <a:xfrm>
            <a:off x="864394" y="3341043"/>
            <a:ext cx="3660172" cy="139553"/>
          </a:xfrm>
          <a:prstGeom prst="rect">
            <a:avLst/>
          </a:prstGeom>
          <a:noFill/>
          <a:ln/>
        </p:spPr>
        <p:txBody>
          <a:bodyPr wrap="square" lIns="0" tIns="0" rIns="0" bIns="0" rtlCol="0" anchor="t">
            <a:normAutofit/>
          </a:bodyPr>
          <a:lstStyle/>
          <a:p>
            <a:pPr algn="l" indent="0" marL="0">
              <a:lnSpc>
                <a:spcPts val="1090"/>
              </a:lnSpc>
              <a:buNone/>
            </a:pPr>
            <a:r>
              <a:rPr lang="en-US" sz="800" spc="14" kern="0" dirty="0">
                <a:solidFill>
                  <a:srgbClr val="0E7490"/>
                </a:solidFill>
                <a:latin typeface="Carlito" pitchFamily="34" charset="0"/>
                <a:ea typeface="Carlito" pitchFamily="34" charset="-122"/>
                <a:cs typeface="Carlito" pitchFamily="34" charset="-120"/>
              </a:rPr>
              <a:t>INTELLIGENT PAGE-LEVEL OCR CACHING</a:t>
            </a:r>
            <a:endParaRPr lang="en-US" sz="800" dirty="0"/>
          </a:p>
        </p:txBody>
      </p:sp>
      <p:sp>
        <p:nvSpPr>
          <p:cNvPr id="71" name="Text 61"/>
          <p:cNvSpPr/>
          <p:nvPr/>
        </p:nvSpPr>
        <p:spPr>
          <a:xfrm>
            <a:off x="864394" y="3508028"/>
            <a:ext cx="3550444" cy="246459"/>
          </a:xfrm>
          <a:prstGeom prst="rect">
            <a:avLst/>
          </a:prstGeom>
          <a:noFill/>
          <a:ln/>
        </p:spPr>
        <p:txBody>
          <a:bodyPr wrap="square" lIns="0" tIns="0" rIns="0" bIns="0" rtlCol="0" anchor="t"/>
          <a:lstStyle/>
          <a:p>
            <a:pPr algn="l" indent="0" marL="0">
              <a:lnSpc>
                <a:spcPts val="970"/>
              </a:lnSpc>
              <a:buNone/>
            </a:pPr>
            <a:r>
              <a:rPr lang="en-US" sz="800" dirty="0">
                <a:solidFill>
                  <a:srgbClr val="475569"/>
                </a:solidFill>
                <a:latin typeface="Carlito" pitchFamily="34" charset="0"/>
                <a:ea typeface="Carlito" pitchFamily="34" charset="-122"/>
                <a:cs typeface="Carlito" pitchFamily="34" charset="-120"/>
              </a:rPr>
              <a:t>Scanned pages hashed and cached to </a:t>
            </a:r>
            <a:pPr algn="l" indent="0" marL="0">
              <a:lnSpc>
                <a:spcPts val="970"/>
              </a:lnSpc>
              <a:buNone/>
            </a:pPr>
            <a:r>
              <a:rPr lang="en-US" sz="800" dirty="0">
                <a:solidFill>
                  <a:srgbClr val="0E7490"/>
                </a:solidFill>
                <a:latin typeface="Courier New" pitchFamily="34" charset="0"/>
                <a:ea typeface="Courier New" pitchFamily="34" charset="-122"/>
                <a:cs typeface="Courier New" pitchFamily="34" charset="-120"/>
              </a:rPr>
              <a:t>output/ocr_cache/</a:t>
            </a:r>
            <a:pPr algn="l" indent="0" marL="0">
              <a:lnSpc>
                <a:spcPts val="970"/>
              </a:lnSpc>
              <a:buNone/>
            </a:pPr>
            <a:r>
              <a:rPr lang="en-US" sz="800" dirty="0">
                <a:solidFill>
                  <a:srgbClr val="475569"/>
                </a:solidFill>
                <a:latin typeface="Carlito" pitchFamily="34" charset="0"/>
                <a:ea typeface="Carlito" pitchFamily="34" charset="-122"/>
                <a:cs typeface="Carlito" pitchFamily="34" charset="-120"/>
              </a:rPr>
              <a:t>. Re-indexing runs 10x faster by bypassing previously extracted scanned documents.</a:t>
            </a:r>
            <a:endParaRPr lang="en-US" sz="800" dirty="0"/>
          </a:p>
        </p:txBody>
      </p:sp>
      <p:sp>
        <p:nvSpPr>
          <p:cNvPr id="72" name="Text 62"/>
          <p:cNvSpPr/>
          <p:nvPr/>
        </p:nvSpPr>
        <p:spPr>
          <a:xfrm>
            <a:off x="4622006" y="3248174"/>
            <a:ext cx="4121944" cy="599182"/>
          </a:xfrm>
          <a:prstGeom prst="roundRect">
            <a:avLst>
              <a:gd name="adj" fmla="val 15897"/>
            </a:avLst>
          </a:prstGeom>
          <a:solidFill>
            <a:srgbClr val="F5EFE3"/>
          </a:solidFill>
          <a:ln/>
        </p:spPr>
        <p:txBody>
          <a:bodyPr wrap="square" rtlCol="0" anchor="ctr"/>
          <a:lstStyle/>
          <a:p>
            <a:pPr indent="0" marL="0">
              <a:buNone/>
            </a:pPr>
            <a:endParaRPr lang="en-US" dirty="0"/>
          </a:p>
        </p:txBody>
      </p:sp>
      <p:sp>
        <p:nvSpPr>
          <p:cNvPr id="73" name="Shape 63"/>
          <p:cNvSpPr/>
          <p:nvPr/>
        </p:nvSpPr>
        <p:spPr>
          <a:xfrm>
            <a:off x="4622006" y="3251746"/>
            <a:ext cx="4121944" cy="0"/>
          </a:xfrm>
          <a:prstGeom prst="line">
            <a:avLst/>
          </a:prstGeom>
          <a:noFill/>
          <a:ln w="7144">
            <a:solidFill>
              <a:srgbClr val="0E7490"/>
            </a:solidFill>
            <a:prstDash val="solid"/>
          </a:ln>
        </p:spPr>
      </p:sp>
      <p:sp>
        <p:nvSpPr>
          <p:cNvPr id="74" name="Shape 64"/>
          <p:cNvSpPr/>
          <p:nvPr/>
        </p:nvSpPr>
        <p:spPr>
          <a:xfrm>
            <a:off x="8740378" y="3248174"/>
            <a:ext cx="0" cy="599182"/>
          </a:xfrm>
          <a:prstGeom prst="line">
            <a:avLst/>
          </a:prstGeom>
          <a:noFill/>
          <a:ln w="7144">
            <a:solidFill>
              <a:srgbClr val="0E7490"/>
            </a:solidFill>
            <a:prstDash val="solid"/>
          </a:ln>
        </p:spPr>
      </p:sp>
      <p:sp>
        <p:nvSpPr>
          <p:cNvPr id="75" name="Shape 65"/>
          <p:cNvSpPr/>
          <p:nvPr/>
        </p:nvSpPr>
        <p:spPr>
          <a:xfrm>
            <a:off x="4622006" y="3843784"/>
            <a:ext cx="4121944" cy="0"/>
          </a:xfrm>
          <a:prstGeom prst="line">
            <a:avLst/>
          </a:prstGeom>
          <a:noFill/>
          <a:ln w="7144">
            <a:solidFill>
              <a:srgbClr val="0E7490"/>
            </a:solidFill>
            <a:prstDash val="solid"/>
          </a:ln>
        </p:spPr>
      </p:sp>
      <p:sp>
        <p:nvSpPr>
          <p:cNvPr id="76" name="Shape 66"/>
          <p:cNvSpPr/>
          <p:nvPr/>
        </p:nvSpPr>
        <p:spPr>
          <a:xfrm>
            <a:off x="4632722" y="3248174"/>
            <a:ext cx="0" cy="599182"/>
          </a:xfrm>
          <a:prstGeom prst="line">
            <a:avLst/>
          </a:prstGeom>
          <a:noFill/>
          <a:ln w="21431">
            <a:solidFill>
              <a:srgbClr val="0E7490"/>
            </a:solidFill>
            <a:prstDash val="solid"/>
          </a:ln>
        </p:spPr>
      </p:sp>
      <p:sp>
        <p:nvSpPr>
          <p:cNvPr id="77" name="Text 67"/>
          <p:cNvSpPr/>
          <p:nvPr/>
        </p:nvSpPr>
        <p:spPr>
          <a:xfrm>
            <a:off x="4747022" y="3344614"/>
            <a:ext cx="250031" cy="250031"/>
          </a:xfrm>
          <a:prstGeom prst="roundRect">
            <a:avLst>
              <a:gd name="adj" fmla="val 30476"/>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78" name="Text 68"/>
          <p:cNvSpPr/>
          <p:nvPr/>
        </p:nvSpPr>
        <p:spPr>
          <a:xfrm>
            <a:off x="4768453" y="3366046"/>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79" name="Text 69"/>
          <p:cNvSpPr/>
          <p:nvPr/>
        </p:nvSpPr>
        <p:spPr>
          <a:xfrm>
            <a:off x="5086350" y="3341043"/>
            <a:ext cx="3660172" cy="139553"/>
          </a:xfrm>
          <a:prstGeom prst="rect">
            <a:avLst/>
          </a:prstGeom>
          <a:noFill/>
          <a:ln/>
        </p:spPr>
        <p:txBody>
          <a:bodyPr wrap="square" lIns="0" tIns="0" rIns="0" bIns="0" rtlCol="0" anchor="t">
            <a:normAutofit/>
          </a:bodyPr>
          <a:lstStyle/>
          <a:p>
            <a:pPr algn="l" indent="0" marL="0">
              <a:lnSpc>
                <a:spcPts val="1090"/>
              </a:lnSpc>
              <a:buNone/>
            </a:pPr>
            <a:r>
              <a:rPr lang="en-US" sz="800" spc="14" kern="0" dirty="0">
                <a:solidFill>
                  <a:srgbClr val="0E7490"/>
                </a:solidFill>
                <a:latin typeface="Carlito" pitchFamily="34" charset="0"/>
                <a:ea typeface="Carlito" pitchFamily="34" charset="-122"/>
                <a:cs typeface="Carlito" pitchFamily="34" charset="-120"/>
              </a:rPr>
              <a:t>PURE-PYTHON RAPIDOCR ARCHITECTURE</a:t>
            </a:r>
            <a:endParaRPr lang="en-US" sz="800" dirty="0"/>
          </a:p>
        </p:txBody>
      </p:sp>
      <p:sp>
        <p:nvSpPr>
          <p:cNvPr id="80" name="Text 70"/>
          <p:cNvSpPr/>
          <p:nvPr/>
        </p:nvSpPr>
        <p:spPr>
          <a:xfrm>
            <a:off x="5086350" y="3508028"/>
            <a:ext cx="3550444" cy="246459"/>
          </a:xfrm>
          <a:prstGeom prst="rect">
            <a:avLst/>
          </a:prstGeom>
          <a:noFill/>
          <a:ln/>
        </p:spPr>
        <p:txBody>
          <a:bodyPr wrap="square" lIns="0" tIns="0" rIns="0" bIns="0" rtlCol="0" anchor="t"/>
          <a:lstStyle/>
          <a:p>
            <a:pPr algn="l" indent="0" marL="0">
              <a:lnSpc>
                <a:spcPts val="970"/>
              </a:lnSpc>
              <a:buNone/>
            </a:pPr>
            <a:r>
              <a:rPr lang="en-US" sz="800" dirty="0">
                <a:solidFill>
                  <a:srgbClr val="475569"/>
                </a:solidFill>
                <a:latin typeface="Carlito" pitchFamily="34" charset="0"/>
                <a:ea typeface="Carlito" pitchFamily="34" charset="-122"/>
                <a:cs typeface="Carlito" pitchFamily="34" charset="-120"/>
              </a:rPr>
              <a:t>Eliminates complex system installations of Poppler or Tesseract in cloud containers. Single-pip install, zero system packages.</a:t>
            </a:r>
            <a:endParaRPr lang="en-US" sz="800" dirty="0"/>
          </a:p>
        </p:txBody>
      </p:sp>
      <p:sp>
        <p:nvSpPr>
          <p:cNvPr id="81" name="Shape 71"/>
          <p:cNvSpPr/>
          <p:nvPr/>
        </p:nvSpPr>
        <p:spPr>
          <a:xfrm>
            <a:off x="400050" y="4829175"/>
            <a:ext cx="8343900" cy="0"/>
          </a:xfrm>
          <a:prstGeom prst="line">
            <a:avLst/>
          </a:prstGeom>
          <a:noFill/>
          <a:ln w="7144">
            <a:solidFill>
              <a:srgbClr val="0F172A"/>
            </a:solidFill>
            <a:prstDash val="solid"/>
          </a:ln>
        </p:spPr>
      </p:sp>
      <p:sp>
        <p:nvSpPr>
          <p:cNvPr id="82" name="Text 72"/>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83" name="Text 73"/>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05 / 18</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068071"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482408" y="157163"/>
            <a:ext cx="1511879"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05 / 16 · HYBRID RETRIEVAL</a:t>
            </a:r>
            <a:endParaRPr lang="en-US" sz="600" dirty="0"/>
          </a:p>
        </p:txBody>
      </p:sp>
      <p:sp>
        <p:nvSpPr>
          <p:cNvPr id="6" name="Text 2"/>
          <p:cNvSpPr/>
          <p:nvPr/>
        </p:nvSpPr>
        <p:spPr>
          <a:xfrm>
            <a:off x="400050" y="557213"/>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HYBRID RETRIEVAL — DENSE FAISS + SPARSE BM25</a:t>
            </a:r>
            <a:endParaRPr lang="en-US" sz="800" dirty="0"/>
          </a:p>
        </p:txBody>
      </p:sp>
      <p:sp>
        <p:nvSpPr>
          <p:cNvPr id="7" name="Text 3"/>
          <p:cNvSpPr/>
          <p:nvPr/>
        </p:nvSpPr>
        <p:spPr>
          <a:xfrm>
            <a:off x="400050" y="725091"/>
            <a:ext cx="8636000" cy="240619"/>
          </a:xfrm>
          <a:prstGeom prst="rect">
            <a:avLst/>
          </a:prstGeom>
          <a:noFill/>
          <a:ln/>
        </p:spPr>
        <p:txBody>
          <a:bodyPr wrap="square" lIns="0" tIns="0" rIns="0" bIns="0" rtlCol="0" anchor="t"/>
          <a:lstStyle/>
          <a:p>
            <a:pPr algn="l" indent="0" marL="0">
              <a:lnSpc>
                <a:spcPts val="1755"/>
              </a:lnSpc>
              <a:buNone/>
            </a:pPr>
            <a:r>
              <a:rPr lang="en-US" sz="1463" spc="-15" kern="0" dirty="0">
                <a:solidFill>
                  <a:srgbClr val="0F172A"/>
                </a:solidFill>
                <a:latin typeface="Carlito" pitchFamily="34" charset="0"/>
                <a:ea typeface="Carlito" pitchFamily="34" charset="-122"/>
                <a:cs typeface="Carlito" pitchFamily="34" charset="-120"/>
              </a:rPr>
              <a:t>Combining Semantic Understanding with Lexical Precision</a:t>
            </a:r>
            <a:endParaRPr lang="en-US" sz="1463" dirty="0"/>
          </a:p>
        </p:txBody>
      </p:sp>
      <p:sp>
        <p:nvSpPr>
          <p:cNvPr id="8" name="Text 4"/>
          <p:cNvSpPr/>
          <p:nvPr/>
        </p:nvSpPr>
        <p:spPr>
          <a:xfrm>
            <a:off x="400050" y="1090761"/>
            <a:ext cx="4502683" cy="637133"/>
          </a:xfrm>
          <a:prstGeom prst="roundRect">
            <a:avLst>
              <a:gd name="adj" fmla="val 14950"/>
            </a:avLst>
          </a:prstGeom>
          <a:solidFill>
            <a:srgbClr val="F5EFE3"/>
          </a:solidFill>
          <a:ln/>
        </p:spPr>
        <p:txBody>
          <a:bodyPr wrap="square" rtlCol="0" anchor="ctr"/>
          <a:lstStyle/>
          <a:p>
            <a:pPr indent="0" marL="0">
              <a:buNone/>
            </a:pPr>
            <a:endParaRPr lang="en-US" dirty="0"/>
          </a:p>
        </p:txBody>
      </p:sp>
      <p:sp>
        <p:nvSpPr>
          <p:cNvPr id="9" name="Shape 5"/>
          <p:cNvSpPr/>
          <p:nvPr/>
        </p:nvSpPr>
        <p:spPr>
          <a:xfrm>
            <a:off x="400050" y="1094333"/>
            <a:ext cx="4502683" cy="0"/>
          </a:xfrm>
          <a:prstGeom prst="line">
            <a:avLst/>
          </a:prstGeom>
          <a:noFill/>
          <a:ln w="7144">
            <a:solidFill>
              <a:srgbClr val="0E7490"/>
            </a:solidFill>
            <a:prstDash val="solid"/>
          </a:ln>
        </p:spPr>
      </p:sp>
      <p:sp>
        <p:nvSpPr>
          <p:cNvPr id="10" name="Shape 6"/>
          <p:cNvSpPr/>
          <p:nvPr/>
        </p:nvSpPr>
        <p:spPr>
          <a:xfrm>
            <a:off x="4899161" y="1090761"/>
            <a:ext cx="0" cy="637133"/>
          </a:xfrm>
          <a:prstGeom prst="line">
            <a:avLst/>
          </a:prstGeom>
          <a:noFill/>
          <a:ln w="7144">
            <a:solidFill>
              <a:srgbClr val="0E7490"/>
            </a:solidFill>
            <a:prstDash val="solid"/>
          </a:ln>
        </p:spPr>
      </p:sp>
      <p:sp>
        <p:nvSpPr>
          <p:cNvPr id="11" name="Shape 7"/>
          <p:cNvSpPr/>
          <p:nvPr/>
        </p:nvSpPr>
        <p:spPr>
          <a:xfrm>
            <a:off x="400050" y="1724323"/>
            <a:ext cx="4502683" cy="0"/>
          </a:xfrm>
          <a:prstGeom prst="line">
            <a:avLst/>
          </a:prstGeom>
          <a:noFill/>
          <a:ln w="7144">
            <a:solidFill>
              <a:srgbClr val="0E7490"/>
            </a:solidFill>
            <a:prstDash val="solid"/>
          </a:ln>
        </p:spPr>
      </p:sp>
      <p:sp>
        <p:nvSpPr>
          <p:cNvPr id="12" name="Shape 8"/>
          <p:cNvSpPr/>
          <p:nvPr/>
        </p:nvSpPr>
        <p:spPr>
          <a:xfrm>
            <a:off x="410766" y="1090761"/>
            <a:ext cx="0" cy="637133"/>
          </a:xfrm>
          <a:prstGeom prst="line">
            <a:avLst/>
          </a:prstGeom>
          <a:noFill/>
          <a:ln w="21431">
            <a:solidFill>
              <a:srgbClr val="0E7490"/>
            </a:solidFill>
            <a:prstDash val="solid"/>
          </a:ln>
        </p:spPr>
      </p:sp>
      <p:sp>
        <p:nvSpPr>
          <p:cNvPr id="13" name="Text 9"/>
          <p:cNvSpPr/>
          <p:nvPr/>
        </p:nvSpPr>
        <p:spPr>
          <a:xfrm>
            <a:off x="525066" y="1187202"/>
            <a:ext cx="264319" cy="264319"/>
          </a:xfrm>
          <a:prstGeom prst="roundRect">
            <a:avLst>
              <a:gd name="adj" fmla="val 3243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4" name="Text 10"/>
          <p:cNvSpPr/>
          <p:nvPr/>
        </p:nvSpPr>
        <p:spPr>
          <a:xfrm>
            <a:off x="543282" y="1205419"/>
            <a:ext cx="227886" cy="227886"/>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15" name="Text 11"/>
          <p:cNvSpPr/>
          <p:nvPr/>
        </p:nvSpPr>
        <p:spPr>
          <a:xfrm>
            <a:off x="878681" y="1183630"/>
            <a:ext cx="4026624" cy="156073"/>
          </a:xfrm>
          <a:prstGeom prst="rect">
            <a:avLst/>
          </a:prstGeom>
          <a:noFill/>
          <a:ln/>
        </p:spPr>
        <p:txBody>
          <a:bodyPr wrap="square" lIns="0" tIns="0" rIns="0" bIns="0" rtlCol="0" anchor="t">
            <a:normAutofit/>
          </a:bodyPr>
          <a:lstStyle/>
          <a:p>
            <a:pPr algn="l" indent="0" marL="0">
              <a:lnSpc>
                <a:spcPts val="1221"/>
              </a:lnSpc>
              <a:buNone/>
            </a:pPr>
            <a:r>
              <a:rPr lang="en-US" sz="800" spc="8" kern="0" dirty="0">
                <a:solidFill>
                  <a:srgbClr val="0F172A"/>
                </a:solidFill>
                <a:latin typeface="Carlito" pitchFamily="34" charset="0"/>
                <a:ea typeface="Carlito" pitchFamily="34" charset="-122"/>
                <a:cs typeface="Carlito" pitchFamily="34" charset="-120"/>
              </a:rPr>
              <a:t>Dense Vector Search — FAISS</a:t>
            </a:r>
            <a:endParaRPr lang="en-US" sz="800" dirty="0"/>
          </a:p>
        </p:txBody>
      </p:sp>
      <p:sp>
        <p:nvSpPr>
          <p:cNvPr id="16" name="Text 12"/>
          <p:cNvSpPr/>
          <p:nvPr/>
        </p:nvSpPr>
        <p:spPr>
          <a:xfrm>
            <a:off x="878681" y="1367135"/>
            <a:ext cx="3916896" cy="267891"/>
          </a:xfrm>
          <a:prstGeom prst="rect">
            <a:avLst/>
          </a:prstGeom>
          <a:noFill/>
          <a:ln/>
        </p:spPr>
        <p:txBody>
          <a:bodyPr wrap="square" lIns="0" tIns="0" rIns="0" bIns="0" rtlCol="0" anchor="t"/>
          <a:lstStyle/>
          <a:p>
            <a:pPr algn="l" indent="0" marL="0">
              <a:lnSpc>
                <a:spcPts val="1055"/>
              </a:lnSpc>
              <a:buNone/>
            </a:pPr>
            <a:r>
              <a:rPr lang="en-US" sz="800" dirty="0">
                <a:solidFill>
                  <a:srgbClr val="0E7490"/>
                </a:solidFill>
                <a:latin typeface="Liberation Sans Narrow" pitchFamily="34" charset="0"/>
                <a:ea typeface="Liberation Sans Narrow" pitchFamily="34" charset="-122"/>
                <a:cs typeface="Liberation Sans Narrow" pitchFamily="34" charset="-120"/>
              </a:rPr>
              <a:t>all-MiniLM-L6-v2 · 384 dimensions.</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 Captures high-level concepts, intent, and synonyms. Best for conceptual queries.</a:t>
            </a:r>
            <a:endParaRPr lang="en-US" sz="800" dirty="0"/>
          </a:p>
        </p:txBody>
      </p:sp>
      <p:sp>
        <p:nvSpPr>
          <p:cNvPr id="17" name="Text 13"/>
          <p:cNvSpPr/>
          <p:nvPr/>
        </p:nvSpPr>
        <p:spPr>
          <a:xfrm>
            <a:off x="400050" y="1813620"/>
            <a:ext cx="4502683" cy="637133"/>
          </a:xfrm>
          <a:prstGeom prst="roundRect">
            <a:avLst>
              <a:gd name="adj" fmla="val 14950"/>
            </a:avLst>
          </a:prstGeom>
          <a:solidFill>
            <a:srgbClr val="F5EFE3"/>
          </a:solidFill>
          <a:ln/>
        </p:spPr>
        <p:txBody>
          <a:bodyPr wrap="square" rtlCol="0" anchor="ctr"/>
          <a:lstStyle/>
          <a:p>
            <a:pPr indent="0" marL="0">
              <a:buNone/>
            </a:pPr>
            <a:endParaRPr lang="en-US" dirty="0"/>
          </a:p>
        </p:txBody>
      </p:sp>
      <p:sp>
        <p:nvSpPr>
          <p:cNvPr id="18" name="Shape 14"/>
          <p:cNvSpPr/>
          <p:nvPr/>
        </p:nvSpPr>
        <p:spPr>
          <a:xfrm>
            <a:off x="400050" y="1817191"/>
            <a:ext cx="4502683" cy="0"/>
          </a:xfrm>
          <a:prstGeom prst="line">
            <a:avLst/>
          </a:prstGeom>
          <a:noFill/>
          <a:ln w="7144">
            <a:solidFill>
              <a:srgbClr val="0E7490"/>
            </a:solidFill>
            <a:prstDash val="solid"/>
          </a:ln>
        </p:spPr>
      </p:sp>
      <p:sp>
        <p:nvSpPr>
          <p:cNvPr id="19" name="Shape 15"/>
          <p:cNvSpPr/>
          <p:nvPr/>
        </p:nvSpPr>
        <p:spPr>
          <a:xfrm>
            <a:off x="4899161" y="1813620"/>
            <a:ext cx="0" cy="637133"/>
          </a:xfrm>
          <a:prstGeom prst="line">
            <a:avLst/>
          </a:prstGeom>
          <a:noFill/>
          <a:ln w="7144">
            <a:solidFill>
              <a:srgbClr val="0E7490"/>
            </a:solidFill>
            <a:prstDash val="solid"/>
          </a:ln>
        </p:spPr>
      </p:sp>
      <p:sp>
        <p:nvSpPr>
          <p:cNvPr id="20" name="Shape 16"/>
          <p:cNvSpPr/>
          <p:nvPr/>
        </p:nvSpPr>
        <p:spPr>
          <a:xfrm>
            <a:off x="400050" y="2447181"/>
            <a:ext cx="4502683" cy="0"/>
          </a:xfrm>
          <a:prstGeom prst="line">
            <a:avLst/>
          </a:prstGeom>
          <a:noFill/>
          <a:ln w="7144">
            <a:solidFill>
              <a:srgbClr val="0E7490"/>
            </a:solidFill>
            <a:prstDash val="solid"/>
          </a:ln>
        </p:spPr>
      </p:sp>
      <p:sp>
        <p:nvSpPr>
          <p:cNvPr id="21" name="Shape 17"/>
          <p:cNvSpPr/>
          <p:nvPr/>
        </p:nvSpPr>
        <p:spPr>
          <a:xfrm>
            <a:off x="410766" y="1813620"/>
            <a:ext cx="0" cy="637133"/>
          </a:xfrm>
          <a:prstGeom prst="line">
            <a:avLst/>
          </a:prstGeom>
          <a:noFill/>
          <a:ln w="21431">
            <a:solidFill>
              <a:srgbClr val="0E7490"/>
            </a:solidFill>
            <a:prstDash val="solid"/>
          </a:ln>
        </p:spPr>
      </p:sp>
      <p:sp>
        <p:nvSpPr>
          <p:cNvPr id="22" name="Text 18"/>
          <p:cNvSpPr/>
          <p:nvPr/>
        </p:nvSpPr>
        <p:spPr>
          <a:xfrm>
            <a:off x="525066" y="1910060"/>
            <a:ext cx="264319" cy="264319"/>
          </a:xfrm>
          <a:prstGeom prst="roundRect">
            <a:avLst>
              <a:gd name="adj" fmla="val 3243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3" name="Text 19"/>
          <p:cNvSpPr/>
          <p:nvPr/>
        </p:nvSpPr>
        <p:spPr>
          <a:xfrm>
            <a:off x="543282" y="1928277"/>
            <a:ext cx="227886" cy="227886"/>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24" name="Text 20"/>
          <p:cNvSpPr/>
          <p:nvPr/>
        </p:nvSpPr>
        <p:spPr>
          <a:xfrm>
            <a:off x="878681" y="1906488"/>
            <a:ext cx="4026624" cy="156073"/>
          </a:xfrm>
          <a:prstGeom prst="rect">
            <a:avLst/>
          </a:prstGeom>
          <a:noFill/>
          <a:ln/>
        </p:spPr>
        <p:txBody>
          <a:bodyPr wrap="square" lIns="0" tIns="0" rIns="0" bIns="0" rtlCol="0" anchor="t">
            <a:normAutofit/>
          </a:bodyPr>
          <a:lstStyle/>
          <a:p>
            <a:pPr algn="l" indent="0" marL="0">
              <a:lnSpc>
                <a:spcPts val="1221"/>
              </a:lnSpc>
              <a:buNone/>
            </a:pPr>
            <a:r>
              <a:rPr lang="en-US" sz="800" spc="8" kern="0" dirty="0">
                <a:solidFill>
                  <a:srgbClr val="0F172A"/>
                </a:solidFill>
                <a:latin typeface="Liberation Sans Narrow" pitchFamily="34" charset="0"/>
                <a:ea typeface="Liberation Sans Narrow" pitchFamily="34" charset="-122"/>
                <a:cs typeface="Liberation Sans Narrow" pitchFamily="34" charset="-120"/>
              </a:rPr>
              <a:t>Sparse Keyword Search — BM25Okapi</a:t>
            </a:r>
            <a:endParaRPr lang="en-US" sz="800" dirty="0"/>
          </a:p>
        </p:txBody>
      </p:sp>
      <p:sp>
        <p:nvSpPr>
          <p:cNvPr id="25" name="Text 21"/>
          <p:cNvSpPr/>
          <p:nvPr/>
        </p:nvSpPr>
        <p:spPr>
          <a:xfrm>
            <a:off x="878681" y="2089993"/>
            <a:ext cx="3916896" cy="267891"/>
          </a:xfrm>
          <a:prstGeom prst="rect">
            <a:avLst/>
          </a:prstGeom>
          <a:noFill/>
          <a:ln/>
        </p:spPr>
        <p:txBody>
          <a:bodyPr wrap="square" lIns="0" tIns="0" rIns="0" bIns="0" rtlCol="0" anchor="t"/>
          <a:lstStyle/>
          <a:p>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Guarantees 100% precision on administrative order numbers, acronyms (</a:t>
            </a:r>
            <a:pPr algn="l" indent="0" marL="0">
              <a:lnSpc>
                <a:spcPts val="1055"/>
              </a:lnSpc>
              <a:buNone/>
            </a:pPr>
            <a:r>
              <a:rPr lang="en-US" sz="800" dirty="0">
                <a:solidFill>
                  <a:srgbClr val="0E7490"/>
                </a:solidFill>
                <a:latin typeface="Courier New" pitchFamily="34" charset="0"/>
                <a:ea typeface="Courier New" pitchFamily="34" charset="-122"/>
                <a:cs typeface="Courier New" pitchFamily="34" charset="-120"/>
              </a:rPr>
              <a:t>SBOTE</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 and fee amounts (</a:t>
            </a:r>
            <a:pPr algn="l" indent="0" marL="0">
              <a:lnSpc>
                <a:spcPts val="1055"/>
              </a:lnSpc>
              <a:buNone/>
            </a:pPr>
            <a:r>
              <a:rPr lang="en-US" sz="800" dirty="0">
                <a:solidFill>
                  <a:srgbClr val="0E7490"/>
                </a:solidFill>
                <a:latin typeface="Liberation Sans Narrow" pitchFamily="34" charset="0"/>
                <a:ea typeface="Liberation Sans Narrow" pitchFamily="34" charset="-122"/>
                <a:cs typeface="Liberation Sans Narrow" pitchFamily="34" charset="-120"/>
              </a:rPr>
              <a:t>Rs. 2,200</a:t>
            </a:r>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a:t>
            </a:r>
            <a:endParaRPr lang="en-US" sz="800" dirty="0"/>
          </a:p>
        </p:txBody>
      </p:sp>
      <p:pic>
        <p:nvPicPr>
          <p:cNvPr id="26" name="Image 2" descr="preencoded.png">    </p:cNvPr>
          <p:cNvPicPr>
            <a:picLocks noChangeAspect="1"/>
          </p:cNvPicPr>
          <p:nvPr/>
        </p:nvPicPr>
        <p:blipFill>
          <a:blip r:embed="rId3"/>
          <a:stretch>
            <a:fillRect/>
          </a:stretch>
        </p:blipFill>
        <p:spPr>
          <a:xfrm>
            <a:off x="400050" y="2536478"/>
            <a:ext cx="4502683" cy="1331305"/>
          </a:xfrm>
          <a:prstGeom prst="rect">
            <a:avLst/>
          </a:prstGeom>
        </p:spPr>
      </p:pic>
      <p:sp>
        <p:nvSpPr>
          <p:cNvPr id="27" name="Text 22"/>
          <p:cNvSpPr/>
          <p:nvPr/>
        </p:nvSpPr>
        <p:spPr>
          <a:xfrm>
            <a:off x="403622" y="2540050"/>
            <a:ext cx="4495540" cy="1324161"/>
          </a:xfrm>
          <a:prstGeom prst="roundRect">
            <a:avLst>
              <a:gd name="adj" fmla="val 8632"/>
            </a:avLst>
          </a:prstGeom>
          <a:noFill/>
          <a:ln w="7144">
            <a:solidFill>
              <a:srgbClr val="0E7490"/>
            </a:solidFill>
            <a:prstDash val="solid"/>
          </a:ln>
          <a:effectLst>
            <a:outerShdw sx="100000" sy="100000" kx="0" ky="0" algn="bl" rotWithShape="0" blurRad="228600" dist="57150" dir="5400000">
              <a:srgbClr val="06B6D4">
                <a:alpha val="6000"/>
              </a:srgbClr>
            </a:outerShdw>
          </a:effectLst>
        </p:spPr>
        <p:txBody>
          <a:bodyPr wrap="square" rtlCol="0" anchor="ctr"/>
          <a:lstStyle/>
          <a:p>
            <a:pPr indent="0" marL="0">
              <a:buNone/>
            </a:pPr>
            <a:endParaRPr lang="en-US" dirty="0"/>
          </a:p>
        </p:txBody>
      </p:sp>
      <p:sp>
        <p:nvSpPr>
          <p:cNvPr id="28" name="Text 23"/>
          <p:cNvSpPr/>
          <p:nvPr/>
        </p:nvSpPr>
        <p:spPr>
          <a:xfrm>
            <a:off x="521494" y="2643634"/>
            <a:ext cx="4369524" cy="145916"/>
          </a:xfrm>
          <a:prstGeom prst="rect">
            <a:avLst/>
          </a:prstGeom>
          <a:noFill/>
          <a:ln/>
        </p:spPr>
        <p:txBody>
          <a:bodyPr wrap="square" lIns="0" tIns="0" rIns="0" bIns="0" rtlCol="0" anchor="t">
            <a:normAutofit/>
          </a:bodyPr>
          <a:lstStyle/>
          <a:p>
            <a:pPr algn="l" indent="0" marL="0">
              <a:lnSpc>
                <a:spcPts val="915"/>
              </a:lnSpc>
              <a:buNone/>
            </a:pPr>
            <a:r>
              <a:rPr lang="en-US" sz="800" spc="106" kern="0" dirty="0">
                <a:solidFill>
                  <a:srgbClr val="0E7490"/>
                </a:solidFill>
                <a:latin typeface="Courier New" pitchFamily="34" charset="0"/>
                <a:ea typeface="Courier New" pitchFamily="34" charset="-122"/>
                <a:cs typeface="Courier New" pitchFamily="34" charset="-120"/>
              </a:rPr>
              <a:t>RECIPROCAL RANK FUSION (RRF)</a:t>
            </a:r>
            <a:endParaRPr lang="en-US" sz="800" dirty="0"/>
          </a:p>
        </p:txBody>
      </p:sp>
      <p:sp>
        <p:nvSpPr>
          <p:cNvPr id="29" name="Text 24"/>
          <p:cNvSpPr/>
          <p:nvPr/>
        </p:nvSpPr>
        <p:spPr>
          <a:xfrm>
            <a:off x="525066" y="2820553"/>
            <a:ext cx="4252652" cy="509885"/>
          </a:xfrm>
          <a:prstGeom prst="roundRect">
            <a:avLst>
              <a:gd name="adj" fmla="val 14945"/>
            </a:avLst>
          </a:prstGeom>
          <a:solidFill>
            <a:srgbClr val="06B6D4">
              <a:alpha val="6000"/>
            </a:srgbClr>
          </a:solidFill>
          <a:ln w="7144">
            <a:solidFill>
              <a:srgbClr val="0E7490"/>
            </a:solidFill>
            <a:prstDash val="solid"/>
          </a:ln>
        </p:spPr>
        <p:txBody>
          <a:bodyPr wrap="square" rtlCol="0" anchor="ctr"/>
          <a:lstStyle/>
          <a:p>
            <a:pPr indent="0" marL="0">
              <a:buNone/>
            </a:pPr>
            <a:endParaRPr lang="en-US" dirty="0"/>
          </a:p>
        </p:txBody>
      </p:sp>
      <p:sp>
        <p:nvSpPr>
          <p:cNvPr id="30" name="Text 25"/>
          <p:cNvSpPr/>
          <p:nvPr/>
        </p:nvSpPr>
        <p:spPr>
          <a:xfrm>
            <a:off x="521494" y="2816982"/>
            <a:ext cx="4259796" cy="558391"/>
          </a:xfrm>
          <a:prstGeom prst="rect">
            <a:avLst/>
          </a:prstGeom>
          <a:noFill/>
          <a:ln/>
        </p:spPr>
        <p:txBody>
          <a:bodyPr wrap="square" lIns="71438" tIns="85725" rIns="71438" bIns="85725" rtlCol="0" anchor="t"/>
          <a:lstStyle/>
          <a:p>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RRF_Score(d)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a:t>
            </a:r>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 </a:t>
            </a:r>
            <a:pPr algn="ctr" indent="0" marL="0">
              <a:lnSpc>
                <a:spcPts val="1305"/>
              </a:lnSpc>
              <a:buNone/>
            </a:pPr>
            <a:r>
              <a:rPr lang="en-US" sz="816" spc="8" kern="0" dirty="0">
                <a:solidFill>
                  <a:srgbClr val="0E7490"/>
                </a:solidFill>
                <a:latin typeface="Courier New" pitchFamily="34" charset="0"/>
                <a:ea typeface="Courier New" pitchFamily="34" charset="-122"/>
                <a:cs typeface="Courier New" pitchFamily="34" charset="-120"/>
              </a:rPr>
              <a:t>α</a:t>
            </a:r>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a:t>
            </a:r>
            <a:pPr algn="ctr" indent="0" marL="0">
              <a:lnSpc>
                <a:spcPts val="1305"/>
              </a:lnSpc>
              <a:buNone/>
            </a:pPr>
            <a:r>
              <a:rPr lang="en-US" sz="816" spc="8" kern="0" dirty="0">
                <a:solidFill>
                  <a:srgbClr val="0F172A"/>
                </a:solidFill>
                <a:latin typeface="Liberation Sans Narrow" pitchFamily="34" charset="0"/>
                <a:ea typeface="Liberation Sans Narrow" pitchFamily="34" charset="-122"/>
                <a:cs typeface="Liberation Sans Narrow" pitchFamily="34" charset="-120"/>
              </a:rPr>
              <a:t> 1 / (k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a:t>
            </a:r>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 rank_dense(d))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 +</a:t>
            </a:r>
            <a:pPr algn="ctr" indent="0" marL="0">
              <a:lnSpc>
                <a:spcPts val="1305"/>
              </a:lnSpc>
              <a:buNone/>
            </a:pPr>
            <a:r>
              <a:rPr lang="en-US" sz="816" spc="8" kern="0" dirty="0">
                <a:solidFill>
                  <a:srgbClr val="0F172A"/>
                </a:solidFill>
                <a:latin typeface="Liberation Sans Narrow" pitchFamily="34" charset="0"/>
                <a:ea typeface="Liberation Sans Narrow" pitchFamily="34" charset="-122"/>
                <a:cs typeface="Liberation Sans Narrow" pitchFamily="34" charset="-120"/>
              </a:rPr>
              <a:t> (1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a:t>
            </a:r>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 </a:t>
            </a:r>
            <a:pPr algn="ctr" indent="0" marL="0">
              <a:lnSpc>
                <a:spcPts val="1305"/>
              </a:lnSpc>
              <a:buNone/>
            </a:pPr>
            <a:r>
              <a:rPr lang="en-US" sz="816" spc="8" kern="0" dirty="0">
                <a:solidFill>
                  <a:srgbClr val="0E7490"/>
                </a:solidFill>
                <a:latin typeface="Courier New" pitchFamily="34" charset="0"/>
                <a:ea typeface="Courier New" pitchFamily="34" charset="-122"/>
                <a:cs typeface="Courier New" pitchFamily="34" charset="-120"/>
              </a:rPr>
              <a:t>α</a:t>
            </a:r>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a:t>
            </a:r>
            <a:pPr algn="ctr" indent="0" marL="0">
              <a:lnSpc>
                <a:spcPts val="1305"/>
              </a:lnSpc>
              <a:buNone/>
            </a:pPr>
            <a:r>
              <a:rPr lang="en-US" sz="816" spc="8" kern="0" dirty="0">
                <a:solidFill>
                  <a:srgbClr val="0F172A"/>
                </a:solidFill>
                <a:latin typeface="Liberation Sans Narrow" pitchFamily="34" charset="0"/>
                <a:ea typeface="Liberation Sans Narrow" pitchFamily="34" charset="-122"/>
                <a:cs typeface="Liberation Sans Narrow" pitchFamily="34" charset="-120"/>
              </a:rPr>
              <a:t> 1 / (k </a:t>
            </a:r>
            <a:pPr algn="ctr" indent="0" marL="0">
              <a:lnSpc>
                <a:spcPts val="1305"/>
              </a:lnSpc>
              <a:buNone/>
            </a:pPr>
            <a:r>
              <a:rPr lang="en-US" sz="816" b="1" spc="8" kern="0" dirty="0">
                <a:solidFill>
                  <a:srgbClr val="0E7490"/>
                </a:solidFill>
                <a:latin typeface="Courier New" pitchFamily="34" charset="0"/>
                <a:ea typeface="Courier New" pitchFamily="34" charset="-122"/>
                <a:cs typeface="Courier New" pitchFamily="34" charset="-120"/>
              </a:rPr>
              <a:t>+</a:t>
            </a:r>
            <a:pPr algn="ctr" indent="0" marL="0">
              <a:lnSpc>
                <a:spcPts val="1305"/>
              </a:lnSpc>
              <a:buNone/>
            </a:pPr>
            <a:r>
              <a:rPr lang="en-US" sz="816" spc="8" kern="0" dirty="0">
                <a:solidFill>
                  <a:srgbClr val="0F172A"/>
                </a:solidFill>
                <a:latin typeface="Courier New" pitchFamily="34" charset="0"/>
                <a:ea typeface="Courier New" pitchFamily="34" charset="-122"/>
                <a:cs typeface="Courier New" pitchFamily="34" charset="-120"/>
              </a:rPr>
              <a:t> rank_sparse(d))</a:t>
            </a:r>
            <a:endParaRPr lang="en-US" sz="816" dirty="0"/>
          </a:p>
        </p:txBody>
      </p:sp>
      <p:sp>
        <p:nvSpPr>
          <p:cNvPr id="31" name="Text 26"/>
          <p:cNvSpPr/>
          <p:nvPr/>
        </p:nvSpPr>
        <p:spPr>
          <a:xfrm>
            <a:off x="2198824" y="3394712"/>
            <a:ext cx="440792" cy="200400"/>
          </a:xfrm>
          <a:prstGeom prst="roundRect">
            <a:avLst>
              <a:gd name="adj" fmla="val 4748241"/>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32" name="Text 27"/>
          <p:cNvSpPr/>
          <p:nvPr/>
        </p:nvSpPr>
        <p:spPr>
          <a:xfrm>
            <a:off x="2198824" y="3405448"/>
            <a:ext cx="440792" cy="178929"/>
          </a:xfrm>
          <a:prstGeom prst="rect">
            <a:avLst/>
          </a:prstGeom>
          <a:noFill/>
          <a:ln/>
        </p:spPr>
        <p:txBody>
          <a:bodyPr wrap="none" lIns="0" tIns="0" rIns="0" bIns="0" rtlCol="0" anchor="ctr"/>
          <a:lstStyle/>
          <a:p>
            <a:pPr algn="ctr" indent="0" marL="0">
              <a:lnSpc>
                <a:spcPts val="959"/>
              </a:lnSpc>
              <a:buNone/>
            </a:pPr>
            <a:r>
              <a:rPr lang="en-US" sz="800" dirty="0">
                <a:solidFill>
                  <a:srgbClr val="0E7490"/>
                </a:solidFill>
                <a:latin typeface="Courier New" pitchFamily="34" charset="0"/>
                <a:ea typeface="Courier New" pitchFamily="34" charset="-122"/>
                <a:cs typeface="Courier New" pitchFamily="34" charset="-120"/>
              </a:rPr>
              <a:t>α = 0.5</a:t>
            </a:r>
            <a:endParaRPr lang="en-US" sz="800" dirty="0"/>
          </a:p>
        </p:txBody>
      </p:sp>
      <p:sp>
        <p:nvSpPr>
          <p:cNvPr id="33" name="Text 28"/>
          <p:cNvSpPr/>
          <p:nvPr/>
        </p:nvSpPr>
        <p:spPr>
          <a:xfrm>
            <a:off x="2711053" y="3394712"/>
            <a:ext cx="392906" cy="200400"/>
          </a:xfrm>
          <a:prstGeom prst="roundRect">
            <a:avLst>
              <a:gd name="adj" fmla="val 4748241"/>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34" name="Text 29"/>
          <p:cNvSpPr/>
          <p:nvPr/>
        </p:nvSpPr>
        <p:spPr>
          <a:xfrm>
            <a:off x="2711053" y="3405448"/>
            <a:ext cx="392906" cy="178929"/>
          </a:xfrm>
          <a:prstGeom prst="rect">
            <a:avLst/>
          </a:prstGeom>
          <a:noFill/>
          <a:ln/>
        </p:spPr>
        <p:txBody>
          <a:bodyPr wrap="none" lIns="0" tIns="0" rIns="0" bIns="0" rtlCol="0" anchor="ctr"/>
          <a:lstStyle/>
          <a:p>
            <a:pPr algn="ctr" indent="0" marL="0">
              <a:lnSpc>
                <a:spcPts val="959"/>
              </a:lnSpc>
              <a:buNone/>
            </a:pPr>
            <a:r>
              <a:rPr lang="en-US" sz="800" dirty="0">
                <a:solidFill>
                  <a:srgbClr val="0E7490"/>
                </a:solidFill>
                <a:latin typeface="Liberation Sans Narrow" pitchFamily="34" charset="0"/>
                <a:ea typeface="Liberation Sans Narrow" pitchFamily="34" charset="-122"/>
                <a:cs typeface="Liberation Sans Narrow" pitchFamily="34" charset="-120"/>
              </a:rPr>
              <a:t>k = 60</a:t>
            </a:r>
            <a:endParaRPr lang="en-US" sz="800" dirty="0"/>
          </a:p>
        </p:txBody>
      </p:sp>
      <p:sp>
        <p:nvSpPr>
          <p:cNvPr id="35" name="Text 30"/>
          <p:cNvSpPr/>
          <p:nvPr/>
        </p:nvSpPr>
        <p:spPr>
          <a:xfrm>
            <a:off x="521494" y="3655814"/>
            <a:ext cx="4259796" cy="119100"/>
          </a:xfrm>
          <a:prstGeom prst="rect">
            <a:avLst/>
          </a:prstGeom>
          <a:noFill/>
          <a:ln/>
        </p:spPr>
        <p:txBody>
          <a:bodyPr wrap="square" lIns="0" tIns="0" rIns="0" bIns="0" rtlCol="0" anchor="t"/>
          <a:lstStyle/>
          <a:p>
            <a:pPr algn="ctr" indent="0" marL="0">
              <a:lnSpc>
                <a:spcPts val="938"/>
              </a:lnSpc>
              <a:buNone/>
            </a:pPr>
            <a:r>
              <a:rPr lang="en-US" sz="800" dirty="0">
                <a:solidFill>
                  <a:srgbClr val="475569"/>
                </a:solidFill>
                <a:latin typeface="Carlito" pitchFamily="34" charset="0"/>
                <a:ea typeface="Carlito" pitchFamily="34" charset="-122"/>
                <a:cs typeface="Carlito" pitchFamily="34" charset="-120"/>
              </a:rPr>
              <a:t>Combines distinct rank spaces without needing score normalization.</a:t>
            </a:r>
            <a:endParaRPr lang="en-US" sz="800" dirty="0"/>
          </a:p>
        </p:txBody>
      </p:sp>
      <p:sp>
        <p:nvSpPr>
          <p:cNvPr id="36" name="Text 31"/>
          <p:cNvSpPr/>
          <p:nvPr/>
        </p:nvSpPr>
        <p:spPr>
          <a:xfrm>
            <a:off x="5063468" y="1094333"/>
            <a:ext cx="3676910" cy="3278981"/>
          </a:xfrm>
          <a:prstGeom prst="roundRect">
            <a:avLst>
              <a:gd name="adj" fmla="val 4067"/>
            </a:avLst>
          </a:prstGeom>
          <a:solidFill>
            <a:srgbClr val="0B1426">
              <a:alpha val="40000"/>
            </a:srgbClr>
          </a:solidFill>
          <a:ln w="7144">
            <a:solidFill>
              <a:srgbClr val="0F172A"/>
            </a:solidFill>
            <a:prstDash val="solid"/>
          </a:ln>
        </p:spPr>
        <p:txBody>
          <a:bodyPr wrap="square" rtlCol="0" anchor="ctr"/>
          <a:lstStyle/>
          <a:p>
            <a:pPr indent="0" marL="0">
              <a:buNone/>
            </a:pPr>
            <a:endParaRPr lang="en-US" dirty="0"/>
          </a:p>
        </p:txBody>
      </p:sp>
      <p:sp>
        <p:nvSpPr>
          <p:cNvPr id="37" name="Text 32"/>
          <p:cNvSpPr/>
          <p:nvPr/>
        </p:nvSpPr>
        <p:spPr>
          <a:xfrm>
            <a:off x="5256349" y="1215777"/>
            <a:ext cx="1278731" cy="535781"/>
          </a:xfrm>
          <a:prstGeom prst="roundRect">
            <a:avLst>
              <a:gd name="adj" fmla="val 17778"/>
            </a:avLst>
          </a:prstGeom>
          <a:solidFill>
            <a:srgbClr val="FFFFFF"/>
          </a:solidFill>
          <a:ln w="7144">
            <a:solidFill>
              <a:srgbClr val="0E7490"/>
            </a:solidFill>
            <a:prstDash val="solid"/>
          </a:ln>
        </p:spPr>
        <p:txBody>
          <a:bodyPr wrap="square" rtlCol="0" anchor="ctr"/>
          <a:lstStyle/>
          <a:p>
            <a:pPr indent="0" marL="0">
              <a:buNone/>
            </a:pPr>
            <a:endParaRPr lang="en-US" dirty="0"/>
          </a:p>
        </p:txBody>
      </p:sp>
      <p:sp>
        <p:nvSpPr>
          <p:cNvPr id="38" name="Text 33"/>
          <p:cNvSpPr/>
          <p:nvPr/>
        </p:nvSpPr>
        <p:spPr>
          <a:xfrm>
            <a:off x="5345646" y="1352513"/>
            <a:ext cx="128588" cy="128588"/>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39" name="Text 34"/>
          <p:cNvSpPr/>
          <p:nvPr/>
        </p:nvSpPr>
        <p:spPr>
          <a:xfrm>
            <a:off x="5517096" y="1347601"/>
            <a:ext cx="928688" cy="170078"/>
          </a:xfrm>
          <a:prstGeom prst="rect">
            <a:avLst/>
          </a:prstGeom>
          <a:noFill/>
          <a:ln/>
        </p:spPr>
        <p:txBody>
          <a:bodyPr wrap="none" lIns="0" tIns="0" rIns="0" bIns="0" rtlCol="0" anchor="t"/>
          <a:lstStyle/>
          <a:p>
            <a:pPr algn="l" indent="0" marL="0">
              <a:lnSpc>
                <a:spcPts val="1090"/>
              </a:lnSpc>
              <a:buNone/>
            </a:pPr>
            <a:r>
              <a:rPr lang="en-US" sz="800" dirty="0">
                <a:solidFill>
                  <a:srgbClr val="0F172A"/>
                </a:solidFill>
                <a:latin typeface="Carlito" pitchFamily="34" charset="0"/>
                <a:ea typeface="Carlito" pitchFamily="34" charset="-122"/>
                <a:cs typeface="Carlito" pitchFamily="34" charset="-120"/>
              </a:rPr>
              <a:t>FAISS</a:t>
            </a:r>
            <a:endParaRPr lang="en-US" sz="800" dirty="0"/>
          </a:p>
        </p:txBody>
      </p:sp>
      <p:sp>
        <p:nvSpPr>
          <p:cNvPr id="40" name="Text 35"/>
          <p:cNvSpPr/>
          <p:nvPr/>
        </p:nvSpPr>
        <p:spPr>
          <a:xfrm>
            <a:off x="5345646" y="1514587"/>
            <a:ext cx="1100138" cy="161962"/>
          </a:xfrm>
          <a:prstGeom prst="rect">
            <a:avLst/>
          </a:prstGeom>
          <a:noFill/>
          <a:ln/>
        </p:spPr>
        <p:txBody>
          <a:bodyPr wrap="none" lIns="0" tIns="0" rIns="0" bIns="0" rtlCol="0" anchor="t"/>
          <a:lstStyle/>
          <a:p>
            <a:pPr algn="l" indent="0" marL="0">
              <a:lnSpc>
                <a:spcPts val="828"/>
              </a:lnSpc>
              <a:buNone/>
            </a:pPr>
            <a:r>
              <a:rPr lang="en-US" sz="800" spc="64" kern="0" dirty="0">
                <a:solidFill>
                  <a:srgbClr val="0E7490"/>
                </a:solidFill>
                <a:latin typeface="Courier New" pitchFamily="34" charset="0"/>
                <a:ea typeface="Courier New" pitchFamily="34" charset="-122"/>
                <a:cs typeface="Courier New" pitchFamily="34" charset="-120"/>
              </a:rPr>
              <a:t>DENSE</a:t>
            </a:r>
            <a:endParaRPr lang="en-US" sz="800" dirty="0"/>
          </a:p>
        </p:txBody>
      </p:sp>
      <p:sp>
        <p:nvSpPr>
          <p:cNvPr id="41" name="Text 36"/>
          <p:cNvSpPr/>
          <p:nvPr/>
        </p:nvSpPr>
        <p:spPr>
          <a:xfrm>
            <a:off x="7268766" y="1215777"/>
            <a:ext cx="1278731" cy="535781"/>
          </a:xfrm>
          <a:prstGeom prst="roundRect">
            <a:avLst>
              <a:gd name="adj" fmla="val 17778"/>
            </a:avLst>
          </a:prstGeom>
          <a:solidFill>
            <a:srgbClr val="FFFFFF"/>
          </a:solidFill>
          <a:ln w="7144">
            <a:solidFill>
              <a:srgbClr val="0E7490"/>
            </a:solidFill>
            <a:prstDash val="solid"/>
          </a:ln>
        </p:spPr>
        <p:txBody>
          <a:bodyPr wrap="square" rtlCol="0" anchor="ctr"/>
          <a:lstStyle/>
          <a:p>
            <a:pPr indent="0" marL="0">
              <a:buNone/>
            </a:pPr>
            <a:endParaRPr lang="en-US" dirty="0"/>
          </a:p>
        </p:txBody>
      </p:sp>
      <p:sp>
        <p:nvSpPr>
          <p:cNvPr id="42" name="Text 37"/>
          <p:cNvSpPr/>
          <p:nvPr/>
        </p:nvSpPr>
        <p:spPr>
          <a:xfrm>
            <a:off x="7358063" y="1352513"/>
            <a:ext cx="128588" cy="128588"/>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43" name="Text 38"/>
          <p:cNvSpPr/>
          <p:nvPr/>
        </p:nvSpPr>
        <p:spPr>
          <a:xfrm>
            <a:off x="7529513" y="1347601"/>
            <a:ext cx="928688" cy="170078"/>
          </a:xfrm>
          <a:prstGeom prst="rect">
            <a:avLst/>
          </a:prstGeom>
          <a:noFill/>
          <a:ln/>
        </p:spPr>
        <p:txBody>
          <a:bodyPr wrap="none" lIns="0" tIns="0" rIns="0" bIns="0" rtlCol="0" anchor="t"/>
          <a:lstStyle/>
          <a:p>
            <a:pPr algn="l" indent="0" marL="0">
              <a:lnSpc>
                <a:spcPts val="1090"/>
              </a:lnSpc>
              <a:buNone/>
            </a:pPr>
            <a:r>
              <a:rPr lang="en-US" sz="800" dirty="0">
                <a:solidFill>
                  <a:srgbClr val="0F172A"/>
                </a:solidFill>
                <a:latin typeface="Liberation Sans Narrow" pitchFamily="34" charset="0"/>
                <a:ea typeface="Liberation Sans Narrow" pitchFamily="34" charset="-122"/>
                <a:cs typeface="Liberation Sans Narrow" pitchFamily="34" charset="-120"/>
              </a:rPr>
              <a:t>BM25Okapi</a:t>
            </a:r>
            <a:endParaRPr lang="en-US" sz="800" dirty="0"/>
          </a:p>
        </p:txBody>
      </p:sp>
      <p:sp>
        <p:nvSpPr>
          <p:cNvPr id="44" name="Text 39"/>
          <p:cNvSpPr/>
          <p:nvPr/>
        </p:nvSpPr>
        <p:spPr>
          <a:xfrm>
            <a:off x="7358063" y="1514587"/>
            <a:ext cx="1100138" cy="161962"/>
          </a:xfrm>
          <a:prstGeom prst="rect">
            <a:avLst/>
          </a:prstGeom>
          <a:noFill/>
          <a:ln/>
        </p:spPr>
        <p:txBody>
          <a:bodyPr wrap="none" lIns="0" tIns="0" rIns="0" bIns="0" rtlCol="0" anchor="t"/>
          <a:lstStyle/>
          <a:p>
            <a:pPr algn="l" indent="0" marL="0">
              <a:lnSpc>
                <a:spcPts val="828"/>
              </a:lnSpc>
              <a:buNone/>
            </a:pPr>
            <a:r>
              <a:rPr lang="en-US" sz="800" spc="64" kern="0" dirty="0">
                <a:solidFill>
                  <a:srgbClr val="0E7490"/>
                </a:solidFill>
                <a:latin typeface="Courier New" pitchFamily="34" charset="0"/>
                <a:ea typeface="Courier New" pitchFamily="34" charset="-122"/>
                <a:cs typeface="Courier New" pitchFamily="34" charset="-120"/>
              </a:rPr>
              <a:t>SPARSE</a:t>
            </a:r>
            <a:endParaRPr lang="en-US" sz="800" dirty="0"/>
          </a:p>
        </p:txBody>
      </p:sp>
      <p:pic>
        <p:nvPicPr>
          <p:cNvPr id="45" name="Image 3" descr="preencoded.png">    </p:cNvPr>
          <p:cNvPicPr>
            <a:picLocks noChangeAspect="1"/>
          </p:cNvPicPr>
          <p:nvPr/>
        </p:nvPicPr>
        <p:blipFill>
          <a:blip r:embed="rId4"/>
          <a:stretch>
            <a:fillRect/>
          </a:stretch>
        </p:blipFill>
        <p:spPr>
          <a:xfrm>
            <a:off x="6524989" y="1755130"/>
            <a:ext cx="283096" cy="885454"/>
          </a:xfrm>
          <a:prstGeom prst="rect">
            <a:avLst/>
          </a:prstGeom>
        </p:spPr>
      </p:pic>
      <p:pic>
        <p:nvPicPr>
          <p:cNvPr id="46" name="Image 4" descr="preencoded.png">    </p:cNvPr>
          <p:cNvPicPr>
            <a:picLocks noChangeAspect="1"/>
          </p:cNvPicPr>
          <p:nvPr/>
        </p:nvPicPr>
        <p:blipFill>
          <a:blip r:embed="rId5"/>
          <a:stretch>
            <a:fillRect/>
          </a:stretch>
        </p:blipFill>
        <p:spPr>
          <a:xfrm>
            <a:off x="6798481" y="1750953"/>
            <a:ext cx="283096" cy="885454"/>
          </a:xfrm>
          <a:prstGeom prst="rect">
            <a:avLst/>
          </a:prstGeom>
        </p:spPr>
      </p:pic>
      <p:pic>
        <p:nvPicPr>
          <p:cNvPr id="47" name="Image 5" descr="preencoded.png">    </p:cNvPr>
          <p:cNvPicPr>
            <a:picLocks noChangeAspect="1"/>
          </p:cNvPicPr>
          <p:nvPr/>
        </p:nvPicPr>
        <p:blipFill>
          <a:blip r:embed="rId6"/>
          <a:stretch>
            <a:fillRect/>
          </a:stretch>
        </p:blipFill>
        <p:spPr>
          <a:xfrm>
            <a:off x="6116055" y="2640955"/>
            <a:ext cx="1571625" cy="600075"/>
          </a:xfrm>
          <a:prstGeom prst="rect">
            <a:avLst/>
          </a:prstGeom>
        </p:spPr>
      </p:pic>
      <p:sp>
        <p:nvSpPr>
          <p:cNvPr id="48" name="Text 40"/>
          <p:cNvSpPr/>
          <p:nvPr/>
        </p:nvSpPr>
        <p:spPr>
          <a:xfrm>
            <a:off x="6119626" y="2644527"/>
            <a:ext cx="1564481" cy="592931"/>
          </a:xfrm>
          <a:prstGeom prst="roundRect">
            <a:avLst>
              <a:gd name="adj" fmla="val 19277"/>
            </a:avLst>
          </a:prstGeom>
          <a:noFill/>
          <a:ln w="7144">
            <a:solidFill>
              <a:srgbClr val="0E7490"/>
            </a:solidFill>
            <a:prstDash val="solid"/>
          </a:ln>
          <a:effectLst>
            <a:outerShdw sx="100000" sy="100000" kx="0" ky="0" algn="bl" rotWithShape="0" blurRad="228600" dist="50800" dir="16200000">
              <a:srgbClr val="06B6D4">
                <a:alpha val="45000"/>
              </a:srgbClr>
            </a:outerShdw>
          </a:effectLst>
        </p:spPr>
        <p:txBody>
          <a:bodyPr wrap="square" rtlCol="0" anchor="ctr"/>
          <a:lstStyle/>
          <a:p>
            <a:pPr indent="0" marL="0">
              <a:buNone/>
            </a:pPr>
            <a:endParaRPr lang="en-US" dirty="0"/>
          </a:p>
        </p:txBody>
      </p:sp>
      <p:sp>
        <p:nvSpPr>
          <p:cNvPr id="49" name="Text 41"/>
          <p:cNvSpPr/>
          <p:nvPr/>
        </p:nvSpPr>
        <p:spPr>
          <a:xfrm>
            <a:off x="6694819" y="2803810"/>
            <a:ext cx="738104" cy="133241"/>
          </a:xfrm>
          <a:prstGeom prst="rect">
            <a:avLst/>
          </a:prstGeom>
          <a:noFill/>
          <a:ln/>
        </p:spPr>
        <p:txBody>
          <a:bodyPr wrap="none" lIns="0" tIns="0" rIns="0" bIns="0" rtlCol="0" anchor="t"/>
          <a:lstStyle/>
          <a:p>
            <a:pPr algn="l" indent="0" marL="0">
              <a:lnSpc>
                <a:spcPts val="1221"/>
              </a:lnSpc>
              <a:buNone/>
            </a:pPr>
            <a:r>
              <a:rPr lang="en-US" sz="800" b="1" spc="16" kern="0" dirty="0">
                <a:solidFill>
                  <a:srgbClr val="0E7490"/>
                </a:solidFill>
                <a:latin typeface="Carlito" pitchFamily="34" charset="0"/>
                <a:ea typeface="Carlito" pitchFamily="34" charset="-122"/>
                <a:cs typeface="Carlito" pitchFamily="34" charset="-120"/>
              </a:rPr>
              <a:t>RRF FUSION</a:t>
            </a:r>
            <a:endParaRPr lang="en-US" sz="800" dirty="0"/>
          </a:p>
        </p:txBody>
      </p:sp>
      <p:sp>
        <p:nvSpPr>
          <p:cNvPr id="50" name="Text 42"/>
          <p:cNvSpPr/>
          <p:nvPr/>
        </p:nvSpPr>
        <p:spPr>
          <a:xfrm>
            <a:off x="6532178" y="2795550"/>
            <a:ext cx="142875" cy="142875"/>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51" name="Text 43"/>
          <p:cNvSpPr/>
          <p:nvPr/>
        </p:nvSpPr>
        <p:spPr>
          <a:xfrm>
            <a:off x="6604268" y="2987315"/>
            <a:ext cx="744098" cy="170006"/>
          </a:xfrm>
          <a:prstGeom prst="rect">
            <a:avLst/>
          </a:prstGeom>
          <a:noFill/>
          <a:ln/>
        </p:spPr>
        <p:txBody>
          <a:bodyPr wrap="none" lIns="0" tIns="0" rIns="0" bIns="0" rtlCol="0" anchor="t"/>
          <a:lstStyle/>
          <a:p>
            <a:pPr algn="l" indent="0" marL="0">
              <a:lnSpc>
                <a:spcPts val="828"/>
              </a:lnSpc>
              <a:buNone/>
            </a:pPr>
            <a:r>
              <a:rPr lang="en-US" sz="800" spc="86" kern="0" dirty="0">
                <a:solidFill>
                  <a:srgbClr val="475569"/>
                </a:solidFill>
                <a:latin typeface="Liberation Sans Narrow" pitchFamily="34" charset="0"/>
                <a:ea typeface="Liberation Sans Narrow" pitchFamily="34" charset="-122"/>
                <a:cs typeface="Liberation Sans Narrow" pitchFamily="34" charset="-120"/>
              </a:rPr>
              <a:t>Α=0.5 · K=60</a:t>
            </a:r>
            <a:endParaRPr lang="en-US" sz="800" dirty="0"/>
          </a:p>
        </p:txBody>
      </p:sp>
      <p:pic>
        <p:nvPicPr>
          <p:cNvPr id="52" name="Image 6" descr="preencoded.png">    </p:cNvPr>
          <p:cNvPicPr>
            <a:picLocks noChangeAspect="1"/>
          </p:cNvPicPr>
          <p:nvPr/>
        </p:nvPicPr>
        <p:blipFill>
          <a:blip r:embed="rId7"/>
          <a:stretch>
            <a:fillRect/>
          </a:stretch>
        </p:blipFill>
        <p:spPr>
          <a:xfrm>
            <a:off x="6894723" y="3241030"/>
            <a:ext cx="14288" cy="214313"/>
          </a:xfrm>
          <a:prstGeom prst="rect">
            <a:avLst/>
          </a:prstGeom>
        </p:spPr>
      </p:pic>
      <p:sp>
        <p:nvSpPr>
          <p:cNvPr id="53" name="Text 44"/>
          <p:cNvSpPr/>
          <p:nvPr/>
        </p:nvSpPr>
        <p:spPr>
          <a:xfrm>
            <a:off x="5901742" y="3598218"/>
            <a:ext cx="2000250" cy="657225"/>
          </a:xfrm>
          <a:prstGeom prst="roundRect">
            <a:avLst>
              <a:gd name="adj" fmla="val 14493"/>
            </a:avLst>
          </a:prstGeom>
          <a:solidFill>
            <a:srgbClr val="FFFFFF"/>
          </a:solidFill>
          <a:ln/>
        </p:spPr>
        <p:txBody>
          <a:bodyPr wrap="square" rtlCol="0" anchor="ctr"/>
          <a:lstStyle/>
          <a:p>
            <a:pPr indent="0" marL="0">
              <a:buNone/>
            </a:pPr>
            <a:endParaRPr lang="en-US" dirty="0"/>
          </a:p>
        </p:txBody>
      </p:sp>
      <p:sp>
        <p:nvSpPr>
          <p:cNvPr id="54" name="Shape 45"/>
          <p:cNvSpPr/>
          <p:nvPr/>
        </p:nvSpPr>
        <p:spPr>
          <a:xfrm>
            <a:off x="5901742" y="3608933"/>
            <a:ext cx="2000250" cy="0"/>
          </a:xfrm>
          <a:prstGeom prst="line">
            <a:avLst/>
          </a:prstGeom>
          <a:noFill/>
          <a:ln w="21431">
            <a:solidFill>
              <a:srgbClr val="0E7490"/>
            </a:solidFill>
            <a:prstDash val="solid"/>
          </a:ln>
        </p:spPr>
      </p:sp>
      <p:sp>
        <p:nvSpPr>
          <p:cNvPr id="55" name="Shape 46"/>
          <p:cNvSpPr/>
          <p:nvPr/>
        </p:nvSpPr>
        <p:spPr>
          <a:xfrm>
            <a:off x="7898420" y="3598218"/>
            <a:ext cx="0" cy="657225"/>
          </a:xfrm>
          <a:prstGeom prst="line">
            <a:avLst/>
          </a:prstGeom>
          <a:noFill/>
          <a:ln w="7144">
            <a:solidFill>
              <a:srgbClr val="0E7490"/>
            </a:solidFill>
            <a:prstDash val="solid"/>
          </a:ln>
        </p:spPr>
      </p:sp>
      <p:sp>
        <p:nvSpPr>
          <p:cNvPr id="56" name="Shape 47"/>
          <p:cNvSpPr/>
          <p:nvPr/>
        </p:nvSpPr>
        <p:spPr>
          <a:xfrm>
            <a:off x="5901742" y="4251871"/>
            <a:ext cx="2000250" cy="0"/>
          </a:xfrm>
          <a:prstGeom prst="line">
            <a:avLst/>
          </a:prstGeom>
          <a:noFill/>
          <a:ln w="7144">
            <a:solidFill>
              <a:srgbClr val="0E7490"/>
            </a:solidFill>
            <a:prstDash val="solid"/>
          </a:ln>
        </p:spPr>
      </p:sp>
      <p:sp>
        <p:nvSpPr>
          <p:cNvPr id="57" name="Shape 48"/>
          <p:cNvSpPr/>
          <p:nvPr/>
        </p:nvSpPr>
        <p:spPr>
          <a:xfrm>
            <a:off x="5905314" y="3598218"/>
            <a:ext cx="0" cy="657225"/>
          </a:xfrm>
          <a:prstGeom prst="line">
            <a:avLst/>
          </a:prstGeom>
          <a:noFill/>
          <a:ln w="7144">
            <a:solidFill>
              <a:srgbClr val="0E7490"/>
            </a:solidFill>
            <a:prstDash val="solid"/>
          </a:ln>
        </p:spPr>
      </p:sp>
      <p:sp>
        <p:nvSpPr>
          <p:cNvPr id="58" name="Text 49"/>
          <p:cNvSpPr/>
          <p:nvPr/>
        </p:nvSpPr>
        <p:spPr>
          <a:xfrm>
            <a:off x="6180348" y="3744888"/>
            <a:ext cx="1245831" cy="137879"/>
          </a:xfrm>
          <a:prstGeom prst="rect">
            <a:avLst/>
          </a:prstGeom>
          <a:noFill/>
          <a:ln/>
        </p:spPr>
        <p:txBody>
          <a:bodyPr wrap="none" lIns="0" tIns="0" rIns="0" bIns="0" rtlCol="0" anchor="t">
            <a:normAutofit/>
          </a:bodyPr>
          <a:lstStyle/>
          <a:p>
            <a:pPr algn="l" indent="0" marL="0">
              <a:lnSpc>
                <a:spcPts val="1133"/>
              </a:lnSpc>
              <a:buNone/>
            </a:pPr>
            <a:r>
              <a:rPr lang="en-US" sz="731" spc="7" kern="0" dirty="0">
                <a:solidFill>
                  <a:srgbClr val="0F172A"/>
                </a:solidFill>
                <a:latin typeface="Carlito" pitchFamily="34" charset="0"/>
                <a:ea typeface="Carlito" pitchFamily="34" charset="-122"/>
                <a:cs typeface="Carlito" pitchFamily="34" charset="-120"/>
              </a:rPr>
              <a:t>TOP-k CANDIDATE POOL</a:t>
            </a:r>
            <a:endParaRPr lang="en-US" sz="731" dirty="0"/>
          </a:p>
        </p:txBody>
      </p:sp>
      <p:sp>
        <p:nvSpPr>
          <p:cNvPr id="59" name="Text 50"/>
          <p:cNvSpPr/>
          <p:nvPr/>
        </p:nvSpPr>
        <p:spPr>
          <a:xfrm>
            <a:off x="6008898" y="3745334"/>
            <a:ext cx="128588" cy="128588"/>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60" name="Text 51"/>
          <p:cNvSpPr/>
          <p:nvPr/>
        </p:nvSpPr>
        <p:spPr>
          <a:xfrm>
            <a:off x="6008898" y="3910199"/>
            <a:ext cx="1785938" cy="252375"/>
          </a:xfrm>
          <a:prstGeom prst="rect">
            <a:avLst/>
          </a:prstGeom>
          <a:noFill/>
          <a:ln/>
        </p:spPr>
        <p:txBody>
          <a:bodyPr wrap="square" lIns="0" tIns="0" rIns="0" bIns="0" rtlCol="0" anchor="t"/>
          <a:lstStyle/>
          <a:p>
            <a:pPr algn="l" indent="0" marL="0">
              <a:lnSpc>
                <a:spcPts val="866"/>
              </a:lnSpc>
              <a:buNone/>
            </a:pPr>
            <a:r>
              <a:rPr lang="en-US" sz="800" i="1" dirty="0">
                <a:solidFill>
                  <a:srgbClr val="475569"/>
                </a:solidFill>
                <a:latin typeface="Carlito" pitchFamily="34" charset="0"/>
                <a:ea typeface="Carlito" pitchFamily="34" charset="-122"/>
                <a:cs typeface="Carlito" pitchFamily="34" charset="-120"/>
              </a:rPr>
              <a:t>neither semantic meaning nor specific codes dropped</a:t>
            </a:r>
            <a:endParaRPr lang="en-US" sz="800" dirty="0"/>
          </a:p>
        </p:txBody>
      </p:sp>
      <p:sp>
        <p:nvSpPr>
          <p:cNvPr id="61" name="Shape 52"/>
          <p:cNvSpPr/>
          <p:nvPr/>
        </p:nvSpPr>
        <p:spPr>
          <a:xfrm>
            <a:off x="400050" y="4829175"/>
            <a:ext cx="8343900" cy="0"/>
          </a:xfrm>
          <a:prstGeom prst="line">
            <a:avLst/>
          </a:prstGeom>
          <a:noFill/>
          <a:ln w="7144">
            <a:solidFill>
              <a:srgbClr val="0F172A"/>
            </a:solidFill>
            <a:prstDash val="solid"/>
          </a:ln>
        </p:spPr>
      </p:sp>
      <p:sp>
        <p:nvSpPr>
          <p:cNvPr id="62" name="Text 53"/>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63" name="Text 54"/>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06 / 18</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479506"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893844" y="157163"/>
            <a:ext cx="1080007"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06 / 16 · RERANKING</a:t>
            </a:r>
            <a:endParaRPr lang="en-US" sz="600" dirty="0"/>
          </a:p>
        </p:txBody>
      </p:sp>
      <p:sp>
        <p:nvSpPr>
          <p:cNvPr id="6" name="Text 2"/>
          <p:cNvSpPr/>
          <p:nvPr/>
        </p:nvSpPr>
        <p:spPr>
          <a:xfrm>
            <a:off x="400050" y="442913"/>
            <a:ext cx="8636000" cy="11187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CROSS-ENCODER RERANKING LAYER</a:t>
            </a:r>
            <a:endParaRPr lang="en-US" sz="800" dirty="0"/>
          </a:p>
        </p:txBody>
      </p:sp>
      <p:sp>
        <p:nvSpPr>
          <p:cNvPr id="7" name="Text 3"/>
          <p:cNvSpPr/>
          <p:nvPr/>
        </p:nvSpPr>
        <p:spPr>
          <a:xfrm>
            <a:off x="400050" y="582216"/>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Eliminating False Positives Before LLM Generation</a:t>
            </a:r>
            <a:endParaRPr lang="en-US" sz="1238" dirty="0"/>
          </a:p>
        </p:txBody>
      </p:sp>
      <p:sp>
        <p:nvSpPr>
          <p:cNvPr id="8" name="Text 4"/>
          <p:cNvSpPr/>
          <p:nvPr/>
        </p:nvSpPr>
        <p:spPr>
          <a:xfrm>
            <a:off x="400050" y="899331"/>
            <a:ext cx="4922786" cy="154734"/>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64748B"/>
                </a:solidFill>
                <a:latin typeface="Courier New" pitchFamily="34" charset="0"/>
                <a:ea typeface="Courier New" pitchFamily="34" charset="-122"/>
                <a:cs typeface="Courier New" pitchFamily="34" charset="-120"/>
              </a:rPr>
              <a:t>RETRIEVAL FUNNEL · STAGE-BY-STAGE COMPRESSION</a:t>
            </a:r>
            <a:endParaRPr lang="en-US" sz="800" dirty="0"/>
          </a:p>
        </p:txBody>
      </p:sp>
      <p:sp>
        <p:nvSpPr>
          <p:cNvPr id="9" name="Text 5"/>
          <p:cNvSpPr/>
          <p:nvPr/>
        </p:nvSpPr>
        <p:spPr>
          <a:xfrm>
            <a:off x="400050" y="1081497"/>
            <a:ext cx="4163913" cy="414338"/>
          </a:xfrm>
          <a:prstGeom prst="roundRect">
            <a:avLst>
              <a:gd name="adj" fmla="val 18391"/>
            </a:avLst>
          </a:prstGeom>
          <a:solidFill>
            <a:srgbClr val="1E3A8A">
              <a:alpha val="55000"/>
            </a:srgbClr>
          </a:solidFill>
          <a:ln/>
        </p:spPr>
        <p:txBody>
          <a:bodyPr wrap="square" rtlCol="0" anchor="ctr"/>
          <a:lstStyle/>
          <a:p>
            <a:pPr indent="0" marL="0">
              <a:buNone/>
            </a:pPr>
            <a:endParaRPr lang="en-US" dirty="0"/>
          </a:p>
        </p:txBody>
      </p:sp>
      <p:sp>
        <p:nvSpPr>
          <p:cNvPr id="10" name="Shape 6"/>
          <p:cNvSpPr/>
          <p:nvPr/>
        </p:nvSpPr>
        <p:spPr>
          <a:xfrm>
            <a:off x="410766" y="1081497"/>
            <a:ext cx="0" cy="414338"/>
          </a:xfrm>
          <a:prstGeom prst="line">
            <a:avLst/>
          </a:prstGeom>
          <a:noFill/>
          <a:ln w="21431">
            <a:solidFill>
              <a:srgbClr val="3B82F6"/>
            </a:solidFill>
            <a:prstDash val="solid"/>
          </a:ln>
        </p:spPr>
      </p:sp>
      <p:sp>
        <p:nvSpPr>
          <p:cNvPr id="11" name="Text 7"/>
          <p:cNvSpPr/>
          <p:nvPr/>
        </p:nvSpPr>
        <p:spPr>
          <a:xfrm>
            <a:off x="550069" y="1123020"/>
            <a:ext cx="3116573" cy="215183"/>
          </a:xfrm>
          <a:prstGeom prst="rect">
            <a:avLst/>
          </a:prstGeom>
          <a:noFill/>
          <a:ln/>
        </p:spPr>
        <p:txBody>
          <a:bodyPr wrap="none" lIns="0" tIns="0" rIns="0" bIns="0" rtlCol="0" anchor="t"/>
          <a:lstStyle/>
          <a:p>
            <a:pPr algn="l" indent="0" marL="0">
              <a:lnSpc>
                <a:spcPts val="1569"/>
              </a:lnSpc>
              <a:buNone/>
            </a:pPr>
            <a:r>
              <a:rPr lang="en-US" sz="1013" dirty="0">
                <a:solidFill>
                  <a:srgbClr val="0F172A"/>
                </a:solidFill>
                <a:latin typeface="Liberation Sans Narrow" pitchFamily="34" charset="0"/>
                <a:ea typeface="Liberation Sans Narrow" pitchFamily="34" charset="-122"/>
                <a:cs typeface="Liberation Sans Narrow" pitchFamily="34" charset="-120"/>
              </a:rPr>
              <a:t>8,166</a:t>
            </a:r>
            <a:endParaRPr lang="en-US" sz="1013" dirty="0"/>
          </a:p>
        </p:txBody>
      </p:sp>
      <p:sp>
        <p:nvSpPr>
          <p:cNvPr id="12" name="Text 8"/>
          <p:cNvSpPr/>
          <p:nvPr/>
        </p:nvSpPr>
        <p:spPr>
          <a:xfrm>
            <a:off x="3680929" y="1173026"/>
            <a:ext cx="754447" cy="170047"/>
          </a:xfrm>
          <a:prstGeom prst="rect">
            <a:avLst/>
          </a:prstGeom>
          <a:noFill/>
          <a:ln/>
        </p:spPr>
        <p:txBody>
          <a:bodyPr wrap="none" lIns="0" tIns="0" rIns="0" bIns="0" rtlCol="0" anchor="t"/>
          <a:lstStyle/>
          <a:p>
            <a:pPr algn="l" indent="0" marL="0">
              <a:lnSpc>
                <a:spcPts val="959"/>
              </a:lnSpc>
              <a:buNone/>
            </a:pPr>
            <a:r>
              <a:rPr lang="en-US" sz="619" spc="87" kern="0" dirty="0">
                <a:solidFill>
                  <a:srgbClr val="475569"/>
                </a:solidFill>
                <a:latin typeface="Courier New" pitchFamily="34" charset="0"/>
                <a:ea typeface="Courier New" pitchFamily="34" charset="-122"/>
                <a:cs typeface="Courier New" pitchFamily="34" charset="-120"/>
              </a:rPr>
              <a:t>INDEXED CLAUSES</a:t>
            </a:r>
            <a:endParaRPr lang="en-US" sz="619" dirty="0"/>
          </a:p>
        </p:txBody>
      </p:sp>
      <p:sp>
        <p:nvSpPr>
          <p:cNvPr id="13" name="Text 9"/>
          <p:cNvSpPr/>
          <p:nvPr/>
        </p:nvSpPr>
        <p:spPr>
          <a:xfrm>
            <a:off x="550069" y="1343695"/>
            <a:ext cx="3885307" cy="94990"/>
          </a:xfrm>
          <a:prstGeom prst="rect">
            <a:avLst/>
          </a:prstGeom>
          <a:noFill/>
          <a:ln/>
        </p:spPr>
        <p:txBody>
          <a:bodyPr wrap="none" lIns="0" tIns="0" rIns="0" bIns="0" rtlCol="0" anchor="t"/>
          <a:lstStyle/>
          <a:p>
            <a:pPr algn="l" indent="0" marL="0">
              <a:lnSpc>
                <a:spcPts val="872"/>
              </a:lnSpc>
              <a:buNone/>
            </a:pPr>
            <a:r>
              <a:rPr lang="en-US" sz="800" spc="34" kern="0" dirty="0">
                <a:solidFill>
                  <a:srgbClr val="475569">
                    <a:alpha val="85000"/>
                  </a:srgbClr>
                </a:solidFill>
                <a:latin typeface="Liberation Sans Narrow" pitchFamily="34" charset="0"/>
                <a:ea typeface="Liberation Sans Narrow" pitchFamily="34" charset="-122"/>
                <a:cs typeface="Liberation Sans Narrow" pitchFamily="34" charset="-120"/>
              </a:rPr>
              <a:t>BM25 + FAISS corpus</a:t>
            </a:r>
            <a:endParaRPr lang="en-US" sz="800" dirty="0"/>
          </a:p>
        </p:txBody>
      </p:sp>
      <p:sp>
        <p:nvSpPr>
          <p:cNvPr id="14" name="Text 10"/>
          <p:cNvSpPr/>
          <p:nvPr/>
        </p:nvSpPr>
        <p:spPr>
          <a:xfrm>
            <a:off x="2403425" y="1502978"/>
            <a:ext cx="157163" cy="157163"/>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15" name="Text 11"/>
          <p:cNvSpPr/>
          <p:nvPr/>
        </p:nvSpPr>
        <p:spPr>
          <a:xfrm>
            <a:off x="774762" y="1667284"/>
            <a:ext cx="3414378" cy="414338"/>
          </a:xfrm>
          <a:prstGeom prst="roundRect">
            <a:avLst>
              <a:gd name="adj" fmla="val 18391"/>
            </a:avLst>
          </a:prstGeom>
          <a:solidFill>
            <a:srgbClr val="06B6D4">
              <a:alpha val="16000"/>
            </a:srgbClr>
          </a:solidFill>
          <a:ln/>
        </p:spPr>
        <p:txBody>
          <a:bodyPr wrap="square" rtlCol="0" anchor="ctr"/>
          <a:lstStyle/>
          <a:p>
            <a:pPr indent="0" marL="0">
              <a:buNone/>
            </a:pPr>
            <a:endParaRPr lang="en-US" dirty="0"/>
          </a:p>
        </p:txBody>
      </p:sp>
      <p:sp>
        <p:nvSpPr>
          <p:cNvPr id="16" name="Shape 12"/>
          <p:cNvSpPr/>
          <p:nvPr/>
        </p:nvSpPr>
        <p:spPr>
          <a:xfrm>
            <a:off x="785478" y="1667284"/>
            <a:ext cx="0" cy="414338"/>
          </a:xfrm>
          <a:prstGeom prst="line">
            <a:avLst/>
          </a:prstGeom>
          <a:noFill/>
          <a:ln w="21431">
            <a:solidFill>
              <a:srgbClr val="06B6D4"/>
            </a:solidFill>
            <a:prstDash val="solid"/>
          </a:ln>
        </p:spPr>
      </p:sp>
      <p:sp>
        <p:nvSpPr>
          <p:cNvPr id="17" name="Text 13"/>
          <p:cNvSpPr/>
          <p:nvPr/>
        </p:nvSpPr>
        <p:spPr>
          <a:xfrm>
            <a:off x="924781" y="1708807"/>
            <a:ext cx="2618519" cy="215183"/>
          </a:xfrm>
          <a:prstGeom prst="rect">
            <a:avLst/>
          </a:prstGeom>
          <a:noFill/>
          <a:ln/>
        </p:spPr>
        <p:txBody>
          <a:bodyPr wrap="none" lIns="0" tIns="0" rIns="0" bIns="0" rtlCol="0" anchor="t"/>
          <a:lstStyle/>
          <a:p>
            <a:pPr algn="l" indent="0" marL="0">
              <a:lnSpc>
                <a:spcPts val="1569"/>
              </a:lnSpc>
              <a:buNone/>
            </a:pPr>
            <a:r>
              <a:rPr lang="en-US" sz="1013" dirty="0">
                <a:solidFill>
                  <a:srgbClr val="0F172A"/>
                </a:solidFill>
                <a:latin typeface="Liberation Sans Narrow" pitchFamily="34" charset="0"/>
                <a:ea typeface="Liberation Sans Narrow" pitchFamily="34" charset="-122"/>
                <a:cs typeface="Liberation Sans Narrow" pitchFamily="34" charset="-120"/>
              </a:rPr>
              <a:t>TOP 20</a:t>
            </a:r>
            <a:endParaRPr lang="en-US" sz="1013" dirty="0"/>
          </a:p>
        </p:txBody>
      </p:sp>
      <p:sp>
        <p:nvSpPr>
          <p:cNvPr id="18" name="Text 14"/>
          <p:cNvSpPr/>
          <p:nvPr/>
        </p:nvSpPr>
        <p:spPr>
          <a:xfrm>
            <a:off x="3523631" y="1758814"/>
            <a:ext cx="570877" cy="170047"/>
          </a:xfrm>
          <a:prstGeom prst="rect">
            <a:avLst/>
          </a:prstGeom>
          <a:noFill/>
          <a:ln/>
        </p:spPr>
        <p:txBody>
          <a:bodyPr wrap="none" lIns="0" tIns="0" rIns="0" bIns="0" rtlCol="0" anchor="t"/>
          <a:lstStyle/>
          <a:p>
            <a:pPr algn="l" indent="0" marL="0">
              <a:lnSpc>
                <a:spcPts val="959"/>
              </a:lnSpc>
              <a:buNone/>
            </a:pPr>
            <a:r>
              <a:rPr lang="en-US" sz="619" spc="87" kern="0" dirty="0">
                <a:solidFill>
                  <a:srgbClr val="0E7490"/>
                </a:solidFill>
                <a:latin typeface="Courier New" pitchFamily="34" charset="0"/>
                <a:ea typeface="Courier New" pitchFamily="34" charset="-122"/>
                <a:cs typeface="Courier New" pitchFamily="34" charset="-120"/>
              </a:rPr>
              <a:t>RRF HYBRID</a:t>
            </a:r>
            <a:endParaRPr lang="en-US" sz="619" dirty="0"/>
          </a:p>
        </p:txBody>
      </p:sp>
      <p:sp>
        <p:nvSpPr>
          <p:cNvPr id="19" name="Text 15"/>
          <p:cNvSpPr/>
          <p:nvPr/>
        </p:nvSpPr>
        <p:spPr>
          <a:xfrm>
            <a:off x="924781" y="1929482"/>
            <a:ext cx="3135771" cy="94990"/>
          </a:xfrm>
          <a:prstGeom prst="rect">
            <a:avLst/>
          </a:prstGeom>
          <a:noFill/>
          <a:ln/>
        </p:spPr>
        <p:txBody>
          <a:bodyPr wrap="none" lIns="0" tIns="0" rIns="0" bIns="0" rtlCol="0" anchor="t"/>
          <a:lstStyle/>
          <a:p>
            <a:pPr algn="l" indent="0" marL="0">
              <a:lnSpc>
                <a:spcPts val="872"/>
              </a:lnSpc>
              <a:buNone/>
            </a:pPr>
            <a:r>
              <a:rPr lang="en-US" sz="800" spc="34" kern="0" dirty="0">
                <a:solidFill>
                  <a:srgbClr val="475569">
                    <a:alpha val="85000"/>
                  </a:srgbClr>
                </a:solidFill>
                <a:latin typeface="Courier New" pitchFamily="34" charset="0"/>
                <a:ea typeface="Courier New" pitchFamily="34" charset="-122"/>
                <a:cs typeface="Courier New" pitchFamily="34" charset="-120"/>
              </a:rPr>
              <a:t>Reciprocal Rank Fusion</a:t>
            </a:r>
            <a:endParaRPr lang="en-US" sz="800" dirty="0"/>
          </a:p>
        </p:txBody>
      </p:sp>
      <p:sp>
        <p:nvSpPr>
          <p:cNvPr id="20" name="Text 16"/>
          <p:cNvSpPr/>
          <p:nvPr/>
        </p:nvSpPr>
        <p:spPr>
          <a:xfrm>
            <a:off x="2403425" y="2088766"/>
            <a:ext cx="157163" cy="157163"/>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21" name="Text 17"/>
          <p:cNvSpPr/>
          <p:nvPr/>
        </p:nvSpPr>
        <p:spPr>
          <a:xfrm>
            <a:off x="1191220" y="2253072"/>
            <a:ext cx="2581573" cy="414338"/>
          </a:xfrm>
          <a:prstGeom prst="roundRect">
            <a:avLst>
              <a:gd name="adj" fmla="val 18391"/>
            </a:avLst>
          </a:prstGeom>
          <a:solidFill>
            <a:srgbClr val="06B6D4">
              <a:alpha val="32000"/>
            </a:srgbClr>
          </a:solidFill>
          <a:ln/>
        </p:spPr>
        <p:txBody>
          <a:bodyPr wrap="square" rtlCol="0" anchor="ctr"/>
          <a:lstStyle/>
          <a:p>
            <a:pPr indent="0" marL="0">
              <a:buNone/>
            </a:pPr>
            <a:endParaRPr lang="en-US" dirty="0"/>
          </a:p>
        </p:txBody>
      </p:sp>
      <p:sp>
        <p:nvSpPr>
          <p:cNvPr id="22" name="Shape 18"/>
          <p:cNvSpPr/>
          <p:nvPr/>
        </p:nvSpPr>
        <p:spPr>
          <a:xfrm>
            <a:off x="1201936" y="2253072"/>
            <a:ext cx="0" cy="414338"/>
          </a:xfrm>
          <a:prstGeom prst="line">
            <a:avLst/>
          </a:prstGeom>
          <a:noFill/>
          <a:ln w="21431">
            <a:solidFill>
              <a:srgbClr val="06B6D4"/>
            </a:solidFill>
            <a:prstDash val="solid"/>
          </a:ln>
        </p:spPr>
      </p:sp>
      <p:sp>
        <p:nvSpPr>
          <p:cNvPr id="23" name="Text 19"/>
          <p:cNvSpPr/>
          <p:nvPr/>
        </p:nvSpPr>
        <p:spPr>
          <a:xfrm>
            <a:off x="1341239" y="2294595"/>
            <a:ext cx="1986855" cy="215183"/>
          </a:xfrm>
          <a:prstGeom prst="rect">
            <a:avLst/>
          </a:prstGeom>
          <a:noFill/>
          <a:ln/>
        </p:spPr>
        <p:txBody>
          <a:bodyPr wrap="none" lIns="0" tIns="0" rIns="0" bIns="0" rtlCol="0" anchor="t"/>
          <a:lstStyle/>
          <a:p>
            <a:pPr algn="l" indent="0" marL="0">
              <a:lnSpc>
                <a:spcPts val="1569"/>
              </a:lnSpc>
              <a:buNone/>
            </a:pPr>
            <a:r>
              <a:rPr lang="en-US" sz="1013" dirty="0">
                <a:solidFill>
                  <a:srgbClr val="0F172A"/>
                </a:solidFill>
                <a:latin typeface="Liberation Sans Narrow" pitchFamily="34" charset="0"/>
                <a:ea typeface="Liberation Sans Narrow" pitchFamily="34" charset="-122"/>
                <a:cs typeface="Liberation Sans Narrow" pitchFamily="34" charset="-120"/>
              </a:rPr>
              <a:t>TOP 4</a:t>
            </a:r>
            <a:endParaRPr lang="en-US" sz="1013" dirty="0"/>
          </a:p>
        </p:txBody>
      </p:sp>
      <p:sp>
        <p:nvSpPr>
          <p:cNvPr id="24" name="Text 20"/>
          <p:cNvSpPr/>
          <p:nvPr/>
        </p:nvSpPr>
        <p:spPr>
          <a:xfrm>
            <a:off x="3307072" y="2344601"/>
            <a:ext cx="372444" cy="170047"/>
          </a:xfrm>
          <a:prstGeom prst="rect">
            <a:avLst/>
          </a:prstGeom>
          <a:noFill/>
          <a:ln/>
        </p:spPr>
        <p:txBody>
          <a:bodyPr wrap="none" lIns="0" tIns="0" rIns="0" bIns="0" rtlCol="0" anchor="t"/>
          <a:lstStyle/>
          <a:p>
            <a:pPr algn="l" indent="0" marL="0">
              <a:lnSpc>
                <a:spcPts val="959"/>
              </a:lnSpc>
              <a:buNone/>
            </a:pPr>
            <a:r>
              <a:rPr lang="en-US" sz="619" spc="87" kern="0" dirty="0">
                <a:solidFill>
                  <a:srgbClr val="0F172A"/>
                </a:solidFill>
                <a:latin typeface="Courier New" pitchFamily="34" charset="0"/>
                <a:ea typeface="Courier New" pitchFamily="34" charset="-122"/>
                <a:cs typeface="Courier New" pitchFamily="34" charset="-120"/>
              </a:rPr>
              <a:t>RERANK</a:t>
            </a:r>
            <a:endParaRPr lang="en-US" sz="619" dirty="0"/>
          </a:p>
        </p:txBody>
      </p:sp>
      <p:sp>
        <p:nvSpPr>
          <p:cNvPr id="25" name="Text 21"/>
          <p:cNvSpPr/>
          <p:nvPr/>
        </p:nvSpPr>
        <p:spPr>
          <a:xfrm>
            <a:off x="1341239" y="2515270"/>
            <a:ext cx="2412694" cy="94990"/>
          </a:xfrm>
          <a:prstGeom prst="rect">
            <a:avLst/>
          </a:prstGeom>
          <a:noFill/>
          <a:ln/>
        </p:spPr>
        <p:txBody>
          <a:bodyPr wrap="square" lIns="0" tIns="0" rIns="0" bIns="0" rtlCol="0" anchor="t"/>
          <a:lstStyle/>
          <a:p>
            <a:pPr algn="l" indent="0" marL="0">
              <a:lnSpc>
                <a:spcPts val="872"/>
              </a:lnSpc>
              <a:buNone/>
            </a:pPr>
            <a:r>
              <a:rPr lang="en-US" sz="800" spc="23" kern="0" dirty="0">
                <a:solidFill>
                  <a:srgbClr val="0F172A">
                    <a:alpha val="92000"/>
                  </a:srgbClr>
                </a:solidFill>
                <a:latin typeface="Courier New" pitchFamily="34" charset="0"/>
                <a:ea typeface="Courier New" pitchFamily="34" charset="-122"/>
                <a:cs typeface="Courier New" pitchFamily="34" charset="-120"/>
              </a:rPr>
              <a:t>Cross-Encoder · ms-marco-MiniLM-L-6-v2</a:t>
            </a:r>
            <a:endParaRPr lang="en-US" sz="800" dirty="0"/>
          </a:p>
        </p:txBody>
      </p:sp>
      <p:sp>
        <p:nvSpPr>
          <p:cNvPr id="26" name="Text 22"/>
          <p:cNvSpPr/>
          <p:nvPr/>
        </p:nvSpPr>
        <p:spPr>
          <a:xfrm>
            <a:off x="2403425" y="2674553"/>
            <a:ext cx="157163" cy="157163"/>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27" name="Text 23"/>
          <p:cNvSpPr/>
          <p:nvPr/>
        </p:nvSpPr>
        <p:spPr>
          <a:xfrm>
            <a:off x="1607567" y="2838859"/>
            <a:ext cx="1748768" cy="414338"/>
          </a:xfrm>
          <a:prstGeom prst="roundRect">
            <a:avLst>
              <a:gd name="adj" fmla="val 18391"/>
            </a:avLst>
          </a:prstGeom>
          <a:solidFill>
            <a:srgbClr val="D4A017">
              <a:alpha val="22000"/>
            </a:srgbClr>
          </a:solidFill>
          <a:ln/>
        </p:spPr>
        <p:txBody>
          <a:bodyPr wrap="square" rtlCol="0" anchor="ctr"/>
          <a:lstStyle/>
          <a:p>
            <a:pPr indent="0" marL="0">
              <a:buNone/>
            </a:pPr>
            <a:endParaRPr lang="en-US" dirty="0"/>
          </a:p>
        </p:txBody>
      </p:sp>
      <p:sp>
        <p:nvSpPr>
          <p:cNvPr id="28" name="Shape 24"/>
          <p:cNvSpPr/>
          <p:nvPr/>
        </p:nvSpPr>
        <p:spPr>
          <a:xfrm>
            <a:off x="1618283" y="2838859"/>
            <a:ext cx="0" cy="414338"/>
          </a:xfrm>
          <a:prstGeom prst="line">
            <a:avLst/>
          </a:prstGeom>
          <a:noFill/>
          <a:ln w="21431">
            <a:solidFill>
              <a:srgbClr val="D4A017"/>
            </a:solidFill>
            <a:prstDash val="solid"/>
          </a:ln>
        </p:spPr>
      </p:sp>
      <p:sp>
        <p:nvSpPr>
          <p:cNvPr id="29" name="Text 25"/>
          <p:cNvSpPr/>
          <p:nvPr/>
        </p:nvSpPr>
        <p:spPr>
          <a:xfrm>
            <a:off x="1962410" y="2931058"/>
            <a:ext cx="1060401" cy="139654"/>
          </a:xfrm>
          <a:prstGeom prst="rect">
            <a:avLst/>
          </a:prstGeom>
          <a:noFill/>
          <a:ln/>
        </p:spPr>
        <p:txBody>
          <a:bodyPr wrap="none" lIns="0" tIns="0" rIns="0" bIns="0" rtlCol="0" anchor="t"/>
          <a:lstStyle/>
          <a:p>
            <a:pPr algn="ctr" indent="0" marL="0">
              <a:lnSpc>
                <a:spcPts val="959"/>
              </a:lnSpc>
              <a:buNone/>
            </a:pPr>
            <a:r>
              <a:rPr lang="en-US" sz="619" spc="62" kern="0" dirty="0">
                <a:solidFill>
                  <a:srgbClr val="0F172A"/>
                </a:solidFill>
                <a:latin typeface="Courier New" pitchFamily="34" charset="0"/>
                <a:ea typeface="Courier New" pitchFamily="34" charset="-122"/>
                <a:cs typeface="Courier New" pitchFamily="34" charset="-120"/>
              </a:rPr>
              <a:t>LLM CONTEXT WINDOW</a:t>
            </a:r>
            <a:endParaRPr lang="en-US" sz="619" dirty="0"/>
          </a:p>
        </p:txBody>
      </p:sp>
      <p:sp>
        <p:nvSpPr>
          <p:cNvPr id="30" name="Text 26"/>
          <p:cNvSpPr/>
          <p:nvPr/>
        </p:nvSpPr>
        <p:spPr>
          <a:xfrm>
            <a:off x="1757586" y="3078845"/>
            <a:ext cx="1528968" cy="117202"/>
          </a:xfrm>
          <a:prstGeom prst="rect">
            <a:avLst/>
          </a:prstGeom>
          <a:noFill/>
          <a:ln/>
        </p:spPr>
        <p:txBody>
          <a:bodyPr wrap="square" lIns="0" tIns="0" rIns="0" bIns="0" rtlCol="0" anchor="t"/>
          <a:lstStyle/>
          <a:p>
            <a:pPr algn="ctr" indent="0" marL="0">
              <a:lnSpc>
                <a:spcPts val="872"/>
              </a:lnSpc>
              <a:buNone/>
            </a:pPr>
            <a:r>
              <a:rPr lang="en-US" sz="600" spc="23" kern="0" dirty="0">
                <a:solidFill>
                  <a:srgbClr val="B45309"/>
                </a:solidFill>
                <a:latin typeface="Courier New" pitchFamily="34" charset="0"/>
                <a:ea typeface="Courier New" pitchFamily="34" charset="-122"/>
                <a:cs typeface="Courier New" pitchFamily="34" charset="-120"/>
              </a:rPr>
              <a:t>High-confidence passages only</a:t>
            </a:r>
            <a:endParaRPr lang="en-US" sz="600" dirty="0"/>
          </a:p>
        </p:txBody>
      </p:sp>
      <p:sp>
        <p:nvSpPr>
          <p:cNvPr id="31" name="Text 27"/>
          <p:cNvSpPr/>
          <p:nvPr/>
        </p:nvSpPr>
        <p:spPr>
          <a:xfrm>
            <a:off x="4778276" y="899331"/>
            <a:ext cx="3965563" cy="802891"/>
          </a:xfrm>
          <a:prstGeom prst="roundRect">
            <a:avLst>
              <a:gd name="adj" fmla="val 11863"/>
            </a:avLst>
          </a:prstGeom>
          <a:solidFill>
            <a:srgbClr val="FFFFFF"/>
          </a:solidFill>
          <a:ln/>
        </p:spPr>
        <p:txBody>
          <a:bodyPr wrap="square" rtlCol="0" anchor="ctr"/>
          <a:lstStyle/>
          <a:p>
            <a:pPr indent="0" marL="0">
              <a:buNone/>
            </a:pPr>
            <a:endParaRPr lang="en-US" dirty="0"/>
          </a:p>
        </p:txBody>
      </p:sp>
      <p:sp>
        <p:nvSpPr>
          <p:cNvPr id="32" name="Shape 28"/>
          <p:cNvSpPr/>
          <p:nvPr/>
        </p:nvSpPr>
        <p:spPr>
          <a:xfrm>
            <a:off x="4778276" y="902903"/>
            <a:ext cx="3965563" cy="0"/>
          </a:xfrm>
          <a:prstGeom prst="line">
            <a:avLst/>
          </a:prstGeom>
          <a:noFill/>
          <a:ln w="7144">
            <a:solidFill>
              <a:srgbClr val="0F172A"/>
            </a:solidFill>
            <a:prstDash val="solid"/>
          </a:ln>
        </p:spPr>
      </p:sp>
      <p:sp>
        <p:nvSpPr>
          <p:cNvPr id="33" name="Shape 29"/>
          <p:cNvSpPr/>
          <p:nvPr/>
        </p:nvSpPr>
        <p:spPr>
          <a:xfrm>
            <a:off x="8740267" y="899331"/>
            <a:ext cx="0" cy="802891"/>
          </a:xfrm>
          <a:prstGeom prst="line">
            <a:avLst/>
          </a:prstGeom>
          <a:noFill/>
          <a:ln w="7144">
            <a:solidFill>
              <a:srgbClr val="0F172A"/>
            </a:solidFill>
            <a:prstDash val="solid"/>
          </a:ln>
        </p:spPr>
      </p:sp>
      <p:sp>
        <p:nvSpPr>
          <p:cNvPr id="34" name="Shape 30"/>
          <p:cNvSpPr/>
          <p:nvPr/>
        </p:nvSpPr>
        <p:spPr>
          <a:xfrm>
            <a:off x="4778276" y="1698650"/>
            <a:ext cx="3965563" cy="0"/>
          </a:xfrm>
          <a:prstGeom prst="line">
            <a:avLst/>
          </a:prstGeom>
          <a:noFill/>
          <a:ln w="7144">
            <a:solidFill>
              <a:srgbClr val="0F172A"/>
            </a:solidFill>
            <a:prstDash val="solid"/>
          </a:ln>
        </p:spPr>
      </p:sp>
      <p:sp>
        <p:nvSpPr>
          <p:cNvPr id="35" name="Shape 31"/>
          <p:cNvSpPr/>
          <p:nvPr/>
        </p:nvSpPr>
        <p:spPr>
          <a:xfrm>
            <a:off x="4788991" y="899331"/>
            <a:ext cx="0" cy="802891"/>
          </a:xfrm>
          <a:prstGeom prst="line">
            <a:avLst/>
          </a:prstGeom>
          <a:noFill/>
          <a:ln w="21431">
            <a:solidFill>
              <a:srgbClr val="0E7490"/>
            </a:solidFill>
            <a:prstDash val="solid"/>
          </a:ln>
        </p:spPr>
      </p:sp>
      <p:sp>
        <p:nvSpPr>
          <p:cNvPr id="36" name="Text 32"/>
          <p:cNvSpPr/>
          <p:nvPr/>
        </p:nvSpPr>
        <p:spPr>
          <a:xfrm>
            <a:off x="4928295" y="1006934"/>
            <a:ext cx="142875" cy="142875"/>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37" name="Text 33"/>
          <p:cNvSpPr/>
          <p:nvPr/>
        </p:nvSpPr>
        <p:spPr>
          <a:xfrm>
            <a:off x="5142607" y="1006487"/>
            <a:ext cx="3465500"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0F172A"/>
                </a:solidFill>
                <a:latin typeface="Carlito" pitchFamily="34" charset="0"/>
                <a:ea typeface="Carlito" pitchFamily="34" charset="-122"/>
                <a:cs typeface="Carlito" pitchFamily="34" charset="-120"/>
              </a:rPr>
              <a:t>BI-ENCODER vs CROSS-ENCODER</a:t>
            </a:r>
            <a:endParaRPr lang="en-US" sz="800" dirty="0"/>
          </a:p>
        </p:txBody>
      </p:sp>
      <p:sp>
        <p:nvSpPr>
          <p:cNvPr id="38" name="Text 34"/>
          <p:cNvSpPr/>
          <p:nvPr/>
        </p:nvSpPr>
        <p:spPr>
          <a:xfrm>
            <a:off x="4928295" y="1193229"/>
            <a:ext cx="3679813" cy="401836"/>
          </a:xfrm>
          <a:prstGeom prst="rect">
            <a:avLst/>
          </a:prstGeom>
          <a:noFill/>
          <a:ln/>
        </p:spPr>
        <p:txBody>
          <a:bodyPr wrap="square" lIns="0" tIns="0" rIns="0" bIns="0" rtlCol="0" anchor="t"/>
          <a:lstStyle/>
          <a:p>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Bi-encoders embed query and document separately (fast retrieval, no token-level cross-attention). Cross-Encoder processes (Query, Passage) simultaneously through full multi-head cross-attention for deep semantic relevance scoring.</a:t>
            </a:r>
            <a:endParaRPr lang="en-US" sz="800" dirty="0"/>
          </a:p>
        </p:txBody>
      </p:sp>
      <p:sp>
        <p:nvSpPr>
          <p:cNvPr id="39" name="Text 35"/>
          <p:cNvSpPr/>
          <p:nvPr/>
        </p:nvSpPr>
        <p:spPr>
          <a:xfrm>
            <a:off x="4778276" y="1773659"/>
            <a:ext cx="3965563" cy="802891"/>
          </a:xfrm>
          <a:prstGeom prst="roundRect">
            <a:avLst>
              <a:gd name="adj" fmla="val 11863"/>
            </a:avLst>
          </a:prstGeom>
          <a:solidFill>
            <a:srgbClr val="FFFFFF"/>
          </a:solidFill>
          <a:ln/>
        </p:spPr>
        <p:txBody>
          <a:bodyPr wrap="square" rtlCol="0" anchor="ctr"/>
          <a:lstStyle/>
          <a:p>
            <a:pPr indent="0" marL="0">
              <a:buNone/>
            </a:pPr>
            <a:endParaRPr lang="en-US" dirty="0"/>
          </a:p>
        </p:txBody>
      </p:sp>
      <p:sp>
        <p:nvSpPr>
          <p:cNvPr id="40" name="Shape 36"/>
          <p:cNvSpPr/>
          <p:nvPr/>
        </p:nvSpPr>
        <p:spPr>
          <a:xfrm>
            <a:off x="4778276" y="1777231"/>
            <a:ext cx="3965563" cy="0"/>
          </a:xfrm>
          <a:prstGeom prst="line">
            <a:avLst/>
          </a:prstGeom>
          <a:noFill/>
          <a:ln w="7144">
            <a:solidFill>
              <a:srgbClr val="0F172A"/>
            </a:solidFill>
            <a:prstDash val="solid"/>
          </a:ln>
        </p:spPr>
      </p:sp>
      <p:sp>
        <p:nvSpPr>
          <p:cNvPr id="41" name="Shape 37"/>
          <p:cNvSpPr/>
          <p:nvPr/>
        </p:nvSpPr>
        <p:spPr>
          <a:xfrm>
            <a:off x="8740267" y="1773659"/>
            <a:ext cx="0" cy="802891"/>
          </a:xfrm>
          <a:prstGeom prst="line">
            <a:avLst/>
          </a:prstGeom>
          <a:noFill/>
          <a:ln w="7144">
            <a:solidFill>
              <a:srgbClr val="0F172A"/>
            </a:solidFill>
            <a:prstDash val="solid"/>
          </a:ln>
        </p:spPr>
      </p:sp>
      <p:sp>
        <p:nvSpPr>
          <p:cNvPr id="42" name="Shape 38"/>
          <p:cNvSpPr/>
          <p:nvPr/>
        </p:nvSpPr>
        <p:spPr>
          <a:xfrm>
            <a:off x="4778276" y="2572978"/>
            <a:ext cx="3965563" cy="0"/>
          </a:xfrm>
          <a:prstGeom prst="line">
            <a:avLst/>
          </a:prstGeom>
          <a:noFill/>
          <a:ln w="7144">
            <a:solidFill>
              <a:srgbClr val="0F172A"/>
            </a:solidFill>
            <a:prstDash val="solid"/>
          </a:ln>
        </p:spPr>
      </p:sp>
      <p:sp>
        <p:nvSpPr>
          <p:cNvPr id="43" name="Shape 39"/>
          <p:cNvSpPr/>
          <p:nvPr/>
        </p:nvSpPr>
        <p:spPr>
          <a:xfrm>
            <a:off x="4788991" y="1773659"/>
            <a:ext cx="0" cy="802891"/>
          </a:xfrm>
          <a:prstGeom prst="line">
            <a:avLst/>
          </a:prstGeom>
          <a:noFill/>
          <a:ln w="21431">
            <a:solidFill>
              <a:srgbClr val="0E7490"/>
            </a:solidFill>
            <a:prstDash val="solid"/>
          </a:ln>
        </p:spPr>
      </p:sp>
      <p:sp>
        <p:nvSpPr>
          <p:cNvPr id="44" name="Text 40"/>
          <p:cNvSpPr/>
          <p:nvPr/>
        </p:nvSpPr>
        <p:spPr>
          <a:xfrm>
            <a:off x="4928295" y="1881262"/>
            <a:ext cx="142875" cy="142875"/>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45" name="Text 41"/>
          <p:cNvSpPr/>
          <p:nvPr/>
        </p:nvSpPr>
        <p:spPr>
          <a:xfrm>
            <a:off x="5142607" y="1880815"/>
            <a:ext cx="3465500"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0F172A"/>
                </a:solidFill>
                <a:latin typeface="Carlito" pitchFamily="34" charset="0"/>
                <a:ea typeface="Carlito" pitchFamily="34" charset="-122"/>
                <a:cs typeface="Carlito" pitchFamily="34" charset="-120"/>
              </a:rPr>
              <a:t>PASSAGE FILTERING &amp; NOISE REDUCTION</a:t>
            </a:r>
            <a:endParaRPr lang="en-US" sz="800" dirty="0"/>
          </a:p>
        </p:txBody>
      </p:sp>
      <p:sp>
        <p:nvSpPr>
          <p:cNvPr id="46" name="Text 42"/>
          <p:cNvSpPr/>
          <p:nvPr/>
        </p:nvSpPr>
        <p:spPr>
          <a:xfrm>
            <a:off x="4928295" y="2067558"/>
            <a:ext cx="3679813" cy="401836"/>
          </a:xfrm>
          <a:prstGeom prst="rect">
            <a:avLst/>
          </a:prstGeom>
          <a:noFill/>
          <a:ln/>
        </p:spPr>
        <p:txBody>
          <a:bodyPr wrap="square" lIns="0" tIns="0" rIns="0" bIns="0" rtlCol="0" anchor="t"/>
          <a:lstStyle/>
          <a:p>
            <a:pPr algn="l" indent="0" marL="0">
              <a:lnSpc>
                <a:spcPts val="1055"/>
              </a:lnSpc>
              <a:buNone/>
            </a:pPr>
            <a:r>
              <a:rPr lang="en-US" sz="800" dirty="0">
                <a:solidFill>
                  <a:srgbClr val="475569"/>
                </a:solidFill>
                <a:latin typeface="Carlito" pitchFamily="34" charset="0"/>
                <a:ea typeface="Carlito" pitchFamily="34" charset="-122"/>
                <a:cs typeface="Carlito" pitchFamily="34" charset="-120"/>
              </a:rPr>
              <a:t>Takes top 10–20 hybrid candidates from RRF. Re-scores every chunk based on semantic relevance to the specific question. Passes only the top 3–5 high-confidence passages to the LLM context window.</a:t>
            </a:r>
            <a:endParaRPr lang="en-US" sz="800" dirty="0"/>
          </a:p>
        </p:txBody>
      </p:sp>
      <p:sp>
        <p:nvSpPr>
          <p:cNvPr id="47" name="Text 43"/>
          <p:cNvSpPr/>
          <p:nvPr/>
        </p:nvSpPr>
        <p:spPr>
          <a:xfrm>
            <a:off x="4778276" y="2647987"/>
            <a:ext cx="3965563" cy="842404"/>
          </a:xfrm>
          <a:prstGeom prst="roundRect">
            <a:avLst>
              <a:gd name="adj" fmla="val 11307"/>
            </a:avLst>
          </a:prstGeom>
          <a:solidFill>
            <a:srgbClr val="FFFFFF"/>
          </a:solidFill>
          <a:ln/>
        </p:spPr>
        <p:txBody>
          <a:bodyPr wrap="square" rtlCol="0" anchor="ctr"/>
          <a:lstStyle/>
          <a:p>
            <a:pPr indent="0" marL="0">
              <a:buNone/>
            </a:pPr>
            <a:endParaRPr lang="en-US" dirty="0"/>
          </a:p>
        </p:txBody>
      </p:sp>
      <p:sp>
        <p:nvSpPr>
          <p:cNvPr id="48" name="Shape 44"/>
          <p:cNvSpPr/>
          <p:nvPr/>
        </p:nvSpPr>
        <p:spPr>
          <a:xfrm>
            <a:off x="4778276" y="2651559"/>
            <a:ext cx="3965563" cy="0"/>
          </a:xfrm>
          <a:prstGeom prst="line">
            <a:avLst/>
          </a:prstGeom>
          <a:noFill/>
          <a:ln w="7144">
            <a:solidFill>
              <a:srgbClr val="0F172A"/>
            </a:solidFill>
            <a:prstDash val="solid"/>
          </a:ln>
        </p:spPr>
      </p:sp>
      <p:sp>
        <p:nvSpPr>
          <p:cNvPr id="49" name="Shape 45"/>
          <p:cNvSpPr/>
          <p:nvPr/>
        </p:nvSpPr>
        <p:spPr>
          <a:xfrm>
            <a:off x="8740267" y="2647987"/>
            <a:ext cx="0" cy="842404"/>
          </a:xfrm>
          <a:prstGeom prst="line">
            <a:avLst/>
          </a:prstGeom>
          <a:noFill/>
          <a:ln w="7144">
            <a:solidFill>
              <a:srgbClr val="0F172A"/>
            </a:solidFill>
            <a:prstDash val="solid"/>
          </a:ln>
        </p:spPr>
      </p:sp>
      <p:sp>
        <p:nvSpPr>
          <p:cNvPr id="50" name="Shape 46"/>
          <p:cNvSpPr/>
          <p:nvPr/>
        </p:nvSpPr>
        <p:spPr>
          <a:xfrm>
            <a:off x="4778276" y="3486820"/>
            <a:ext cx="3965563" cy="0"/>
          </a:xfrm>
          <a:prstGeom prst="line">
            <a:avLst/>
          </a:prstGeom>
          <a:noFill/>
          <a:ln w="7144">
            <a:solidFill>
              <a:srgbClr val="0F172A"/>
            </a:solidFill>
            <a:prstDash val="solid"/>
          </a:ln>
        </p:spPr>
      </p:sp>
      <p:sp>
        <p:nvSpPr>
          <p:cNvPr id="51" name="Shape 47"/>
          <p:cNvSpPr/>
          <p:nvPr/>
        </p:nvSpPr>
        <p:spPr>
          <a:xfrm>
            <a:off x="4788991" y="2647987"/>
            <a:ext cx="0" cy="842404"/>
          </a:xfrm>
          <a:prstGeom prst="line">
            <a:avLst/>
          </a:prstGeom>
          <a:noFill/>
          <a:ln w="21431">
            <a:solidFill>
              <a:srgbClr val="B45309"/>
            </a:solidFill>
            <a:prstDash val="solid"/>
          </a:ln>
        </p:spPr>
      </p:sp>
      <p:sp>
        <p:nvSpPr>
          <p:cNvPr id="52" name="Text 48"/>
          <p:cNvSpPr/>
          <p:nvPr/>
        </p:nvSpPr>
        <p:spPr>
          <a:xfrm>
            <a:off x="4928295" y="2755590"/>
            <a:ext cx="142875" cy="142875"/>
          </a:xfrm>
          <a:prstGeom prst="rect">
            <a:avLst/>
          </a:prstGeom>
          <a:noFill/>
          <a:ln/>
        </p:spPr>
        <p:txBody>
          <a:bodyPr wrap="none" lIns="0" tIns="0" rIns="0" bIns="0" rtlCol="0" anchor="ctr"/>
          <a:lstStyle/>
          <a:p>
            <a:pPr algn="ctr" indent="0" marL="0">
              <a:buNone/>
            </a:pPr>
            <a:r>
              <a:rPr lang="en-US" sz="1406" dirty="0">
                <a:solidFill>
                  <a:srgbClr val="B45309"/>
                </a:solidFill>
                <a:latin typeface="Segoe UI Symbol" pitchFamily="34" charset="0"/>
                <a:ea typeface="Segoe UI Symbol" pitchFamily="34" charset="-122"/>
                <a:cs typeface="Segoe UI Symbol" pitchFamily="34" charset="-120"/>
              </a:rPr>
              <a:t>◫</a:t>
            </a:r>
            <a:endParaRPr lang="en-US" sz="1406" dirty="0"/>
          </a:p>
        </p:txBody>
      </p:sp>
      <p:sp>
        <p:nvSpPr>
          <p:cNvPr id="53" name="Text 49"/>
          <p:cNvSpPr/>
          <p:nvPr/>
        </p:nvSpPr>
        <p:spPr>
          <a:xfrm>
            <a:off x="5142607" y="2755143"/>
            <a:ext cx="3465500"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0F172A"/>
                </a:solidFill>
                <a:latin typeface="Carlito" pitchFamily="34" charset="0"/>
                <a:ea typeface="Carlito" pitchFamily="34" charset="-122"/>
                <a:cs typeface="Carlito" pitchFamily="34" charset="-120"/>
              </a:rPr>
              <a:t>KEY ENTERPRISE BENEFITS</a:t>
            </a:r>
            <a:endParaRPr lang="en-US" sz="800" dirty="0"/>
          </a:p>
        </p:txBody>
      </p:sp>
      <p:sp>
        <p:nvSpPr>
          <p:cNvPr id="54" name="Text 50"/>
          <p:cNvSpPr/>
          <p:nvPr/>
        </p:nvSpPr>
        <p:spPr>
          <a:xfrm>
            <a:off x="4928295" y="2941886"/>
            <a:ext cx="3679813" cy="467831"/>
          </a:xfrm>
          <a:prstGeom prst="rect">
            <a:avLst/>
          </a:prstGeom>
          <a:noFill/>
          <a:ln/>
        </p:spPr>
        <p:txBody>
          <a:bodyPr wrap="square" lIns="0" tIns="0" rIns="0" bIns="0" rtlCol="0" anchor="t"/>
          <a:lstStyle/>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Dramatically cuts LLM token consumption and API costs</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Prevents lost-in-the-middle attention degradation in LLMs</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Filters out legally irrelevant clauses before answer synthesis</a:t>
            </a:r>
            <a:endParaRPr lang="en-US" sz="800" dirty="0"/>
          </a:p>
        </p:txBody>
      </p:sp>
      <p:sp>
        <p:nvSpPr>
          <p:cNvPr id="55" name="Shape 51"/>
          <p:cNvSpPr/>
          <p:nvPr/>
        </p:nvSpPr>
        <p:spPr>
          <a:xfrm>
            <a:off x="400050" y="4829175"/>
            <a:ext cx="8343900" cy="0"/>
          </a:xfrm>
          <a:prstGeom prst="line">
            <a:avLst/>
          </a:prstGeom>
          <a:noFill/>
          <a:ln w="7144">
            <a:solidFill>
              <a:srgbClr val="0F172A"/>
            </a:solidFill>
            <a:prstDash val="solid"/>
          </a:ln>
        </p:spPr>
      </p:sp>
      <p:sp>
        <p:nvSpPr>
          <p:cNvPr id="56" name="Text 52"/>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57" name="Text 53"/>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07 / 18</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6930889"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345226" y="157163"/>
            <a:ext cx="1553622" cy="170078"/>
          </a:xfrm>
          <a:prstGeom prst="rect">
            <a:avLst/>
          </a:prstGeom>
          <a:noFill/>
          <a:ln/>
        </p:spPr>
        <p:txBody>
          <a:bodyPr wrap="squar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07 / 16 · CONVERSATIONAL MEMORY</a:t>
            </a:r>
            <a:endParaRPr lang="en-US" sz="600" dirty="0"/>
          </a:p>
        </p:txBody>
      </p:sp>
      <p:sp>
        <p:nvSpPr>
          <p:cNvPr id="6" name="Text 2"/>
          <p:cNvSpPr/>
          <p:nvPr/>
        </p:nvSpPr>
        <p:spPr>
          <a:xfrm>
            <a:off x="400050" y="442913"/>
            <a:ext cx="8636000" cy="11187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CONVERSATIONAL MEMORY &amp; QUERY REFORMULATION</a:t>
            </a:r>
            <a:endParaRPr lang="en-US" sz="800" dirty="0"/>
          </a:p>
        </p:txBody>
      </p:sp>
      <p:sp>
        <p:nvSpPr>
          <p:cNvPr id="7" name="Text 3"/>
          <p:cNvSpPr/>
          <p:nvPr/>
        </p:nvSpPr>
        <p:spPr>
          <a:xfrm>
            <a:off x="400050" y="582216"/>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Multi-Turn Dialogue Without Context Degradation</a:t>
            </a:r>
            <a:endParaRPr lang="en-US" sz="1238" dirty="0"/>
          </a:p>
        </p:txBody>
      </p:sp>
      <p:sp>
        <p:nvSpPr>
          <p:cNvPr id="8" name="Text 4"/>
          <p:cNvSpPr/>
          <p:nvPr/>
        </p:nvSpPr>
        <p:spPr>
          <a:xfrm>
            <a:off x="400050" y="899331"/>
            <a:ext cx="4693164" cy="16902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64748B"/>
                </a:solidFill>
                <a:latin typeface="Courier New" pitchFamily="34" charset="0"/>
                <a:ea typeface="Courier New" pitchFamily="34" charset="-122"/>
                <a:cs typeface="Courier New" pitchFamily="34" charset="-120"/>
              </a:rPr>
              <a:t>LIVE CHAT SEQUENCE · USER ↔ ASSISTANT</a:t>
            </a:r>
            <a:endParaRPr lang="en-US" sz="800" dirty="0"/>
          </a:p>
        </p:txBody>
      </p:sp>
      <p:sp>
        <p:nvSpPr>
          <p:cNvPr id="9" name="Text 5"/>
          <p:cNvSpPr/>
          <p:nvPr/>
        </p:nvSpPr>
        <p:spPr>
          <a:xfrm>
            <a:off x="887053" y="1095784"/>
            <a:ext cx="3570647" cy="431081"/>
          </a:xfrm>
          <a:prstGeom prst="roundRect">
            <a:avLst>
              <a:gd name="adj" fmla="val 30934"/>
            </a:avLst>
          </a:prstGeom>
          <a:solidFill>
            <a:srgbClr val="D4A017">
              <a:alpha val="12000"/>
            </a:srgbClr>
          </a:solidFill>
          <a:ln/>
        </p:spPr>
        <p:txBody>
          <a:bodyPr wrap="square" rtlCol="0" anchor="ctr"/>
          <a:lstStyle/>
          <a:p>
            <a:pPr indent="0" marL="0">
              <a:buNone/>
            </a:pPr>
            <a:endParaRPr lang="en-US" dirty="0"/>
          </a:p>
        </p:txBody>
      </p:sp>
      <p:sp>
        <p:nvSpPr>
          <p:cNvPr id="10" name="Shape 6"/>
          <p:cNvSpPr/>
          <p:nvPr/>
        </p:nvSpPr>
        <p:spPr>
          <a:xfrm>
            <a:off x="887053" y="1099356"/>
            <a:ext cx="3570647" cy="0"/>
          </a:xfrm>
          <a:prstGeom prst="line">
            <a:avLst/>
          </a:prstGeom>
          <a:noFill/>
          <a:ln w="7144">
            <a:solidFill>
              <a:srgbClr val="D4A017"/>
            </a:solidFill>
            <a:prstDash val="solid"/>
          </a:ln>
        </p:spPr>
      </p:sp>
      <p:sp>
        <p:nvSpPr>
          <p:cNvPr id="11" name="Shape 7"/>
          <p:cNvSpPr/>
          <p:nvPr/>
        </p:nvSpPr>
        <p:spPr>
          <a:xfrm>
            <a:off x="4446984" y="1095784"/>
            <a:ext cx="0" cy="431081"/>
          </a:xfrm>
          <a:prstGeom prst="line">
            <a:avLst/>
          </a:prstGeom>
          <a:noFill/>
          <a:ln w="21431">
            <a:solidFill>
              <a:srgbClr val="D4A017"/>
            </a:solidFill>
            <a:prstDash val="solid"/>
          </a:ln>
        </p:spPr>
      </p:sp>
      <p:sp>
        <p:nvSpPr>
          <p:cNvPr id="12" name="Shape 8"/>
          <p:cNvSpPr/>
          <p:nvPr/>
        </p:nvSpPr>
        <p:spPr>
          <a:xfrm>
            <a:off x="887053" y="1523293"/>
            <a:ext cx="3570647" cy="0"/>
          </a:xfrm>
          <a:prstGeom prst="line">
            <a:avLst/>
          </a:prstGeom>
          <a:noFill/>
          <a:ln w="7144">
            <a:solidFill>
              <a:srgbClr val="D4A017"/>
            </a:solidFill>
            <a:prstDash val="solid"/>
          </a:ln>
        </p:spPr>
      </p:sp>
      <p:sp>
        <p:nvSpPr>
          <p:cNvPr id="13" name="Shape 9"/>
          <p:cNvSpPr/>
          <p:nvPr/>
        </p:nvSpPr>
        <p:spPr>
          <a:xfrm>
            <a:off x="890625" y="1095784"/>
            <a:ext cx="0" cy="431081"/>
          </a:xfrm>
          <a:prstGeom prst="line">
            <a:avLst/>
          </a:prstGeom>
          <a:noFill/>
          <a:ln w="7144">
            <a:solidFill>
              <a:srgbClr val="D4A017"/>
            </a:solidFill>
            <a:prstDash val="solid"/>
          </a:ln>
        </p:spPr>
      </p:sp>
      <p:sp>
        <p:nvSpPr>
          <p:cNvPr id="14" name="Text 10"/>
          <p:cNvSpPr/>
          <p:nvPr/>
        </p:nvSpPr>
        <p:spPr>
          <a:xfrm>
            <a:off x="994209" y="1174366"/>
            <a:ext cx="3342047" cy="111871"/>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B45309"/>
                </a:solidFill>
                <a:latin typeface="Liberation Sans Narrow" pitchFamily="34" charset="0"/>
                <a:ea typeface="Liberation Sans Narrow" pitchFamily="34" charset="-122"/>
                <a:cs typeface="Liberation Sans Narrow" pitchFamily="34" charset="-120"/>
              </a:rPr>
              <a:t>TURN 1 — USER</a:t>
            </a:r>
            <a:endParaRPr lang="en-US" sz="800" dirty="0"/>
          </a:p>
        </p:txBody>
      </p:sp>
      <p:sp>
        <p:nvSpPr>
          <p:cNvPr id="15" name="Text 11"/>
          <p:cNvSpPr/>
          <p:nvPr/>
        </p:nvSpPr>
        <p:spPr>
          <a:xfrm>
            <a:off x="994209" y="1313669"/>
            <a:ext cx="3342047" cy="134615"/>
          </a:xfrm>
          <a:prstGeom prst="rect">
            <a:avLst/>
          </a:prstGeom>
          <a:noFill/>
          <a:ln/>
        </p:spPr>
        <p:txBody>
          <a:bodyPr wrap="square" lIns="0" tIns="0" rIns="0" bIns="0" rtlCol="0" anchor="t"/>
          <a:lstStyle/>
          <a:p>
            <a:pPr algn="l" indent="0" marL="0">
              <a:lnSpc>
                <a:spcPts val="1060"/>
              </a:lnSpc>
              <a:buNone/>
            </a:pPr>
            <a:r>
              <a:rPr lang="en-US" sz="800" dirty="0">
                <a:solidFill>
                  <a:srgbClr val="0F172A"/>
                </a:solidFill>
                <a:latin typeface="Carlito" pitchFamily="34" charset="0"/>
                <a:ea typeface="Carlito" pitchFamily="34" charset="-122"/>
                <a:cs typeface="Carlito" pitchFamily="34" charset="-120"/>
              </a:rPr>
              <a:t>What is the minimum attendance required for diploma exams?</a:t>
            </a:r>
            <a:endParaRPr lang="en-US" sz="800" dirty="0"/>
          </a:p>
        </p:txBody>
      </p:sp>
      <p:sp>
        <p:nvSpPr>
          <p:cNvPr id="16" name="Text 12"/>
          <p:cNvSpPr/>
          <p:nvPr/>
        </p:nvSpPr>
        <p:spPr>
          <a:xfrm>
            <a:off x="887053" y="1612590"/>
            <a:ext cx="3570647" cy="431081"/>
          </a:xfrm>
          <a:prstGeom prst="roundRect">
            <a:avLst>
              <a:gd name="adj" fmla="val 30934"/>
            </a:avLst>
          </a:prstGeom>
          <a:solidFill>
            <a:srgbClr val="D4A017">
              <a:alpha val="12000"/>
            </a:srgbClr>
          </a:solidFill>
          <a:ln/>
        </p:spPr>
        <p:txBody>
          <a:bodyPr wrap="square" rtlCol="0" anchor="ctr"/>
          <a:lstStyle/>
          <a:p>
            <a:pPr indent="0" marL="0">
              <a:buNone/>
            </a:pPr>
            <a:endParaRPr lang="en-US" dirty="0"/>
          </a:p>
        </p:txBody>
      </p:sp>
      <p:sp>
        <p:nvSpPr>
          <p:cNvPr id="17" name="Shape 13"/>
          <p:cNvSpPr/>
          <p:nvPr/>
        </p:nvSpPr>
        <p:spPr>
          <a:xfrm>
            <a:off x="887053" y="1616162"/>
            <a:ext cx="3570647" cy="0"/>
          </a:xfrm>
          <a:prstGeom prst="line">
            <a:avLst/>
          </a:prstGeom>
          <a:noFill/>
          <a:ln w="7144">
            <a:solidFill>
              <a:srgbClr val="D4A017"/>
            </a:solidFill>
            <a:prstDash val="solid"/>
          </a:ln>
        </p:spPr>
      </p:sp>
      <p:sp>
        <p:nvSpPr>
          <p:cNvPr id="18" name="Shape 14"/>
          <p:cNvSpPr/>
          <p:nvPr/>
        </p:nvSpPr>
        <p:spPr>
          <a:xfrm>
            <a:off x="4446984" y="1612590"/>
            <a:ext cx="0" cy="431081"/>
          </a:xfrm>
          <a:prstGeom prst="line">
            <a:avLst/>
          </a:prstGeom>
          <a:noFill/>
          <a:ln w="21431">
            <a:solidFill>
              <a:srgbClr val="D4A017"/>
            </a:solidFill>
            <a:prstDash val="solid"/>
          </a:ln>
        </p:spPr>
      </p:sp>
      <p:sp>
        <p:nvSpPr>
          <p:cNvPr id="19" name="Shape 15"/>
          <p:cNvSpPr/>
          <p:nvPr/>
        </p:nvSpPr>
        <p:spPr>
          <a:xfrm>
            <a:off x="887053" y="2040099"/>
            <a:ext cx="3570647" cy="0"/>
          </a:xfrm>
          <a:prstGeom prst="line">
            <a:avLst/>
          </a:prstGeom>
          <a:noFill/>
          <a:ln w="7144">
            <a:solidFill>
              <a:srgbClr val="D4A017"/>
            </a:solidFill>
            <a:prstDash val="solid"/>
          </a:ln>
        </p:spPr>
      </p:sp>
      <p:sp>
        <p:nvSpPr>
          <p:cNvPr id="20" name="Shape 16"/>
          <p:cNvSpPr/>
          <p:nvPr/>
        </p:nvSpPr>
        <p:spPr>
          <a:xfrm>
            <a:off x="890625" y="1612590"/>
            <a:ext cx="0" cy="431081"/>
          </a:xfrm>
          <a:prstGeom prst="line">
            <a:avLst/>
          </a:prstGeom>
          <a:noFill/>
          <a:ln w="7144">
            <a:solidFill>
              <a:srgbClr val="D4A017"/>
            </a:solidFill>
            <a:prstDash val="solid"/>
          </a:ln>
        </p:spPr>
      </p:sp>
      <p:sp>
        <p:nvSpPr>
          <p:cNvPr id="21" name="Text 17"/>
          <p:cNvSpPr/>
          <p:nvPr/>
        </p:nvSpPr>
        <p:spPr>
          <a:xfrm>
            <a:off x="994209" y="1691171"/>
            <a:ext cx="3342047" cy="111871"/>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B45309"/>
                </a:solidFill>
                <a:latin typeface="Liberation Sans Narrow" pitchFamily="34" charset="0"/>
                <a:ea typeface="Liberation Sans Narrow" pitchFamily="34" charset="-122"/>
                <a:cs typeface="Liberation Sans Narrow" pitchFamily="34" charset="-120"/>
              </a:rPr>
              <a:t>TURN 2 — USER</a:t>
            </a:r>
            <a:endParaRPr lang="en-US" sz="800" dirty="0"/>
          </a:p>
        </p:txBody>
      </p:sp>
      <p:sp>
        <p:nvSpPr>
          <p:cNvPr id="22" name="Text 18"/>
          <p:cNvSpPr/>
          <p:nvPr/>
        </p:nvSpPr>
        <p:spPr>
          <a:xfrm>
            <a:off x="994209" y="1830474"/>
            <a:ext cx="3451775" cy="134615"/>
          </a:xfrm>
          <a:prstGeom prst="rect">
            <a:avLst/>
          </a:prstGeom>
          <a:noFill/>
          <a:ln/>
        </p:spPr>
        <p:txBody>
          <a:bodyPr wrap="square" lIns="0" tIns="0" rIns="0" bIns="0" rtlCol="0" anchor="t"/>
          <a:lstStyle/>
          <a:p>
            <a:pPr algn="l" indent="0" marL="0">
              <a:lnSpc>
                <a:spcPts val="1060"/>
              </a:lnSpc>
              <a:buNone/>
            </a:pPr>
            <a:r>
              <a:rPr lang="en-US" sz="800" dirty="0">
                <a:solidFill>
                  <a:srgbClr val="0F172A"/>
                </a:solidFill>
                <a:latin typeface="Carlito" pitchFamily="34" charset="0"/>
                <a:ea typeface="Carlito" pitchFamily="34" charset="-122"/>
                <a:cs typeface="Carlito" pitchFamily="34" charset="-120"/>
              </a:rPr>
              <a:t>Can the Principal condone shortage in it?</a:t>
            </a:r>
            <a:endParaRPr lang="en-US" sz="800" dirty="0"/>
          </a:p>
        </p:txBody>
      </p:sp>
      <p:sp>
        <p:nvSpPr>
          <p:cNvPr id="23" name="Text 19"/>
          <p:cNvSpPr/>
          <p:nvPr/>
        </p:nvSpPr>
        <p:spPr>
          <a:xfrm>
            <a:off x="400050" y="2115108"/>
            <a:ext cx="4057650" cy="154734"/>
          </a:xfrm>
          <a:prstGeom prst="rect">
            <a:avLst/>
          </a:prstGeom>
          <a:noFill/>
          <a:ln/>
        </p:spPr>
        <p:txBody>
          <a:bodyPr wrap="square" lIns="0" tIns="0" rIns="57150" bIns="0" rtlCol="0" anchor="t">
            <a:normAutofit/>
          </a:bodyPr>
          <a:lstStyle/>
          <a:p>
            <a:pPr algn="r" indent="0" marL="0">
              <a:lnSpc>
                <a:spcPts val="872"/>
              </a:lnSpc>
              <a:buNone/>
            </a:pPr>
            <a:r>
              <a:rPr lang="en-US" sz="800" spc="90" kern="0" dirty="0">
                <a:solidFill>
                  <a:srgbClr val="0E7490">
                    <a:alpha val="85000"/>
                  </a:srgbClr>
                </a:solidFill>
                <a:latin typeface="Courier New" pitchFamily="34" charset="0"/>
                <a:ea typeface="Courier New" pitchFamily="34" charset="-122"/>
                <a:cs typeface="Courier New" pitchFamily="34" charset="-120"/>
              </a:rPr>
              <a:t>PRONOUN → IT / THAT / SUCH CASES</a:t>
            </a:r>
            <a:endParaRPr lang="en-US" sz="800" dirty="0"/>
          </a:p>
        </p:txBody>
      </p:sp>
      <p:sp>
        <p:nvSpPr>
          <p:cNvPr id="24" name="Text 20"/>
          <p:cNvSpPr/>
          <p:nvPr/>
        </p:nvSpPr>
        <p:spPr>
          <a:xfrm>
            <a:off x="887053" y="2297274"/>
            <a:ext cx="3570647" cy="431081"/>
          </a:xfrm>
          <a:prstGeom prst="roundRect">
            <a:avLst>
              <a:gd name="adj" fmla="val 30934"/>
            </a:avLst>
          </a:prstGeom>
          <a:solidFill>
            <a:srgbClr val="D4A017">
              <a:alpha val="12000"/>
            </a:srgbClr>
          </a:solidFill>
          <a:ln/>
        </p:spPr>
        <p:txBody>
          <a:bodyPr wrap="square" rtlCol="0" anchor="ctr"/>
          <a:lstStyle/>
          <a:p>
            <a:pPr indent="0" marL="0">
              <a:buNone/>
            </a:pPr>
            <a:endParaRPr lang="en-US" dirty="0"/>
          </a:p>
        </p:txBody>
      </p:sp>
      <p:sp>
        <p:nvSpPr>
          <p:cNvPr id="25" name="Shape 21"/>
          <p:cNvSpPr/>
          <p:nvPr/>
        </p:nvSpPr>
        <p:spPr>
          <a:xfrm>
            <a:off x="887053" y="2300846"/>
            <a:ext cx="3570647" cy="0"/>
          </a:xfrm>
          <a:prstGeom prst="line">
            <a:avLst/>
          </a:prstGeom>
          <a:noFill/>
          <a:ln w="7144">
            <a:solidFill>
              <a:srgbClr val="D4A017"/>
            </a:solidFill>
            <a:prstDash val="solid"/>
          </a:ln>
        </p:spPr>
      </p:sp>
      <p:sp>
        <p:nvSpPr>
          <p:cNvPr id="26" name="Shape 22"/>
          <p:cNvSpPr/>
          <p:nvPr/>
        </p:nvSpPr>
        <p:spPr>
          <a:xfrm>
            <a:off x="4446984" y="2297274"/>
            <a:ext cx="0" cy="431081"/>
          </a:xfrm>
          <a:prstGeom prst="line">
            <a:avLst/>
          </a:prstGeom>
          <a:noFill/>
          <a:ln w="21431">
            <a:solidFill>
              <a:srgbClr val="D4A017"/>
            </a:solidFill>
            <a:prstDash val="solid"/>
          </a:ln>
        </p:spPr>
      </p:sp>
      <p:sp>
        <p:nvSpPr>
          <p:cNvPr id="27" name="Shape 23"/>
          <p:cNvSpPr/>
          <p:nvPr/>
        </p:nvSpPr>
        <p:spPr>
          <a:xfrm>
            <a:off x="887053" y="2724783"/>
            <a:ext cx="3570647" cy="0"/>
          </a:xfrm>
          <a:prstGeom prst="line">
            <a:avLst/>
          </a:prstGeom>
          <a:noFill/>
          <a:ln w="7144">
            <a:solidFill>
              <a:srgbClr val="D4A017"/>
            </a:solidFill>
            <a:prstDash val="solid"/>
          </a:ln>
        </p:spPr>
      </p:sp>
      <p:sp>
        <p:nvSpPr>
          <p:cNvPr id="28" name="Shape 24"/>
          <p:cNvSpPr/>
          <p:nvPr/>
        </p:nvSpPr>
        <p:spPr>
          <a:xfrm>
            <a:off x="890625" y="2297274"/>
            <a:ext cx="0" cy="431081"/>
          </a:xfrm>
          <a:prstGeom prst="line">
            <a:avLst/>
          </a:prstGeom>
          <a:noFill/>
          <a:ln w="7144">
            <a:solidFill>
              <a:srgbClr val="D4A017"/>
            </a:solidFill>
            <a:prstDash val="solid"/>
          </a:ln>
        </p:spPr>
      </p:sp>
      <p:sp>
        <p:nvSpPr>
          <p:cNvPr id="29" name="Text 25"/>
          <p:cNvSpPr/>
          <p:nvPr/>
        </p:nvSpPr>
        <p:spPr>
          <a:xfrm>
            <a:off x="994209" y="2375855"/>
            <a:ext cx="3342047" cy="111871"/>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B45309"/>
                </a:solidFill>
                <a:latin typeface="Liberation Sans Narrow" pitchFamily="34" charset="0"/>
                <a:ea typeface="Liberation Sans Narrow" pitchFamily="34" charset="-122"/>
                <a:cs typeface="Liberation Sans Narrow" pitchFamily="34" charset="-120"/>
              </a:rPr>
              <a:t>TURN 3 — USER</a:t>
            </a:r>
            <a:endParaRPr lang="en-US" sz="800" dirty="0"/>
          </a:p>
        </p:txBody>
      </p:sp>
      <p:sp>
        <p:nvSpPr>
          <p:cNvPr id="30" name="Text 26"/>
          <p:cNvSpPr/>
          <p:nvPr/>
        </p:nvSpPr>
        <p:spPr>
          <a:xfrm>
            <a:off x="994209" y="2515158"/>
            <a:ext cx="3342047" cy="134615"/>
          </a:xfrm>
          <a:prstGeom prst="rect">
            <a:avLst/>
          </a:prstGeom>
          <a:noFill/>
          <a:ln/>
        </p:spPr>
        <p:txBody>
          <a:bodyPr wrap="square" lIns="0" tIns="0" rIns="0" bIns="0" rtlCol="0" anchor="t"/>
          <a:lstStyle/>
          <a:p>
            <a:pPr algn="l" indent="0" marL="0">
              <a:lnSpc>
                <a:spcPts val="1060"/>
              </a:lnSpc>
              <a:buNone/>
            </a:pPr>
            <a:r>
              <a:rPr lang="en-US" sz="731" dirty="0">
                <a:solidFill>
                  <a:srgbClr val="0F172A"/>
                </a:solidFill>
                <a:latin typeface="Carlito" pitchFamily="34" charset="0"/>
                <a:ea typeface="Carlito" pitchFamily="34" charset="-122"/>
                <a:cs typeface="Carlito" pitchFamily="34" charset="-120"/>
              </a:rPr>
              <a:t>What is the deadline to submit medical certificates for that?</a:t>
            </a:r>
            <a:endParaRPr lang="en-US" sz="731" dirty="0"/>
          </a:p>
        </p:txBody>
      </p:sp>
      <p:sp>
        <p:nvSpPr>
          <p:cNvPr id="31" name="Text 27"/>
          <p:cNvSpPr/>
          <p:nvPr/>
        </p:nvSpPr>
        <p:spPr>
          <a:xfrm>
            <a:off x="4686300" y="899331"/>
            <a:ext cx="4457700" cy="214674"/>
          </a:xfrm>
          <a:prstGeom prst="rect">
            <a:avLst/>
          </a:prstGeom>
          <a:noFill/>
          <a:ln/>
        </p:spPr>
        <p:txBody>
          <a:bodyPr wrap="square" lIns="0" tIns="0" rIns="0" bIns="0" rtlCol="0" anchor="t"/>
          <a:lstStyle/>
          <a:p>
            <a:pPr algn="l" indent="0" marL="0">
              <a:lnSpc>
                <a:spcPts val="1569"/>
              </a:lnSpc>
              <a:buNone/>
            </a:pPr>
            <a:r>
              <a:rPr lang="en-US" sz="1013" spc="-5" kern="0" dirty="0">
                <a:solidFill>
                  <a:srgbClr val="0F172A"/>
                </a:solidFill>
                <a:latin typeface="Carlito" pitchFamily="34" charset="0"/>
                <a:ea typeface="Carlito" pitchFamily="34" charset="-122"/>
                <a:cs typeface="Carlito" pitchFamily="34" charset="-120"/>
              </a:rPr>
              <a:t>Algorithmic Contextual Reformulation</a:t>
            </a:r>
            <a:endParaRPr lang="en-US" sz="1013" dirty="0"/>
          </a:p>
        </p:txBody>
      </p:sp>
      <p:sp>
        <p:nvSpPr>
          <p:cNvPr id="32" name="Text 28"/>
          <p:cNvSpPr/>
          <p:nvPr/>
        </p:nvSpPr>
        <p:spPr>
          <a:xfrm>
            <a:off x="4686300" y="1141437"/>
            <a:ext cx="4057650" cy="490490"/>
          </a:xfrm>
          <a:prstGeom prst="rect">
            <a:avLst/>
          </a:prstGeom>
          <a:noFill/>
          <a:ln/>
        </p:spPr>
        <p:txBody>
          <a:bodyPr wrap="square" lIns="0" tIns="0" rIns="0" bIns="0" rtlCol="0" anchor="t">
            <a:normAutofit/>
          </a:bodyPr>
          <a:lstStyle/>
          <a:p>
            <a:pPr algn="l" indent="0" marL="0">
              <a:lnSpc>
                <a:spcPts val="1097"/>
              </a:lnSpc>
              <a:buNone/>
            </a:pPr>
            <a:r>
              <a:rPr lang="en-US" sz="800" dirty="0">
                <a:solidFill>
                  <a:srgbClr val="475569"/>
                </a:solidFill>
                <a:latin typeface="Carlito" pitchFamily="34" charset="0"/>
                <a:ea typeface="Carlito" pitchFamily="34" charset="-122"/>
                <a:cs typeface="Carlito" pitchFamily="34" charset="-120"/>
              </a:rPr>
              <a:t>Instead of passing raw ambiguous follow-ups into vector search, the system invokes an internal reformulation engine that resolves pronouns using prior dialogue turns and generates a standalone search query.</a:t>
            </a:r>
            <a:endParaRPr lang="en-US" sz="800" dirty="0"/>
          </a:p>
        </p:txBody>
      </p:sp>
      <p:sp>
        <p:nvSpPr>
          <p:cNvPr id="33" name="Text 29"/>
          <p:cNvSpPr/>
          <p:nvPr/>
        </p:nvSpPr>
        <p:spPr>
          <a:xfrm>
            <a:off x="4689872" y="1662931"/>
            <a:ext cx="4050506" cy="466799"/>
          </a:xfrm>
          <a:prstGeom prst="roundRect">
            <a:avLst>
              <a:gd name="adj" fmla="val 20405"/>
            </a:avLst>
          </a:prstGeom>
          <a:solidFill>
            <a:srgbClr val="FFFFFF">
              <a:alpha val="85000"/>
            </a:srgbClr>
          </a:solidFill>
          <a:ln w="7144">
            <a:solidFill>
              <a:srgbClr val="94A3B8"/>
            </a:solidFill>
            <a:prstDash val="dash"/>
          </a:ln>
        </p:spPr>
        <p:txBody>
          <a:bodyPr wrap="square" rtlCol="0" anchor="ctr"/>
          <a:lstStyle/>
          <a:p>
            <a:pPr indent="0" marL="0">
              <a:buNone/>
            </a:pPr>
            <a:endParaRPr lang="en-US" dirty="0"/>
          </a:p>
        </p:txBody>
      </p:sp>
      <p:sp>
        <p:nvSpPr>
          <p:cNvPr id="34" name="Text 30"/>
          <p:cNvSpPr/>
          <p:nvPr/>
        </p:nvSpPr>
        <p:spPr>
          <a:xfrm>
            <a:off x="4807744" y="1752228"/>
            <a:ext cx="3814763" cy="126159"/>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64748B"/>
                </a:solidFill>
                <a:latin typeface="Liberation Sans Narrow" pitchFamily="34" charset="0"/>
                <a:ea typeface="Liberation Sans Narrow" pitchFamily="34" charset="-122"/>
                <a:cs typeface="Liberation Sans Narrow" pitchFamily="34" charset="-120"/>
              </a:rPr>
              <a:t>RAW USER INPUT (TURN 3)</a:t>
            </a:r>
            <a:endParaRPr lang="en-US" sz="800" dirty="0"/>
          </a:p>
        </p:txBody>
      </p:sp>
      <p:sp>
        <p:nvSpPr>
          <p:cNvPr id="35" name="Text 31"/>
          <p:cNvSpPr/>
          <p:nvPr/>
        </p:nvSpPr>
        <p:spPr>
          <a:xfrm>
            <a:off x="4807744" y="1905819"/>
            <a:ext cx="3814763" cy="134615"/>
          </a:xfrm>
          <a:prstGeom prst="rect">
            <a:avLst/>
          </a:prstGeom>
          <a:noFill/>
          <a:ln/>
        </p:spPr>
        <p:txBody>
          <a:bodyPr wrap="square" lIns="0" tIns="0" rIns="0" bIns="0" rtlCol="0" anchor="t"/>
          <a:lstStyle/>
          <a:p>
            <a:pPr algn="l" indent="0" marL="0">
              <a:lnSpc>
                <a:spcPts val="1060"/>
              </a:lnSpc>
              <a:buNone/>
            </a:pPr>
            <a:r>
              <a:rPr lang="en-US" sz="800" i="1" dirty="0">
                <a:solidFill>
                  <a:srgbClr val="475569"/>
                </a:solidFill>
                <a:latin typeface="Carlito" pitchFamily="34" charset="0"/>
                <a:ea typeface="Carlito" pitchFamily="34" charset="-122"/>
                <a:cs typeface="Carlito" pitchFamily="34" charset="-120"/>
              </a:rPr>
              <a:t>"What is the deadline to submit medical certificates for that?"</a:t>
            </a:r>
            <a:endParaRPr lang="en-US" sz="800" dirty="0"/>
          </a:p>
        </p:txBody>
      </p:sp>
      <p:sp>
        <p:nvSpPr>
          <p:cNvPr id="36" name="Text 32"/>
          <p:cNvSpPr/>
          <p:nvPr/>
        </p:nvSpPr>
        <p:spPr>
          <a:xfrm>
            <a:off x="6622256" y="2161877"/>
            <a:ext cx="185738" cy="185738"/>
          </a:xfrm>
          <a:prstGeom prst="rect">
            <a:avLst/>
          </a:prstGeom>
          <a:noFill/>
          <a:ln/>
        </p:spPr>
        <p:txBody>
          <a:bodyPr wrap="none" lIns="0" tIns="0" rIns="0" bIns="0" rtlCol="0" anchor="ctr"/>
          <a:lstStyle/>
          <a:p>
            <a:pPr algn="ctr" indent="0" marL="0">
              <a:buNone/>
            </a:pPr>
            <a:r>
              <a:rPr lang="en-US" sz="1828" dirty="0">
                <a:solidFill>
                  <a:srgbClr val="0E7490"/>
                </a:solidFill>
                <a:latin typeface="Segoe UI Symbol" pitchFamily="34" charset="0"/>
                <a:ea typeface="Segoe UI Symbol" pitchFamily="34" charset="-122"/>
                <a:cs typeface="Segoe UI Symbol" pitchFamily="34" charset="-120"/>
              </a:rPr>
              <a:t>↓</a:t>
            </a:r>
            <a:endParaRPr lang="en-US" sz="1828" dirty="0"/>
          </a:p>
        </p:txBody>
      </p:sp>
      <p:pic>
        <p:nvPicPr>
          <p:cNvPr id="37" name="Image 2" descr="preencoded.png">    </p:cNvPr>
          <p:cNvPicPr>
            <a:picLocks noChangeAspect="1"/>
          </p:cNvPicPr>
          <p:nvPr/>
        </p:nvPicPr>
        <p:blipFill>
          <a:blip r:embed="rId3"/>
          <a:stretch>
            <a:fillRect/>
          </a:stretch>
        </p:blipFill>
        <p:spPr>
          <a:xfrm>
            <a:off x="4686300" y="2376190"/>
            <a:ext cx="4057650" cy="629320"/>
          </a:xfrm>
          <a:prstGeom prst="rect">
            <a:avLst/>
          </a:prstGeom>
        </p:spPr>
      </p:pic>
      <p:sp>
        <p:nvSpPr>
          <p:cNvPr id="38" name="Shape 33"/>
          <p:cNvSpPr/>
          <p:nvPr/>
        </p:nvSpPr>
        <p:spPr>
          <a:xfrm>
            <a:off x="4686300" y="2379762"/>
            <a:ext cx="4057650" cy="0"/>
          </a:xfrm>
          <a:prstGeom prst="line">
            <a:avLst/>
          </a:prstGeom>
          <a:noFill/>
          <a:ln w="7144">
            <a:solidFill>
              <a:srgbClr val="0E7490"/>
            </a:solidFill>
            <a:prstDash val="solid"/>
          </a:ln>
        </p:spPr>
      </p:sp>
      <p:sp>
        <p:nvSpPr>
          <p:cNvPr id="39" name="Shape 34"/>
          <p:cNvSpPr/>
          <p:nvPr/>
        </p:nvSpPr>
        <p:spPr>
          <a:xfrm>
            <a:off x="8740378" y="2376190"/>
            <a:ext cx="0" cy="629320"/>
          </a:xfrm>
          <a:prstGeom prst="line">
            <a:avLst/>
          </a:prstGeom>
          <a:noFill/>
          <a:ln w="7144">
            <a:solidFill>
              <a:srgbClr val="0E7490"/>
            </a:solidFill>
            <a:prstDash val="solid"/>
          </a:ln>
        </p:spPr>
      </p:sp>
      <p:sp>
        <p:nvSpPr>
          <p:cNvPr id="40" name="Shape 35"/>
          <p:cNvSpPr/>
          <p:nvPr/>
        </p:nvSpPr>
        <p:spPr>
          <a:xfrm>
            <a:off x="4686300" y="3001938"/>
            <a:ext cx="4057650" cy="0"/>
          </a:xfrm>
          <a:prstGeom prst="line">
            <a:avLst/>
          </a:prstGeom>
          <a:noFill/>
          <a:ln w="7144">
            <a:solidFill>
              <a:srgbClr val="0E7490"/>
            </a:solidFill>
            <a:prstDash val="solid"/>
          </a:ln>
        </p:spPr>
      </p:sp>
      <p:sp>
        <p:nvSpPr>
          <p:cNvPr id="41" name="Shape 36"/>
          <p:cNvSpPr/>
          <p:nvPr/>
        </p:nvSpPr>
        <p:spPr>
          <a:xfrm>
            <a:off x="4697016" y="2376190"/>
            <a:ext cx="0" cy="629320"/>
          </a:xfrm>
          <a:prstGeom prst="line">
            <a:avLst/>
          </a:prstGeom>
          <a:noFill/>
          <a:ln w="21431">
            <a:solidFill>
              <a:srgbClr val="06B6D4"/>
            </a:solidFill>
            <a:prstDash val="solid"/>
          </a:ln>
        </p:spPr>
      </p:sp>
      <p:sp>
        <p:nvSpPr>
          <p:cNvPr id="42" name="Text 37"/>
          <p:cNvSpPr/>
          <p:nvPr/>
        </p:nvSpPr>
        <p:spPr>
          <a:xfrm>
            <a:off x="4822031" y="2469059"/>
            <a:ext cx="3800475" cy="126159"/>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RESOLVED INTERNAL QUERY</a:t>
            </a:r>
            <a:endParaRPr lang="en-US" sz="800" dirty="0"/>
          </a:p>
        </p:txBody>
      </p:sp>
      <p:sp>
        <p:nvSpPr>
          <p:cNvPr id="43" name="Text 38"/>
          <p:cNvSpPr/>
          <p:nvPr/>
        </p:nvSpPr>
        <p:spPr>
          <a:xfrm>
            <a:off x="4822031" y="2622649"/>
            <a:ext cx="3800475" cy="289992"/>
          </a:xfrm>
          <a:prstGeom prst="rect">
            <a:avLst/>
          </a:prstGeom>
          <a:noFill/>
          <a:ln/>
        </p:spPr>
        <p:txBody>
          <a:bodyPr wrap="square" lIns="0" tIns="0" rIns="0" bIns="0" rtlCol="0" anchor="t"/>
          <a:lstStyle/>
          <a:p>
            <a:pPr algn="l" indent="0" marL="0">
              <a:lnSpc>
                <a:spcPts val="1142"/>
              </a:lnSpc>
              <a:buNone/>
            </a:pPr>
            <a:r>
              <a:rPr lang="en-US" sz="800" dirty="0">
                <a:solidFill>
                  <a:srgbClr val="0F172A"/>
                </a:solidFill>
                <a:latin typeface="Carlito" pitchFamily="34" charset="0"/>
                <a:ea typeface="Carlito" pitchFamily="34" charset="-122"/>
                <a:cs typeface="Carlito" pitchFamily="34" charset="-120"/>
              </a:rPr>
              <a:t>Deadline for submitting medical certificate for attendance condonation in KGP attendance rules</a:t>
            </a:r>
            <a:endParaRPr lang="en-US" sz="800" dirty="0"/>
          </a:p>
        </p:txBody>
      </p:sp>
      <p:sp>
        <p:nvSpPr>
          <p:cNvPr id="44" name="Text 39"/>
          <p:cNvSpPr/>
          <p:nvPr/>
        </p:nvSpPr>
        <p:spPr>
          <a:xfrm>
            <a:off x="5081550" y="3109094"/>
            <a:ext cx="3267038" cy="214647"/>
          </a:xfrm>
          <a:prstGeom prst="roundRect">
            <a:avLst>
              <a:gd name="adj" fmla="val 4433081"/>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45" name="Text 40"/>
          <p:cNvSpPr/>
          <p:nvPr/>
        </p:nvSpPr>
        <p:spPr>
          <a:xfrm>
            <a:off x="5328010" y="3162672"/>
            <a:ext cx="3415940" cy="139654"/>
          </a:xfrm>
          <a:prstGeom prst="rect">
            <a:avLst/>
          </a:prstGeom>
          <a:noFill/>
          <a:ln/>
        </p:spPr>
        <p:txBody>
          <a:bodyPr wrap="none" lIns="100013" tIns="42863" rIns="100013" bIns="42863" rtlCol="0" anchor="t"/>
          <a:lstStyle/>
          <a:p>
            <a:pPr algn="l" indent="0" marL="0">
              <a:lnSpc>
                <a:spcPts val="959"/>
              </a:lnSpc>
              <a:buNone/>
            </a:pPr>
            <a:r>
              <a:rPr lang="en-US" sz="619" spc="50" kern="0" dirty="0">
                <a:solidFill>
                  <a:srgbClr val="15803D"/>
                </a:solidFill>
                <a:latin typeface="Courier New" pitchFamily="34" charset="0"/>
                <a:ea typeface="Courier New" pitchFamily="34" charset="-122"/>
                <a:cs typeface="Courier New" pitchFamily="34" charset="-120"/>
              </a:rPr>
              <a:t>MAINTAINS HIGH RETRIEVAL ACCURACY ACROSS 5+ CONVERSATIONAL TURNS</a:t>
            </a:r>
            <a:endParaRPr lang="en-US" sz="619" dirty="0"/>
          </a:p>
        </p:txBody>
      </p:sp>
      <p:sp>
        <p:nvSpPr>
          <p:cNvPr id="46" name="Text 41"/>
          <p:cNvSpPr/>
          <p:nvPr/>
        </p:nvSpPr>
        <p:spPr>
          <a:xfrm>
            <a:off x="5185135" y="3166356"/>
            <a:ext cx="100013" cy="100013"/>
          </a:xfrm>
          <a:prstGeom prst="rect">
            <a:avLst/>
          </a:prstGeom>
          <a:noFill/>
          <a:ln/>
        </p:spPr>
        <p:txBody>
          <a:bodyPr wrap="none" lIns="0" tIns="0" rIns="0" bIns="0" rtlCol="0" anchor="ctr"/>
          <a:lstStyle/>
          <a:p>
            <a:pPr algn="ctr" indent="0" marL="0">
              <a:buNone/>
            </a:pPr>
            <a:r>
              <a:rPr lang="en-US" sz="984" dirty="0">
                <a:solidFill>
                  <a:srgbClr val="15803D"/>
                </a:solidFill>
                <a:latin typeface="Segoe UI Symbol" pitchFamily="34" charset="0"/>
                <a:ea typeface="Segoe UI Symbol" pitchFamily="34" charset="-122"/>
                <a:cs typeface="Segoe UI Symbol" pitchFamily="34" charset="-120"/>
              </a:rPr>
              <a:t>✓</a:t>
            </a:r>
            <a:endParaRPr lang="en-US" sz="984" dirty="0"/>
          </a:p>
        </p:txBody>
      </p:sp>
      <p:sp>
        <p:nvSpPr>
          <p:cNvPr id="47" name="Shape 42"/>
          <p:cNvSpPr/>
          <p:nvPr/>
        </p:nvSpPr>
        <p:spPr>
          <a:xfrm>
            <a:off x="400050" y="4829175"/>
            <a:ext cx="8343900" cy="0"/>
          </a:xfrm>
          <a:prstGeom prst="line">
            <a:avLst/>
          </a:prstGeom>
          <a:noFill/>
          <a:ln w="7144">
            <a:solidFill>
              <a:srgbClr val="0F172A"/>
            </a:solidFill>
            <a:prstDash val="solid"/>
          </a:ln>
        </p:spPr>
      </p:sp>
      <p:sp>
        <p:nvSpPr>
          <p:cNvPr id="48" name="Text 43"/>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49" name="Text 44"/>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08 / 18</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068071"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482408" y="157163"/>
            <a:ext cx="1395659" cy="170078"/>
          </a:xfrm>
          <a:prstGeom prst="rect">
            <a:avLst/>
          </a:prstGeom>
          <a:noFill/>
          <a:ln/>
        </p:spPr>
        <p:txBody>
          <a:bodyPr wrap="squar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08 / 16 · ANTI-HALLUCINATION</a:t>
            </a:r>
            <a:endParaRPr lang="en-US" sz="600" dirty="0"/>
          </a:p>
        </p:txBody>
      </p:sp>
      <p:sp>
        <p:nvSpPr>
          <p:cNvPr id="6" name="Text 2"/>
          <p:cNvSpPr/>
          <p:nvPr/>
        </p:nvSpPr>
        <p:spPr>
          <a:xfrm>
            <a:off x="400050" y="442913"/>
            <a:ext cx="8636000" cy="11187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ANTI-HALLUCINATION ENGINE &amp; CITATION PROTOCOL</a:t>
            </a:r>
            <a:endParaRPr lang="en-US" sz="800" dirty="0"/>
          </a:p>
        </p:txBody>
      </p:sp>
      <p:sp>
        <p:nvSpPr>
          <p:cNvPr id="7" name="Text 3"/>
          <p:cNvSpPr/>
          <p:nvPr/>
        </p:nvSpPr>
        <p:spPr>
          <a:xfrm>
            <a:off x="400050" y="582216"/>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Trust, Verifiability, and Grounded Generation</a:t>
            </a:r>
            <a:endParaRPr lang="en-US" sz="1238" dirty="0"/>
          </a:p>
        </p:txBody>
      </p:sp>
      <p:pic>
        <p:nvPicPr>
          <p:cNvPr id="8" name="Image 2" descr="preencoded.png">    </p:cNvPr>
          <p:cNvPicPr>
            <a:picLocks noChangeAspect="1"/>
          </p:cNvPicPr>
          <p:nvPr/>
        </p:nvPicPr>
        <p:blipFill>
          <a:blip r:embed="rId3"/>
          <a:stretch>
            <a:fillRect/>
          </a:stretch>
        </p:blipFill>
        <p:spPr>
          <a:xfrm>
            <a:off x="400050" y="885044"/>
            <a:ext cx="8343900" cy="1312218"/>
          </a:xfrm>
          <a:prstGeom prst="rect">
            <a:avLst/>
          </a:prstGeom>
        </p:spPr>
      </p:pic>
      <p:sp>
        <p:nvSpPr>
          <p:cNvPr id="9" name="Shape 4"/>
          <p:cNvSpPr/>
          <p:nvPr/>
        </p:nvSpPr>
        <p:spPr>
          <a:xfrm>
            <a:off x="400050" y="888616"/>
            <a:ext cx="8343900" cy="0"/>
          </a:xfrm>
          <a:prstGeom prst="line">
            <a:avLst/>
          </a:prstGeom>
          <a:noFill/>
          <a:ln w="7144">
            <a:solidFill>
              <a:srgbClr val="0E7490"/>
            </a:solidFill>
            <a:prstDash val="solid"/>
          </a:ln>
        </p:spPr>
      </p:sp>
      <p:sp>
        <p:nvSpPr>
          <p:cNvPr id="10" name="Shape 5"/>
          <p:cNvSpPr/>
          <p:nvPr/>
        </p:nvSpPr>
        <p:spPr>
          <a:xfrm>
            <a:off x="8740378" y="885044"/>
            <a:ext cx="0" cy="1312218"/>
          </a:xfrm>
          <a:prstGeom prst="line">
            <a:avLst/>
          </a:prstGeom>
          <a:noFill/>
          <a:ln w="7144">
            <a:solidFill>
              <a:srgbClr val="0E7490"/>
            </a:solidFill>
            <a:prstDash val="solid"/>
          </a:ln>
        </p:spPr>
      </p:sp>
      <p:sp>
        <p:nvSpPr>
          <p:cNvPr id="11" name="Shape 6"/>
          <p:cNvSpPr/>
          <p:nvPr/>
        </p:nvSpPr>
        <p:spPr>
          <a:xfrm>
            <a:off x="400050" y="2193689"/>
            <a:ext cx="8343900" cy="0"/>
          </a:xfrm>
          <a:prstGeom prst="line">
            <a:avLst/>
          </a:prstGeom>
          <a:noFill/>
          <a:ln w="7144">
            <a:solidFill>
              <a:srgbClr val="0E7490"/>
            </a:solidFill>
            <a:prstDash val="solid"/>
          </a:ln>
        </p:spPr>
      </p:sp>
      <p:sp>
        <p:nvSpPr>
          <p:cNvPr id="12" name="Shape 7"/>
          <p:cNvSpPr/>
          <p:nvPr/>
        </p:nvSpPr>
        <p:spPr>
          <a:xfrm>
            <a:off x="410766" y="885044"/>
            <a:ext cx="0" cy="1312218"/>
          </a:xfrm>
          <a:prstGeom prst="line">
            <a:avLst/>
          </a:prstGeom>
          <a:noFill/>
          <a:ln w="21431">
            <a:solidFill>
              <a:srgbClr val="06B6D4"/>
            </a:solidFill>
            <a:prstDash val="solid"/>
          </a:ln>
        </p:spPr>
      </p:sp>
      <p:sp>
        <p:nvSpPr>
          <p:cNvPr id="13" name="Text 8"/>
          <p:cNvSpPr/>
          <p:nvPr/>
        </p:nvSpPr>
        <p:spPr>
          <a:xfrm>
            <a:off x="564356" y="1011845"/>
            <a:ext cx="171450" cy="171450"/>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14" name="Text 9"/>
          <p:cNvSpPr/>
          <p:nvPr/>
        </p:nvSpPr>
        <p:spPr>
          <a:xfrm>
            <a:off x="807244" y="995557"/>
            <a:ext cx="1303065" cy="204026"/>
          </a:xfrm>
          <a:prstGeom prst="roundRect">
            <a:avLst>
              <a:gd name="adj" fmla="val 4663854"/>
            </a:avLst>
          </a:prstGeom>
          <a:solidFill>
            <a:srgbClr val="06B6D4">
              <a:alpha val="14000"/>
            </a:srgbClr>
          </a:solidFill>
          <a:ln w="7144">
            <a:solidFill>
              <a:srgbClr val="0E7490"/>
            </a:solidFill>
            <a:prstDash val="solid"/>
          </a:ln>
        </p:spPr>
        <p:txBody>
          <a:bodyPr wrap="square" rtlCol="0" anchor="ctr"/>
          <a:lstStyle/>
          <a:p>
            <a:pPr indent="0" marL="0">
              <a:buNone/>
            </a:pPr>
            <a:endParaRPr lang="en-US" dirty="0"/>
          </a:p>
        </p:txBody>
      </p:sp>
      <p:sp>
        <p:nvSpPr>
          <p:cNvPr id="15" name="Text 10"/>
          <p:cNvSpPr/>
          <p:nvPr/>
        </p:nvSpPr>
        <p:spPr>
          <a:xfrm>
            <a:off x="807244" y="1006487"/>
            <a:ext cx="1303065"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GROUNDING SYSTEM PROMPT</a:t>
            </a:r>
            <a:endParaRPr lang="en-US" sz="800" dirty="0"/>
          </a:p>
        </p:txBody>
      </p:sp>
      <p:sp>
        <p:nvSpPr>
          <p:cNvPr id="16" name="Text 11"/>
          <p:cNvSpPr/>
          <p:nvPr/>
        </p:nvSpPr>
        <p:spPr>
          <a:xfrm>
            <a:off x="564356" y="1245803"/>
            <a:ext cx="8029575" cy="169999"/>
          </a:xfrm>
          <a:prstGeom prst="rect">
            <a:avLst/>
          </a:prstGeom>
          <a:noFill/>
          <a:ln/>
        </p:spPr>
        <p:txBody>
          <a:bodyPr wrap="square" lIns="0" tIns="0" rIns="0" bIns="0" rtlCol="0" anchor="t"/>
          <a:lstStyle/>
          <a:p>
            <a:pPr algn="l" indent="0" marL="0">
              <a:lnSpc>
                <a:spcPts val="1133"/>
              </a:lnSpc>
              <a:buNone/>
            </a:pPr>
            <a:r>
              <a:rPr lang="en-US" sz="731" i="1" dirty="0">
                <a:solidFill>
                  <a:srgbClr val="0F172A"/>
                </a:solidFill>
                <a:latin typeface="Carlito" pitchFamily="34" charset="0"/>
                <a:ea typeface="Carlito" pitchFamily="34" charset="-122"/>
                <a:cs typeface="Carlito" pitchFamily="34" charset="-120"/>
              </a:rPr>
              <a:t>"Answer using ONLY the provided verified context. If the information is not present, respond with: I could not find this information in the available official documents."</a:t>
            </a:r>
            <a:endParaRPr lang="en-US" sz="731" dirty="0"/>
          </a:p>
        </p:txBody>
      </p:sp>
      <p:sp>
        <p:nvSpPr>
          <p:cNvPr id="17" name="Shape 12"/>
          <p:cNvSpPr/>
          <p:nvPr/>
        </p:nvSpPr>
        <p:spPr>
          <a:xfrm>
            <a:off x="564356" y="1464692"/>
            <a:ext cx="8029575" cy="0"/>
          </a:xfrm>
          <a:prstGeom prst="line">
            <a:avLst/>
          </a:prstGeom>
          <a:noFill/>
          <a:ln w="7144">
            <a:solidFill>
              <a:srgbClr val="06B6D4"/>
            </a:solidFill>
            <a:prstDash val="dash"/>
          </a:ln>
        </p:spPr>
      </p:sp>
      <p:sp>
        <p:nvSpPr>
          <p:cNvPr id="18" name="Text 13"/>
          <p:cNvSpPr/>
          <p:nvPr/>
        </p:nvSpPr>
        <p:spPr>
          <a:xfrm>
            <a:off x="564356" y="1539701"/>
            <a:ext cx="8029575" cy="119015"/>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SAMPLE GROUNDED ANSWER</a:t>
            </a:r>
            <a:endParaRPr lang="en-US" sz="800" dirty="0"/>
          </a:p>
        </p:txBody>
      </p:sp>
      <p:sp>
        <p:nvSpPr>
          <p:cNvPr id="19" name="Text 14"/>
          <p:cNvSpPr/>
          <p:nvPr/>
        </p:nvSpPr>
        <p:spPr>
          <a:xfrm>
            <a:off x="564356" y="1686148"/>
            <a:ext cx="8029575" cy="164592"/>
          </a:xfrm>
          <a:prstGeom prst="rect">
            <a:avLst/>
          </a:prstGeom>
          <a:noFill/>
          <a:ln/>
        </p:spPr>
        <p:txBody>
          <a:bodyPr wrap="square" lIns="0" tIns="0" rIns="0" bIns="0" rtlCol="0" anchor="t"/>
          <a:lstStyle/>
          <a:p>
            <a:pPr algn="l" indent="0" marL="0">
              <a:lnSpc>
                <a:spcPts val="1097"/>
              </a:lnSpc>
              <a:buNone/>
            </a:pPr>
            <a:r>
              <a:rPr lang="en-US" sz="800" dirty="0">
                <a:solidFill>
                  <a:srgbClr val="0F172A"/>
                </a:solidFill>
                <a:latin typeface="Carlito" pitchFamily="34" charset="0"/>
                <a:ea typeface="Carlito" pitchFamily="34" charset="-122"/>
                <a:cs typeface="Carlito" pitchFamily="34" charset="-120"/>
              </a:rPr>
              <a:t>Minimum 75% attendance required. Principal can condone up to 10% shortage (65%–74.9%) for illness/NCC; below 65% is non-condonable.</a:t>
            </a:r>
            <a:endParaRPr lang="en-US" sz="800" dirty="0"/>
          </a:p>
        </p:txBody>
      </p:sp>
      <p:sp>
        <p:nvSpPr>
          <p:cNvPr id="20" name="Text 15"/>
          <p:cNvSpPr/>
          <p:nvPr/>
        </p:nvSpPr>
        <p:spPr>
          <a:xfrm>
            <a:off x="567928" y="1900461"/>
            <a:ext cx="2301739" cy="186072"/>
          </a:xfrm>
          <a:prstGeom prst="roundRect">
            <a:avLst>
              <a:gd name="adj" fmla="val 5113867"/>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21" name="Text 16"/>
          <p:cNvSpPr/>
          <p:nvPr/>
        </p:nvSpPr>
        <p:spPr>
          <a:xfrm>
            <a:off x="800100" y="1939751"/>
            <a:ext cx="2108857" cy="139654"/>
          </a:xfrm>
          <a:prstGeom prst="rect">
            <a:avLst/>
          </a:prstGeom>
          <a:noFill/>
          <a:ln/>
        </p:spPr>
        <p:txBody>
          <a:bodyPr wrap="none" lIns="85725" tIns="28575" rIns="85725" bIns="28575" rtlCol="0" anchor="t"/>
          <a:lstStyle/>
          <a:p>
            <a:pPr algn="l" indent="0" marL="0">
              <a:lnSpc>
                <a:spcPts val="959"/>
              </a:lnSpc>
              <a:buNone/>
            </a:pPr>
            <a:r>
              <a:rPr lang="en-US" sz="619" spc="37" kern="0" dirty="0">
                <a:solidFill>
                  <a:srgbClr val="15803D"/>
                </a:solidFill>
                <a:latin typeface="Courier New" pitchFamily="34" charset="0"/>
                <a:ea typeface="Courier New" pitchFamily="34" charset="-122"/>
                <a:cs typeface="Courier New" pitchFamily="34" charset="-120"/>
              </a:rPr>
              <a:t>KGP_ORDER_ATTENDANCE_AND_LEAVE_RULES_2026.PDF</a:t>
            </a:r>
            <a:endParaRPr lang="en-US" sz="619" dirty="0"/>
          </a:p>
        </p:txBody>
      </p:sp>
      <p:sp>
        <p:nvSpPr>
          <p:cNvPr id="22" name="Text 17"/>
          <p:cNvSpPr/>
          <p:nvPr/>
        </p:nvSpPr>
        <p:spPr>
          <a:xfrm>
            <a:off x="657225" y="1943435"/>
            <a:ext cx="100013" cy="100013"/>
          </a:xfrm>
          <a:prstGeom prst="rect">
            <a:avLst/>
          </a:prstGeom>
          <a:noFill/>
          <a:ln/>
        </p:spPr>
        <p:txBody>
          <a:bodyPr wrap="none" lIns="0" tIns="0" rIns="0" bIns="0" rtlCol="0" anchor="ctr"/>
          <a:lstStyle/>
          <a:p>
            <a:pPr algn="ctr" indent="0" marL="0">
              <a:buNone/>
            </a:pPr>
            <a:r>
              <a:rPr lang="en-US" sz="984" dirty="0">
                <a:solidFill>
                  <a:srgbClr val="15803D"/>
                </a:solidFill>
                <a:latin typeface="Segoe UI Symbol" pitchFamily="34" charset="0"/>
                <a:ea typeface="Segoe UI Symbol" pitchFamily="34" charset="-122"/>
                <a:cs typeface="Segoe UI Symbol" pitchFamily="34" charset="-120"/>
              </a:rPr>
              <a:t>▤</a:t>
            </a:r>
            <a:endParaRPr lang="en-US" sz="984" dirty="0"/>
          </a:p>
        </p:txBody>
      </p:sp>
      <p:sp>
        <p:nvSpPr>
          <p:cNvPr id="23" name="Text 18"/>
          <p:cNvSpPr/>
          <p:nvPr/>
        </p:nvSpPr>
        <p:spPr>
          <a:xfrm>
            <a:off x="2948248" y="1900461"/>
            <a:ext cx="1313111" cy="186072"/>
          </a:xfrm>
          <a:prstGeom prst="roundRect">
            <a:avLst>
              <a:gd name="adj" fmla="val 5113867"/>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24" name="Text 19"/>
          <p:cNvSpPr/>
          <p:nvPr/>
        </p:nvSpPr>
        <p:spPr>
          <a:xfrm>
            <a:off x="3180420" y="1939751"/>
            <a:ext cx="5413511" cy="139654"/>
          </a:xfrm>
          <a:prstGeom prst="rect">
            <a:avLst/>
          </a:prstGeom>
          <a:noFill/>
          <a:ln/>
        </p:spPr>
        <p:txBody>
          <a:bodyPr wrap="none" lIns="0" tIns="0" rIns="0" bIns="0" rtlCol="0" anchor="t"/>
          <a:lstStyle/>
          <a:p>
            <a:pPr algn="l" indent="0" marL="0">
              <a:lnSpc>
                <a:spcPts val="959"/>
              </a:lnSpc>
              <a:buNone/>
            </a:pPr>
            <a:r>
              <a:rPr lang="en-US" sz="800" spc="37" kern="0" dirty="0">
                <a:solidFill>
                  <a:srgbClr val="15803D"/>
                </a:solidFill>
                <a:latin typeface="Liberation Sans Narrow" pitchFamily="34" charset="0"/>
                <a:ea typeface="Liberation Sans Narrow" pitchFamily="34" charset="-122"/>
                <a:cs typeface="Liberation Sans Narrow" pitchFamily="34" charset="-120"/>
              </a:rPr>
              <a:t>PAGE 1 · RELEVANCE 0.94</a:t>
            </a:r>
            <a:endParaRPr lang="en-US" sz="800" dirty="0"/>
          </a:p>
        </p:txBody>
      </p:sp>
      <p:sp>
        <p:nvSpPr>
          <p:cNvPr id="25" name="Text 20"/>
          <p:cNvSpPr/>
          <p:nvPr/>
        </p:nvSpPr>
        <p:spPr>
          <a:xfrm>
            <a:off x="3037545" y="1943435"/>
            <a:ext cx="100013" cy="100013"/>
          </a:xfrm>
          <a:prstGeom prst="rect">
            <a:avLst/>
          </a:prstGeom>
          <a:noFill/>
          <a:ln/>
        </p:spPr>
        <p:txBody>
          <a:bodyPr wrap="none" lIns="0" tIns="0" rIns="0" bIns="0" rtlCol="0" anchor="ctr"/>
          <a:lstStyle/>
          <a:p>
            <a:pPr algn="ctr" indent="0" marL="0">
              <a:buNone/>
            </a:pPr>
            <a:r>
              <a:rPr lang="en-US" sz="984" dirty="0">
                <a:solidFill>
                  <a:srgbClr val="15803D"/>
                </a:solidFill>
                <a:latin typeface="Segoe UI Symbol" pitchFamily="34" charset="0"/>
                <a:ea typeface="Segoe UI Symbol" pitchFamily="34" charset="-122"/>
                <a:cs typeface="Segoe UI Symbol" pitchFamily="34" charset="-120"/>
              </a:rPr>
              <a:t>❏</a:t>
            </a:r>
            <a:endParaRPr lang="en-US" sz="984" dirty="0"/>
          </a:p>
        </p:txBody>
      </p:sp>
      <p:sp>
        <p:nvSpPr>
          <p:cNvPr id="26" name="Text 21"/>
          <p:cNvSpPr/>
          <p:nvPr/>
        </p:nvSpPr>
        <p:spPr>
          <a:xfrm>
            <a:off x="400050" y="2297274"/>
            <a:ext cx="4114800" cy="1193118"/>
          </a:xfrm>
          <a:prstGeom prst="roundRect">
            <a:avLst>
              <a:gd name="adj" fmla="val 7983"/>
            </a:avLst>
          </a:prstGeom>
          <a:solidFill>
            <a:srgbClr val="FFFFFF"/>
          </a:solidFill>
          <a:ln/>
        </p:spPr>
        <p:txBody>
          <a:bodyPr wrap="square" rtlCol="0" anchor="ctr"/>
          <a:lstStyle/>
          <a:p>
            <a:pPr indent="0" marL="0">
              <a:buNone/>
            </a:pPr>
            <a:endParaRPr lang="en-US" dirty="0"/>
          </a:p>
        </p:txBody>
      </p:sp>
      <p:sp>
        <p:nvSpPr>
          <p:cNvPr id="27" name="Shape 22"/>
          <p:cNvSpPr/>
          <p:nvPr/>
        </p:nvSpPr>
        <p:spPr>
          <a:xfrm>
            <a:off x="400050" y="2300846"/>
            <a:ext cx="4114800" cy="0"/>
          </a:xfrm>
          <a:prstGeom prst="line">
            <a:avLst/>
          </a:prstGeom>
          <a:noFill/>
          <a:ln w="7144">
            <a:solidFill>
              <a:srgbClr val="0F172A"/>
            </a:solidFill>
            <a:prstDash val="solid"/>
          </a:ln>
        </p:spPr>
      </p:sp>
      <p:sp>
        <p:nvSpPr>
          <p:cNvPr id="28" name="Shape 23"/>
          <p:cNvSpPr/>
          <p:nvPr/>
        </p:nvSpPr>
        <p:spPr>
          <a:xfrm>
            <a:off x="4511278" y="2297274"/>
            <a:ext cx="0" cy="1193118"/>
          </a:xfrm>
          <a:prstGeom prst="line">
            <a:avLst/>
          </a:prstGeom>
          <a:noFill/>
          <a:ln w="7144">
            <a:solidFill>
              <a:srgbClr val="0F172A"/>
            </a:solidFill>
            <a:prstDash val="solid"/>
          </a:ln>
        </p:spPr>
      </p:sp>
      <p:sp>
        <p:nvSpPr>
          <p:cNvPr id="29" name="Shape 24"/>
          <p:cNvSpPr/>
          <p:nvPr/>
        </p:nvSpPr>
        <p:spPr>
          <a:xfrm>
            <a:off x="400050" y="3486820"/>
            <a:ext cx="4114800" cy="0"/>
          </a:xfrm>
          <a:prstGeom prst="line">
            <a:avLst/>
          </a:prstGeom>
          <a:noFill/>
          <a:ln w="7144">
            <a:solidFill>
              <a:srgbClr val="0F172A"/>
            </a:solidFill>
            <a:prstDash val="solid"/>
          </a:ln>
        </p:spPr>
      </p:sp>
      <p:sp>
        <p:nvSpPr>
          <p:cNvPr id="30" name="Shape 25"/>
          <p:cNvSpPr/>
          <p:nvPr/>
        </p:nvSpPr>
        <p:spPr>
          <a:xfrm>
            <a:off x="410766" y="2297274"/>
            <a:ext cx="0" cy="1193118"/>
          </a:xfrm>
          <a:prstGeom prst="line">
            <a:avLst/>
          </a:prstGeom>
          <a:noFill/>
          <a:ln w="21431">
            <a:solidFill>
              <a:srgbClr val="0E7490"/>
            </a:solidFill>
            <a:prstDash val="solid"/>
          </a:ln>
        </p:spPr>
      </p:sp>
      <p:sp>
        <p:nvSpPr>
          <p:cNvPr id="31" name="Text 26"/>
          <p:cNvSpPr/>
          <p:nvPr/>
        </p:nvSpPr>
        <p:spPr>
          <a:xfrm>
            <a:off x="550069" y="2404876"/>
            <a:ext cx="142875" cy="142875"/>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32" name="Text 27"/>
          <p:cNvSpPr/>
          <p:nvPr/>
        </p:nvSpPr>
        <p:spPr>
          <a:xfrm>
            <a:off x="764381" y="2404430"/>
            <a:ext cx="3614738"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0F172A"/>
                </a:solidFill>
                <a:latin typeface="Carlito" pitchFamily="34" charset="0"/>
                <a:ea typeface="Carlito" pitchFamily="34" charset="-122"/>
                <a:cs typeface="Carlito" pitchFamily="34" charset="-120"/>
              </a:rPr>
              <a:t>MANDATORY SOURCE CITATIONS</a:t>
            </a:r>
            <a:endParaRPr lang="en-US" sz="800" dirty="0"/>
          </a:p>
        </p:txBody>
      </p:sp>
      <p:sp>
        <p:nvSpPr>
          <p:cNvPr id="33" name="Text 28"/>
          <p:cNvSpPr/>
          <p:nvPr/>
        </p:nvSpPr>
        <p:spPr>
          <a:xfrm>
            <a:off x="550069" y="2605460"/>
            <a:ext cx="3829050" cy="824442"/>
          </a:xfrm>
          <a:prstGeom prst="rect">
            <a:avLst/>
          </a:prstGeom>
          <a:noFill/>
          <a:ln/>
        </p:spPr>
        <p:txBody>
          <a:bodyPr wrap="square" lIns="0" tIns="0" rIns="0" bIns="0" rtlCol="0" anchor="t"/>
          <a:lstStyle/>
          <a:p>
            <a:pPr algn="l" indent="0" marL="0">
              <a:lnSpc>
                <a:spcPts val="1090"/>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90"/>
              </a:lnSpc>
              <a:buNone/>
            </a:pPr>
            <a:r>
              <a:rPr lang="en-US" sz="800" dirty="0">
                <a:solidFill>
                  <a:srgbClr val="475569"/>
                </a:solidFill>
                <a:latin typeface="Carlito" pitchFamily="34" charset="0"/>
                <a:ea typeface="Carlito" pitchFamily="34" charset="-122"/>
                <a:cs typeface="Carlito" pitchFamily="34" charset="-120"/>
              </a:rPr>
              <a:t>Every factual statement references the originating file title</a:t>
            </a:r>
            <a:endParaRPr lang="en-US" sz="800" dirty="0"/>
          </a:p>
          <a:p>
            <a:pPr algn="l" indent="0" marL="0">
              <a:lnSpc>
                <a:spcPts val="1090"/>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90"/>
              </a:lnSpc>
              <a:buNone/>
            </a:pPr>
            <a:r>
              <a:rPr lang="en-US" sz="800" dirty="0">
                <a:solidFill>
                  <a:srgbClr val="475569"/>
                </a:solidFill>
                <a:latin typeface="Carlito" pitchFamily="34" charset="0"/>
                <a:ea typeface="Carlito" pitchFamily="34" charset="-122"/>
                <a:cs typeface="Carlito" pitchFamily="34" charset="-120"/>
              </a:rPr>
              <a:t>Includes order number and exact page number</a:t>
            </a:r>
            <a:endParaRPr lang="en-US" sz="800" dirty="0"/>
          </a:p>
          <a:p>
            <a:pPr algn="l" indent="0" marL="0">
              <a:lnSpc>
                <a:spcPts val="1090"/>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90"/>
              </a:lnSpc>
              <a:buNone/>
            </a:pPr>
            <a:r>
              <a:rPr lang="en-US" sz="800" dirty="0">
                <a:solidFill>
                  <a:srgbClr val="475569"/>
                </a:solidFill>
                <a:latin typeface="Carlito" pitchFamily="34" charset="0"/>
                <a:ea typeface="Carlito" pitchFamily="34" charset="-122"/>
                <a:cs typeface="Carlito" pitchFamily="34" charset="-120"/>
              </a:rPr>
              <a:t>Streamlit UI renders expandable citation cards with rerank relevance scores</a:t>
            </a:r>
            <a:endParaRPr lang="en-US" sz="800" dirty="0"/>
          </a:p>
          <a:p>
            <a:pPr algn="l" indent="0" marL="0">
              <a:lnSpc>
                <a:spcPts val="1090"/>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90"/>
              </a:lnSpc>
              <a:buNone/>
            </a:pPr>
            <a:r>
              <a:rPr lang="en-US" sz="800" dirty="0">
                <a:solidFill>
                  <a:srgbClr val="475569"/>
                </a:solidFill>
                <a:latin typeface="Carlito" pitchFamily="34" charset="0"/>
                <a:ea typeface="Carlito" pitchFamily="34" charset="-122"/>
                <a:cs typeface="Carlito" pitchFamily="34" charset="-120"/>
              </a:rPr>
              <a:t>Direct Download Feature — staff click citation card to download the exact source document from the campus repository</a:t>
            </a:r>
            <a:endParaRPr lang="en-US" sz="800" dirty="0"/>
          </a:p>
        </p:txBody>
      </p:sp>
      <p:sp>
        <p:nvSpPr>
          <p:cNvPr id="34" name="Text 29"/>
          <p:cNvSpPr/>
          <p:nvPr/>
        </p:nvSpPr>
        <p:spPr>
          <a:xfrm>
            <a:off x="4629150" y="2297274"/>
            <a:ext cx="4114800" cy="1193118"/>
          </a:xfrm>
          <a:prstGeom prst="roundRect">
            <a:avLst>
              <a:gd name="adj" fmla="val 7983"/>
            </a:avLst>
          </a:prstGeom>
          <a:solidFill>
            <a:srgbClr val="FFFFFF"/>
          </a:solidFill>
          <a:ln/>
        </p:spPr>
        <p:txBody>
          <a:bodyPr wrap="square" rtlCol="0" anchor="ctr"/>
          <a:lstStyle/>
          <a:p>
            <a:pPr indent="0" marL="0">
              <a:buNone/>
            </a:pPr>
            <a:endParaRPr lang="en-US" dirty="0"/>
          </a:p>
        </p:txBody>
      </p:sp>
      <p:sp>
        <p:nvSpPr>
          <p:cNvPr id="35" name="Shape 30"/>
          <p:cNvSpPr/>
          <p:nvPr/>
        </p:nvSpPr>
        <p:spPr>
          <a:xfrm>
            <a:off x="4629150" y="2300846"/>
            <a:ext cx="4114800" cy="0"/>
          </a:xfrm>
          <a:prstGeom prst="line">
            <a:avLst/>
          </a:prstGeom>
          <a:noFill/>
          <a:ln w="7144">
            <a:solidFill>
              <a:srgbClr val="0F172A"/>
            </a:solidFill>
            <a:prstDash val="solid"/>
          </a:ln>
        </p:spPr>
      </p:sp>
      <p:sp>
        <p:nvSpPr>
          <p:cNvPr id="36" name="Shape 31"/>
          <p:cNvSpPr/>
          <p:nvPr/>
        </p:nvSpPr>
        <p:spPr>
          <a:xfrm>
            <a:off x="8740378" y="2297274"/>
            <a:ext cx="0" cy="1193118"/>
          </a:xfrm>
          <a:prstGeom prst="line">
            <a:avLst/>
          </a:prstGeom>
          <a:noFill/>
          <a:ln w="7144">
            <a:solidFill>
              <a:srgbClr val="0F172A"/>
            </a:solidFill>
            <a:prstDash val="solid"/>
          </a:ln>
        </p:spPr>
      </p:sp>
      <p:sp>
        <p:nvSpPr>
          <p:cNvPr id="37" name="Shape 32"/>
          <p:cNvSpPr/>
          <p:nvPr/>
        </p:nvSpPr>
        <p:spPr>
          <a:xfrm>
            <a:off x="4629150" y="3486820"/>
            <a:ext cx="4114800" cy="0"/>
          </a:xfrm>
          <a:prstGeom prst="line">
            <a:avLst/>
          </a:prstGeom>
          <a:noFill/>
          <a:ln w="7144">
            <a:solidFill>
              <a:srgbClr val="0F172A"/>
            </a:solidFill>
            <a:prstDash val="solid"/>
          </a:ln>
        </p:spPr>
      </p:sp>
      <p:sp>
        <p:nvSpPr>
          <p:cNvPr id="38" name="Shape 33"/>
          <p:cNvSpPr/>
          <p:nvPr/>
        </p:nvSpPr>
        <p:spPr>
          <a:xfrm>
            <a:off x="4639866" y="2297274"/>
            <a:ext cx="0" cy="1193118"/>
          </a:xfrm>
          <a:prstGeom prst="line">
            <a:avLst/>
          </a:prstGeom>
          <a:noFill/>
          <a:ln w="21431">
            <a:solidFill>
              <a:srgbClr val="F87171"/>
            </a:solidFill>
            <a:prstDash val="solid"/>
          </a:ln>
        </p:spPr>
      </p:sp>
      <p:sp>
        <p:nvSpPr>
          <p:cNvPr id="39" name="Text 34"/>
          <p:cNvSpPr/>
          <p:nvPr/>
        </p:nvSpPr>
        <p:spPr>
          <a:xfrm>
            <a:off x="4779169" y="2404876"/>
            <a:ext cx="142875" cy="142875"/>
          </a:xfrm>
          <a:prstGeom prst="rect">
            <a:avLst/>
          </a:prstGeom>
          <a:noFill/>
          <a:ln/>
        </p:spPr>
        <p:txBody>
          <a:bodyPr wrap="none" lIns="0" tIns="0" rIns="0" bIns="0" rtlCol="0" anchor="ctr"/>
          <a:lstStyle/>
          <a:p>
            <a:pPr algn="ctr" indent="0" marL="0">
              <a:buNone/>
            </a:pPr>
            <a:r>
              <a:rPr lang="en-US" sz="1406" dirty="0">
                <a:solidFill>
                  <a:srgbClr val="F87171"/>
                </a:solidFill>
                <a:latin typeface="Segoe UI Symbol" pitchFamily="34" charset="0"/>
                <a:ea typeface="Segoe UI Symbol" pitchFamily="34" charset="-122"/>
                <a:cs typeface="Segoe UI Symbol" pitchFamily="34" charset="-120"/>
              </a:rPr>
              <a:t>⊘</a:t>
            </a:r>
            <a:endParaRPr lang="en-US" sz="1406" dirty="0"/>
          </a:p>
        </p:txBody>
      </p:sp>
      <p:sp>
        <p:nvSpPr>
          <p:cNvPr id="40" name="Text 35"/>
          <p:cNvSpPr/>
          <p:nvPr/>
        </p:nvSpPr>
        <p:spPr>
          <a:xfrm>
            <a:off x="4993481" y="2404430"/>
            <a:ext cx="3614738" cy="169999"/>
          </a:xfrm>
          <a:prstGeom prst="rect">
            <a:avLst/>
          </a:prstGeom>
          <a:noFill/>
          <a:ln/>
        </p:spPr>
        <p:txBody>
          <a:bodyPr wrap="none" lIns="0" tIns="0" rIns="0" bIns="0" rtlCol="0" anchor="t"/>
          <a:lstStyle/>
          <a:p>
            <a:pPr algn="l" indent="0" marL="0">
              <a:lnSpc>
                <a:spcPts val="1133"/>
              </a:lnSpc>
              <a:buNone/>
            </a:pPr>
            <a:r>
              <a:rPr lang="en-US" sz="800" spc="29" kern="0" dirty="0">
                <a:solidFill>
                  <a:srgbClr val="0F172A"/>
                </a:solidFill>
                <a:latin typeface="Carlito" pitchFamily="34" charset="0"/>
                <a:ea typeface="Carlito" pitchFamily="34" charset="-122"/>
                <a:cs typeface="Carlito" pitchFamily="34" charset="-120"/>
              </a:rPr>
              <a:t>OUT-OF-SCOPE QUERY HANDLING</a:t>
            </a:r>
            <a:endParaRPr lang="en-US" sz="800" dirty="0"/>
          </a:p>
        </p:txBody>
      </p:sp>
      <p:sp>
        <p:nvSpPr>
          <p:cNvPr id="41" name="Text 36"/>
          <p:cNvSpPr/>
          <p:nvPr/>
        </p:nvSpPr>
        <p:spPr>
          <a:xfrm>
            <a:off x="4779169" y="2591172"/>
            <a:ext cx="3829050" cy="322612"/>
          </a:xfrm>
          <a:prstGeom prst="rect">
            <a:avLst/>
          </a:prstGeom>
          <a:noFill/>
          <a:ln/>
        </p:spPr>
        <p:txBody>
          <a:bodyPr wrap="square" lIns="0" tIns="0" rIns="0" bIns="0" rtlCol="0" anchor="t">
            <a:normAutofit/>
          </a:bodyPr>
          <a:lstStyle/>
          <a:p>
            <a:pPr algn="l" indent="0" marL="0">
              <a:lnSpc>
                <a:spcPts val="1097"/>
              </a:lnSpc>
              <a:buNone/>
            </a:pPr>
            <a:r>
              <a:rPr lang="en-US" sz="800" dirty="0">
                <a:solidFill>
                  <a:srgbClr val="475569"/>
                </a:solidFill>
                <a:latin typeface="Carlito" pitchFamily="34" charset="0"/>
                <a:ea typeface="Carlito" pitchFamily="34" charset="-122"/>
                <a:cs typeface="Carlito" pitchFamily="34" charset="-120"/>
              </a:rPr>
              <a:t>Asking about "PhD hostel mess fees" in a diploma college system gracefully yields an explicit out-of-scope disclaimer — eliminating false answers and preventing hallucinated policy.</a:t>
            </a:r>
            <a:endParaRPr lang="en-US" sz="800" dirty="0"/>
          </a:p>
        </p:txBody>
      </p:sp>
      <p:sp>
        <p:nvSpPr>
          <p:cNvPr id="42" name="Text 37"/>
          <p:cNvSpPr/>
          <p:nvPr/>
        </p:nvSpPr>
        <p:spPr>
          <a:xfrm>
            <a:off x="4782741" y="2944788"/>
            <a:ext cx="3401876" cy="186072"/>
          </a:xfrm>
          <a:prstGeom prst="roundRect">
            <a:avLst>
              <a:gd name="adj" fmla="val 5113867"/>
            </a:avLst>
          </a:prstGeom>
          <a:solidFill>
            <a:srgbClr val="B91C1C">
              <a:alpha val="10000"/>
            </a:srgbClr>
          </a:solidFill>
          <a:ln w="7144">
            <a:solidFill>
              <a:srgbClr val="B91C1C"/>
            </a:solidFill>
            <a:prstDash val="solid"/>
          </a:ln>
        </p:spPr>
        <p:txBody>
          <a:bodyPr wrap="square" rtlCol="0" anchor="ctr"/>
          <a:lstStyle/>
          <a:p>
            <a:pPr indent="0" marL="0">
              <a:buNone/>
            </a:pPr>
            <a:endParaRPr lang="en-US" dirty="0"/>
          </a:p>
        </p:txBody>
      </p:sp>
      <p:sp>
        <p:nvSpPr>
          <p:cNvPr id="43" name="Text 38"/>
          <p:cNvSpPr/>
          <p:nvPr/>
        </p:nvSpPr>
        <p:spPr>
          <a:xfrm>
            <a:off x="5014913" y="2984078"/>
            <a:ext cx="3080407" cy="139654"/>
          </a:xfrm>
          <a:prstGeom prst="rect">
            <a:avLst/>
          </a:prstGeom>
          <a:noFill/>
          <a:ln/>
        </p:spPr>
        <p:txBody>
          <a:bodyPr wrap="square" lIns="85725" tIns="28575" rIns="85725" bIns="28575" rtlCol="0" anchor="t"/>
          <a:lstStyle/>
          <a:p>
            <a:pPr algn="l" indent="0" marL="0">
              <a:lnSpc>
                <a:spcPts val="959"/>
              </a:lnSpc>
              <a:buNone/>
            </a:pPr>
            <a:r>
              <a:rPr lang="en-US" sz="619" spc="37" kern="0" dirty="0">
                <a:solidFill>
                  <a:srgbClr val="B91C1C"/>
                </a:solidFill>
                <a:latin typeface="Courier New" pitchFamily="34" charset="0"/>
                <a:ea typeface="Courier New" pitchFamily="34" charset="-122"/>
                <a:cs typeface="Courier New" pitchFamily="34" charset="-120"/>
              </a:rPr>
              <a:t>I COULD NOT FIND THIS INFORMATION IN THE AVAILABLE OFFICIAL DOCUMENTS.</a:t>
            </a:r>
            <a:endParaRPr lang="en-US" sz="619" dirty="0"/>
          </a:p>
        </p:txBody>
      </p:sp>
      <p:sp>
        <p:nvSpPr>
          <p:cNvPr id="44" name="Text 39"/>
          <p:cNvSpPr/>
          <p:nvPr/>
        </p:nvSpPr>
        <p:spPr>
          <a:xfrm>
            <a:off x="4872038" y="2987762"/>
            <a:ext cx="100013" cy="100013"/>
          </a:xfrm>
          <a:prstGeom prst="rect">
            <a:avLst/>
          </a:prstGeom>
          <a:noFill/>
          <a:ln/>
        </p:spPr>
        <p:txBody>
          <a:bodyPr wrap="none" lIns="0" tIns="0" rIns="0" bIns="0" rtlCol="0" anchor="ctr"/>
          <a:lstStyle/>
          <a:p>
            <a:pPr algn="ctr" indent="0" marL="0">
              <a:buNone/>
            </a:pPr>
            <a:r>
              <a:rPr lang="en-US" sz="984" dirty="0">
                <a:solidFill>
                  <a:srgbClr val="B91C1C"/>
                </a:solidFill>
                <a:latin typeface="Segoe UI Symbol" pitchFamily="34" charset="0"/>
                <a:ea typeface="Segoe UI Symbol" pitchFamily="34" charset="-122"/>
                <a:cs typeface="Segoe UI Symbol" pitchFamily="34" charset="-120"/>
              </a:rPr>
              <a:t>⚠</a:t>
            </a:r>
            <a:endParaRPr lang="en-US" sz="984" dirty="0"/>
          </a:p>
        </p:txBody>
      </p:sp>
      <p:sp>
        <p:nvSpPr>
          <p:cNvPr id="45" name="Shape 40"/>
          <p:cNvSpPr/>
          <p:nvPr/>
        </p:nvSpPr>
        <p:spPr>
          <a:xfrm>
            <a:off x="400050" y="4829175"/>
            <a:ext cx="8343900" cy="0"/>
          </a:xfrm>
          <a:prstGeom prst="line">
            <a:avLst/>
          </a:prstGeom>
          <a:noFill/>
          <a:ln w="7144">
            <a:solidFill>
              <a:srgbClr val="0F172A"/>
            </a:solidFill>
            <a:prstDash val="solid"/>
          </a:ln>
        </p:spPr>
      </p:sp>
      <p:sp>
        <p:nvSpPr>
          <p:cNvPr id="46" name="Text 41"/>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47" name="Text 42"/>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09 / 18</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068071"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482408" y="157163"/>
            <a:ext cx="1392865" cy="170078"/>
          </a:xfrm>
          <a:prstGeom prst="rect">
            <a:avLst/>
          </a:prstGeom>
          <a:noFill/>
          <a:ln/>
        </p:spPr>
        <p:txBody>
          <a:bodyPr wrap="squar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09 / 16 · MULTI-PROVIDER LLM</a:t>
            </a:r>
            <a:endParaRPr lang="en-US" sz="600" dirty="0"/>
          </a:p>
        </p:txBody>
      </p:sp>
      <p:sp>
        <p:nvSpPr>
          <p:cNvPr id="6" name="Text 2"/>
          <p:cNvSpPr/>
          <p:nvPr/>
        </p:nvSpPr>
        <p:spPr>
          <a:xfrm>
            <a:off x="400050" y="442913"/>
            <a:ext cx="8636000" cy="11187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PLUGGABLE MULTI-PROVIDER LLM INFRASTRUCTURE</a:t>
            </a:r>
            <a:endParaRPr lang="en-US" sz="800" dirty="0"/>
          </a:p>
        </p:txBody>
      </p:sp>
      <p:sp>
        <p:nvSpPr>
          <p:cNvPr id="7" name="Text 3"/>
          <p:cNvSpPr/>
          <p:nvPr/>
        </p:nvSpPr>
        <p:spPr>
          <a:xfrm>
            <a:off x="400050" y="582216"/>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Air-Gapped Campus Privacy vs. High-Speed Cloud</a:t>
            </a:r>
            <a:endParaRPr lang="en-US" sz="1238" dirty="0"/>
          </a:p>
        </p:txBody>
      </p:sp>
      <p:sp>
        <p:nvSpPr>
          <p:cNvPr id="8" name="Text 4"/>
          <p:cNvSpPr/>
          <p:nvPr/>
        </p:nvSpPr>
        <p:spPr>
          <a:xfrm>
            <a:off x="400050" y="813606"/>
            <a:ext cx="6572250" cy="164592"/>
          </a:xfrm>
          <a:prstGeom prst="rect">
            <a:avLst/>
          </a:prstGeom>
          <a:noFill/>
          <a:ln/>
        </p:spPr>
        <p:txBody>
          <a:bodyPr wrap="square" lIns="0" tIns="0" rIns="0" bIns="0" rtlCol="0" anchor="t"/>
          <a:lstStyle/>
          <a:p>
            <a:pPr algn="l" indent="0" marL="0">
              <a:lnSpc>
                <a:spcPts val="1097"/>
              </a:lnSpc>
              <a:buNone/>
            </a:pPr>
            <a:r>
              <a:rPr lang="en-US" sz="731" dirty="0">
                <a:solidFill>
                  <a:srgbClr val="475569"/>
                </a:solidFill>
                <a:latin typeface="Carlito" pitchFamily="34" charset="0"/>
                <a:ea typeface="Carlito" pitchFamily="34" charset="-122"/>
                <a:cs typeface="Carlito" pitchFamily="34" charset="-120"/>
              </a:rPr>
              <a:t>Three-tier architecture — zero code changes, environment-swappable. Same RAG pipeline runs on any LLM backend by switching environment variables.</a:t>
            </a:r>
            <a:endParaRPr lang="en-US" sz="731" dirty="0"/>
          </a:p>
        </p:txBody>
      </p:sp>
      <p:pic>
        <p:nvPicPr>
          <p:cNvPr id="9" name="Image 2" descr="preencoded.png">    </p:cNvPr>
          <p:cNvPicPr>
            <a:picLocks noChangeAspect="1"/>
          </p:cNvPicPr>
          <p:nvPr/>
        </p:nvPicPr>
        <p:blipFill>
          <a:blip r:embed="rId3"/>
          <a:stretch>
            <a:fillRect/>
          </a:stretch>
        </p:blipFill>
        <p:spPr>
          <a:xfrm>
            <a:off x="400050" y="1067209"/>
            <a:ext cx="2714625" cy="2114773"/>
          </a:xfrm>
          <a:prstGeom prst="rect">
            <a:avLst/>
          </a:prstGeom>
        </p:spPr>
      </p:pic>
      <p:sp>
        <p:nvSpPr>
          <p:cNvPr id="10" name="Text 5"/>
          <p:cNvSpPr/>
          <p:nvPr/>
        </p:nvSpPr>
        <p:spPr>
          <a:xfrm>
            <a:off x="403622" y="1070781"/>
            <a:ext cx="2707481" cy="2107629"/>
          </a:xfrm>
          <a:prstGeom prst="roundRect">
            <a:avLst>
              <a:gd name="adj" fmla="val 6327"/>
            </a:avLst>
          </a:prstGeom>
          <a:noFill/>
          <a:ln w="7144">
            <a:solidFill>
              <a:srgbClr val="0E7490"/>
            </a:solidFill>
            <a:prstDash val="solid"/>
          </a:ln>
          <a:effectLst>
            <a:outerShdw sx="100000" sy="100000" kx="0" ky="0" algn="bl" rotWithShape="0" blurRad="228600" dist="38100" dir="5400000">
              <a:srgbClr val="06B6D4">
                <a:alpha val="6000"/>
              </a:srgbClr>
            </a:outerShdw>
          </a:effectLst>
        </p:spPr>
        <p:txBody>
          <a:bodyPr wrap="square" rtlCol="0" anchor="ctr"/>
          <a:lstStyle/>
          <a:p>
            <a:pPr indent="0" marL="0">
              <a:buNone/>
            </a:pPr>
            <a:endParaRPr lang="en-US" dirty="0"/>
          </a:p>
        </p:txBody>
      </p:sp>
      <p:sp>
        <p:nvSpPr>
          <p:cNvPr id="11" name="Text 6"/>
          <p:cNvSpPr/>
          <p:nvPr/>
        </p:nvSpPr>
        <p:spPr>
          <a:xfrm>
            <a:off x="512921" y="1178058"/>
            <a:ext cx="1098753" cy="197775"/>
          </a:xfrm>
          <a:prstGeom prst="roundRect">
            <a:avLst>
              <a:gd name="adj" fmla="val 4811263"/>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12" name="Text 7"/>
          <p:cNvSpPr/>
          <p:nvPr/>
        </p:nvSpPr>
        <p:spPr>
          <a:xfrm>
            <a:off x="535781" y="1188653"/>
            <a:ext cx="1053033" cy="176585"/>
          </a:xfrm>
          <a:prstGeom prst="rect">
            <a:avLst/>
          </a:prstGeom>
          <a:noFill/>
          <a:ln/>
        </p:spPr>
        <p:txBody>
          <a:bodyPr wrap="none" lIns="0" tIns="0" rIns="0" bIns="0" rtlCol="0" anchor="ctr"/>
          <a:lstStyle/>
          <a:p>
            <a:pPr algn="ctr" indent="0" marL="0">
              <a:lnSpc>
                <a:spcPts val="828"/>
              </a:lnSpc>
              <a:buNone/>
            </a:pPr>
            <a:r>
              <a:rPr lang="en-US" sz="800" spc="86" kern="0" dirty="0">
                <a:solidFill>
                  <a:srgbClr val="B45309"/>
                </a:solidFill>
                <a:latin typeface="Courier New" pitchFamily="34" charset="0"/>
                <a:ea typeface="Courier New" pitchFamily="34" charset="-122"/>
                <a:cs typeface="Courier New" pitchFamily="34" charset="-120"/>
              </a:rPr>
              <a:t>DEFAULT CLOUD ENGINE</a:t>
            </a:r>
            <a:endParaRPr lang="en-US" sz="800" dirty="0"/>
          </a:p>
        </p:txBody>
      </p:sp>
      <p:sp>
        <p:nvSpPr>
          <p:cNvPr id="13" name="Text 8"/>
          <p:cNvSpPr/>
          <p:nvPr/>
        </p:nvSpPr>
        <p:spPr>
          <a:xfrm>
            <a:off x="539353" y="1454534"/>
            <a:ext cx="392906" cy="392906"/>
          </a:xfrm>
          <a:prstGeom prst="roundRect">
            <a:avLst>
              <a:gd name="adj" fmla="val 29091"/>
            </a:avLst>
          </a:prstGeom>
          <a:solidFill>
            <a:srgbClr val="06B6D4">
              <a:alpha val="12000"/>
            </a:srgbClr>
          </a:solidFill>
          <a:ln w="7144">
            <a:solidFill>
              <a:srgbClr val="06B6D4"/>
            </a:solidFill>
            <a:prstDash val="solid"/>
          </a:ln>
        </p:spPr>
        <p:txBody>
          <a:bodyPr wrap="square" rtlCol="0" anchor="ctr"/>
          <a:lstStyle/>
          <a:p>
            <a:pPr indent="0" marL="0">
              <a:buNone/>
            </a:pPr>
            <a:endParaRPr lang="en-US" dirty="0"/>
          </a:p>
        </p:txBody>
      </p:sp>
      <p:sp>
        <p:nvSpPr>
          <p:cNvPr id="14" name="Text 9"/>
          <p:cNvSpPr/>
          <p:nvPr/>
        </p:nvSpPr>
        <p:spPr>
          <a:xfrm>
            <a:off x="570071" y="1485253"/>
            <a:ext cx="331470" cy="331470"/>
          </a:xfrm>
          <a:prstGeom prst="rect">
            <a:avLst/>
          </a:prstGeom>
          <a:noFill/>
          <a:ln/>
        </p:spPr>
        <p:txBody>
          <a:bodyPr wrap="none" lIns="0" tIns="0" rIns="0" bIns="0" rtlCol="0" anchor="ctr"/>
          <a:lstStyle/>
          <a:p>
            <a:pPr algn="ctr" indent="0" marL="0">
              <a:buNone/>
            </a:pPr>
            <a:r>
              <a:rPr lang="en-US" sz="2250" dirty="0">
                <a:solidFill>
                  <a:srgbClr val="0E7490"/>
                </a:solidFill>
                <a:latin typeface="Segoe UI Symbol" pitchFamily="34" charset="0"/>
                <a:ea typeface="Segoe UI Symbol" pitchFamily="34" charset="-122"/>
                <a:cs typeface="Segoe UI Symbol" pitchFamily="34" charset="-120"/>
              </a:rPr>
              <a:t>☁</a:t>
            </a:r>
            <a:endParaRPr lang="en-US" sz="2250" dirty="0"/>
          </a:p>
        </p:txBody>
      </p:sp>
      <p:sp>
        <p:nvSpPr>
          <p:cNvPr id="15" name="Text 10"/>
          <p:cNvSpPr/>
          <p:nvPr/>
        </p:nvSpPr>
        <p:spPr>
          <a:xfrm>
            <a:off x="535781" y="1908163"/>
            <a:ext cx="2443163" cy="182862"/>
          </a:xfrm>
          <a:prstGeom prst="rect">
            <a:avLst/>
          </a:prstGeom>
          <a:noFill/>
          <a:ln/>
        </p:spPr>
        <p:txBody>
          <a:bodyPr wrap="none" lIns="0" tIns="0" rIns="0" bIns="0" rtlCol="0" anchor="t">
            <a:normAutofit/>
          </a:bodyPr>
          <a:lstStyle/>
          <a:p>
            <a:pPr algn="l" indent="0" marL="0">
              <a:lnSpc>
                <a:spcPts val="1657"/>
              </a:lnSpc>
              <a:buNone/>
            </a:pPr>
            <a:r>
              <a:rPr lang="en-US" sz="1069" spc="-5" kern="0" dirty="0">
                <a:solidFill>
                  <a:srgbClr val="0F172A"/>
                </a:solidFill>
                <a:latin typeface="Carlito" pitchFamily="34" charset="0"/>
                <a:ea typeface="Carlito" pitchFamily="34" charset="-122"/>
                <a:cs typeface="Carlito" pitchFamily="34" charset="-120"/>
              </a:rPr>
              <a:t>Google Gemini</a:t>
            </a:r>
            <a:endParaRPr lang="en-US" sz="1069" dirty="0"/>
          </a:p>
        </p:txBody>
      </p:sp>
      <p:sp>
        <p:nvSpPr>
          <p:cNvPr id="16" name="Text 11"/>
          <p:cNvSpPr/>
          <p:nvPr/>
        </p:nvSpPr>
        <p:spPr>
          <a:xfrm>
            <a:off x="535781" y="2118457"/>
            <a:ext cx="2443163" cy="170021"/>
          </a:xfrm>
          <a:prstGeom prst="rect">
            <a:avLst/>
          </a:prstGeom>
          <a:noFill/>
          <a:ln/>
        </p:spPr>
        <p:txBody>
          <a:bodyPr wrap="none" lIns="0" tIns="0" rIns="0" bIns="0" rtlCol="0" anchor="t"/>
          <a:lstStyle/>
          <a:p>
            <a:pPr algn="l" indent="0" marL="0">
              <a:lnSpc>
                <a:spcPts val="1046"/>
              </a:lnSpc>
              <a:buNone/>
            </a:pPr>
            <a:r>
              <a:rPr lang="en-US" sz="800" spc="27" kern="0" dirty="0">
                <a:solidFill>
                  <a:srgbClr val="0E7490"/>
                </a:solidFill>
                <a:latin typeface="Liberation Sans Narrow" pitchFamily="34" charset="0"/>
                <a:ea typeface="Liberation Sans Narrow" pitchFamily="34" charset="-122"/>
                <a:cs typeface="Liberation Sans Narrow" pitchFamily="34" charset="-120"/>
              </a:rPr>
              <a:t>gemini-3.5-flash-lite</a:t>
            </a:r>
            <a:endParaRPr lang="en-US" sz="800" dirty="0"/>
          </a:p>
        </p:txBody>
      </p:sp>
      <p:sp>
        <p:nvSpPr>
          <p:cNvPr id="17" name="Text 12"/>
          <p:cNvSpPr/>
          <p:nvPr/>
        </p:nvSpPr>
        <p:spPr>
          <a:xfrm>
            <a:off x="535781" y="2337011"/>
            <a:ext cx="2443163" cy="513265"/>
          </a:xfrm>
          <a:prstGeom prst="rect">
            <a:avLst/>
          </a:prstGeom>
          <a:noFill/>
          <a:ln/>
        </p:spPr>
        <p:txBody>
          <a:bodyPr wrap="square" lIns="0" tIns="0" rIns="0" bIns="0" rtlCol="0" anchor="t"/>
          <a:lstStyle/>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Ultra-fast sub-second generation</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High context efficiency</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Cloud-hosted, no local hardware</a:t>
            </a:r>
            <a:endParaRPr lang="en-US" sz="800" dirty="0"/>
          </a:p>
        </p:txBody>
      </p:sp>
      <p:sp>
        <p:nvSpPr>
          <p:cNvPr id="18" name="Text 13"/>
          <p:cNvSpPr/>
          <p:nvPr/>
        </p:nvSpPr>
        <p:spPr>
          <a:xfrm>
            <a:off x="512921" y="2866586"/>
            <a:ext cx="911565" cy="220028"/>
          </a:xfrm>
          <a:prstGeom prst="roundRect">
            <a:avLst>
              <a:gd name="adj" fmla="val 25974"/>
            </a:avLst>
          </a:prstGeom>
          <a:solidFill>
            <a:srgbClr val="FFFFFF">
              <a:alpha val="85000"/>
            </a:srgbClr>
          </a:solidFill>
          <a:ln w="7144">
            <a:solidFill>
              <a:srgbClr val="94A3B8"/>
            </a:solidFill>
            <a:prstDash val="solid"/>
          </a:ln>
        </p:spPr>
        <p:txBody>
          <a:bodyPr wrap="square" rtlCol="0" anchor="ctr"/>
          <a:lstStyle/>
          <a:p>
            <a:pPr indent="0" marL="0">
              <a:buNone/>
            </a:pPr>
            <a:endParaRPr lang="en-US" dirty="0"/>
          </a:p>
        </p:txBody>
      </p:sp>
      <p:sp>
        <p:nvSpPr>
          <p:cNvPr id="19" name="Text 14"/>
          <p:cNvSpPr/>
          <p:nvPr/>
        </p:nvSpPr>
        <p:spPr>
          <a:xfrm>
            <a:off x="535781" y="2878373"/>
            <a:ext cx="865845" cy="196453"/>
          </a:xfrm>
          <a:prstGeom prst="rect">
            <a:avLst/>
          </a:prstGeom>
          <a:noFill/>
          <a:ln/>
        </p:spPr>
        <p:txBody>
          <a:bodyPr wrap="none" lIns="0" tIns="0" rIns="0" bIns="0" rtlCol="0" anchor="ctr"/>
          <a:lstStyle/>
          <a:p>
            <a:pPr algn="ctr" indent="0" marL="0">
              <a:lnSpc>
                <a:spcPts val="872"/>
              </a:lnSpc>
              <a:buNone/>
            </a:pPr>
            <a:r>
              <a:rPr lang="en-US" sz="800" spc="68" kern="0" dirty="0">
                <a:solidFill>
                  <a:srgbClr val="475569"/>
                </a:solidFill>
                <a:latin typeface="Liberation Sans Narrow" pitchFamily="34" charset="0"/>
                <a:ea typeface="Liberation Sans Narrow" pitchFamily="34" charset="-122"/>
                <a:cs typeface="Liberation Sans Narrow" pitchFamily="34" charset="-120"/>
              </a:rPr>
              <a:t>~1.2S END-TO-END</a:t>
            </a:r>
            <a:endParaRPr lang="en-US" sz="800" dirty="0"/>
          </a:p>
        </p:txBody>
      </p:sp>
      <p:pic>
        <p:nvPicPr>
          <p:cNvPr id="20" name="Image 3" descr="preencoded.png">    </p:cNvPr>
          <p:cNvPicPr>
            <a:picLocks noChangeAspect="1"/>
          </p:cNvPicPr>
          <p:nvPr/>
        </p:nvPicPr>
        <p:blipFill>
          <a:blip r:embed="rId4"/>
          <a:stretch>
            <a:fillRect/>
          </a:stretch>
        </p:blipFill>
        <p:spPr>
          <a:xfrm>
            <a:off x="3214688" y="1067209"/>
            <a:ext cx="2714625" cy="2114773"/>
          </a:xfrm>
          <a:prstGeom prst="rect">
            <a:avLst/>
          </a:prstGeom>
        </p:spPr>
      </p:pic>
      <p:sp>
        <p:nvSpPr>
          <p:cNvPr id="21" name="Text 15"/>
          <p:cNvSpPr/>
          <p:nvPr/>
        </p:nvSpPr>
        <p:spPr>
          <a:xfrm>
            <a:off x="3218259" y="1070781"/>
            <a:ext cx="2707481" cy="2107629"/>
          </a:xfrm>
          <a:prstGeom prst="roundRect">
            <a:avLst>
              <a:gd name="adj" fmla="val 6327"/>
            </a:avLst>
          </a:prstGeom>
          <a:noFill/>
          <a:ln w="7144">
            <a:solidFill>
              <a:srgbClr val="10B981"/>
            </a:solidFill>
            <a:prstDash val="solid"/>
          </a:ln>
          <a:effectLst>
            <a:outerShdw sx="100000" sy="100000" kx="0" ky="0" algn="bl" rotWithShape="0" blurRad="266700" dist="38100" dir="5400000">
              <a:srgbClr val="10B981">
                <a:alpha val="12000"/>
              </a:srgbClr>
            </a:outerShdw>
          </a:effectLst>
        </p:spPr>
        <p:txBody>
          <a:bodyPr wrap="square" rtlCol="0" anchor="ctr"/>
          <a:lstStyle/>
          <a:p>
            <a:pPr indent="0" marL="0">
              <a:buNone/>
            </a:pPr>
            <a:endParaRPr lang="en-US" dirty="0"/>
          </a:p>
        </p:txBody>
      </p:sp>
      <p:sp>
        <p:nvSpPr>
          <p:cNvPr id="22" name="Text 16"/>
          <p:cNvSpPr/>
          <p:nvPr/>
        </p:nvSpPr>
        <p:spPr>
          <a:xfrm>
            <a:off x="3353991" y="1192225"/>
            <a:ext cx="1252165" cy="169441"/>
          </a:xfrm>
          <a:prstGeom prst="roundRect">
            <a:avLst>
              <a:gd name="adj" fmla="val 5615804"/>
            </a:avLst>
          </a:prstGeom>
          <a:solidFill>
            <a:srgbClr val="10B981">
              <a:alpha val="16000"/>
            </a:srgbClr>
          </a:solidFill>
          <a:ln w="7144">
            <a:solidFill>
              <a:srgbClr val="10B981"/>
            </a:solidFill>
            <a:prstDash val="solid"/>
          </a:ln>
        </p:spPr>
        <p:txBody>
          <a:bodyPr wrap="square" rtlCol="0" anchor="ctr"/>
          <a:lstStyle/>
          <a:p>
            <a:pPr indent="0" marL="0">
              <a:buNone/>
            </a:pPr>
            <a:endParaRPr lang="en-US" dirty="0"/>
          </a:p>
        </p:txBody>
      </p:sp>
      <p:sp>
        <p:nvSpPr>
          <p:cNvPr id="23" name="Text 17"/>
          <p:cNvSpPr/>
          <p:nvPr/>
        </p:nvSpPr>
        <p:spPr>
          <a:xfrm>
            <a:off x="3350419" y="1188653"/>
            <a:ext cx="1259309" cy="234878"/>
          </a:xfrm>
          <a:prstGeom prst="rect">
            <a:avLst/>
          </a:prstGeom>
          <a:noFill/>
          <a:ln/>
        </p:spPr>
        <p:txBody>
          <a:bodyPr wrap="none" lIns="71438" tIns="28575" rIns="71438" bIns="28575" rtlCol="0" anchor="t">
            <a:normAutofit/>
          </a:bodyPr>
          <a:lstStyle/>
          <a:p>
            <a:pPr algn="l" indent="0" marL="0">
              <a:lnSpc>
                <a:spcPts val="828"/>
              </a:lnSpc>
              <a:buNone/>
            </a:pPr>
            <a:r>
              <a:rPr lang="en-US" sz="600" spc="86" kern="0" dirty="0">
                <a:solidFill>
                  <a:srgbClr val="10B981"/>
                </a:solidFill>
                <a:latin typeface="Courier New" pitchFamily="34" charset="0"/>
                <a:ea typeface="Courier New" pitchFamily="34" charset="-122"/>
                <a:cs typeface="Courier New" pitchFamily="34" charset="-120"/>
              </a:rPr>
              <a:t>AIR-GAPPED · ZERO LEAKAGE</a:t>
            </a:r>
            <a:endParaRPr lang="en-US" sz="600" dirty="0"/>
          </a:p>
        </p:txBody>
      </p:sp>
      <p:sp>
        <p:nvSpPr>
          <p:cNvPr id="24" name="Text 18"/>
          <p:cNvSpPr/>
          <p:nvPr/>
        </p:nvSpPr>
        <p:spPr>
          <a:xfrm>
            <a:off x="3353991" y="1454534"/>
            <a:ext cx="392906" cy="392906"/>
          </a:xfrm>
          <a:prstGeom prst="roundRect">
            <a:avLst>
              <a:gd name="adj" fmla="val 29091"/>
            </a:avLst>
          </a:prstGeom>
          <a:solidFill>
            <a:srgbClr val="10B981">
              <a:alpha val="12000"/>
            </a:srgbClr>
          </a:solidFill>
          <a:ln w="7144">
            <a:solidFill>
              <a:srgbClr val="10B981"/>
            </a:solidFill>
            <a:prstDash val="solid"/>
          </a:ln>
        </p:spPr>
        <p:txBody>
          <a:bodyPr wrap="square" rtlCol="0" anchor="ctr"/>
          <a:lstStyle/>
          <a:p>
            <a:pPr indent="0" marL="0">
              <a:buNone/>
            </a:pPr>
            <a:endParaRPr lang="en-US" dirty="0"/>
          </a:p>
        </p:txBody>
      </p:sp>
      <p:sp>
        <p:nvSpPr>
          <p:cNvPr id="25" name="Text 19"/>
          <p:cNvSpPr/>
          <p:nvPr/>
        </p:nvSpPr>
        <p:spPr>
          <a:xfrm>
            <a:off x="3384709" y="1485253"/>
            <a:ext cx="331470" cy="331470"/>
          </a:xfrm>
          <a:prstGeom prst="rect">
            <a:avLst/>
          </a:prstGeom>
          <a:noFill/>
          <a:ln/>
        </p:spPr>
        <p:txBody>
          <a:bodyPr wrap="none" lIns="0" tIns="0" rIns="0" bIns="0" rtlCol="0" anchor="ctr"/>
          <a:lstStyle/>
          <a:p>
            <a:pPr algn="ctr" indent="0" marL="0">
              <a:buNone/>
            </a:pPr>
            <a:r>
              <a:rPr lang="en-US" sz="2250" dirty="0">
                <a:solidFill>
                  <a:srgbClr val="0E7490"/>
                </a:solidFill>
                <a:latin typeface="Segoe UI Symbol" pitchFamily="34" charset="0"/>
                <a:ea typeface="Segoe UI Symbol" pitchFamily="34" charset="-122"/>
                <a:cs typeface="Segoe UI Symbol" pitchFamily="34" charset="-120"/>
              </a:rPr>
              <a:t>⛨</a:t>
            </a:r>
            <a:endParaRPr lang="en-US" sz="2250" dirty="0"/>
          </a:p>
        </p:txBody>
      </p:sp>
      <p:sp>
        <p:nvSpPr>
          <p:cNvPr id="26" name="Text 20"/>
          <p:cNvSpPr/>
          <p:nvPr/>
        </p:nvSpPr>
        <p:spPr>
          <a:xfrm>
            <a:off x="3350419" y="1908163"/>
            <a:ext cx="2443162" cy="182862"/>
          </a:xfrm>
          <a:prstGeom prst="rect">
            <a:avLst/>
          </a:prstGeom>
          <a:noFill/>
          <a:ln/>
        </p:spPr>
        <p:txBody>
          <a:bodyPr wrap="none" lIns="0" tIns="0" rIns="0" bIns="0" rtlCol="0" anchor="t">
            <a:normAutofit/>
          </a:bodyPr>
          <a:lstStyle/>
          <a:p>
            <a:pPr algn="l" indent="0" marL="0">
              <a:lnSpc>
                <a:spcPts val="1657"/>
              </a:lnSpc>
              <a:buNone/>
            </a:pPr>
            <a:r>
              <a:rPr lang="en-US" sz="1069" spc="-5" kern="0" dirty="0">
                <a:solidFill>
                  <a:srgbClr val="0F172A"/>
                </a:solidFill>
                <a:latin typeface="Carlito" pitchFamily="34" charset="0"/>
                <a:ea typeface="Carlito" pitchFamily="34" charset="-122"/>
                <a:cs typeface="Carlito" pitchFamily="34" charset="-120"/>
              </a:rPr>
              <a:t>Local Ollama</a:t>
            </a:r>
            <a:endParaRPr lang="en-US" sz="1069" dirty="0"/>
          </a:p>
        </p:txBody>
      </p:sp>
      <p:sp>
        <p:nvSpPr>
          <p:cNvPr id="27" name="Text 21"/>
          <p:cNvSpPr/>
          <p:nvPr/>
        </p:nvSpPr>
        <p:spPr>
          <a:xfrm>
            <a:off x="3350419" y="2118457"/>
            <a:ext cx="2443163" cy="170021"/>
          </a:xfrm>
          <a:prstGeom prst="rect">
            <a:avLst/>
          </a:prstGeom>
          <a:noFill/>
          <a:ln/>
        </p:spPr>
        <p:txBody>
          <a:bodyPr wrap="none" lIns="0" tIns="0" rIns="0" bIns="0" rtlCol="0" anchor="t"/>
          <a:lstStyle/>
          <a:p>
            <a:pPr algn="l" indent="0" marL="0">
              <a:lnSpc>
                <a:spcPts val="1046"/>
              </a:lnSpc>
              <a:buNone/>
            </a:pPr>
            <a:r>
              <a:rPr lang="en-US" sz="800" spc="27" kern="0" dirty="0">
                <a:solidFill>
                  <a:srgbClr val="0E7490"/>
                </a:solidFill>
                <a:latin typeface="Liberation Sans Narrow" pitchFamily="34" charset="0"/>
                <a:ea typeface="Liberation Sans Narrow" pitchFamily="34" charset="-122"/>
                <a:cs typeface="Liberation Sans Narrow" pitchFamily="34" charset="-120"/>
              </a:rPr>
              <a:t>llama3.1:latest</a:t>
            </a:r>
            <a:endParaRPr lang="en-US" sz="800" dirty="0"/>
          </a:p>
        </p:txBody>
      </p:sp>
      <p:sp>
        <p:nvSpPr>
          <p:cNvPr id="28" name="Text 22"/>
          <p:cNvSpPr/>
          <p:nvPr/>
        </p:nvSpPr>
        <p:spPr>
          <a:xfrm>
            <a:off x="3350419" y="2337011"/>
            <a:ext cx="2443163" cy="513265"/>
          </a:xfrm>
          <a:prstGeom prst="rect">
            <a:avLst/>
          </a:prstGeom>
          <a:noFill/>
          <a:ln/>
        </p:spPr>
        <p:txBody>
          <a:bodyPr wrap="square" lIns="0" tIns="0" rIns="0" bIns="0" rtlCol="0" anchor="t"/>
          <a:lstStyle/>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100% offline, free, zero-data-leakage</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Confidential government orders stay on campus LAN</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No outbound API calls</a:t>
            </a:r>
            <a:endParaRPr lang="en-US" sz="800" dirty="0"/>
          </a:p>
        </p:txBody>
      </p:sp>
      <p:sp>
        <p:nvSpPr>
          <p:cNvPr id="29" name="Text 23"/>
          <p:cNvSpPr/>
          <p:nvPr/>
        </p:nvSpPr>
        <p:spPr>
          <a:xfrm>
            <a:off x="3327559" y="2866586"/>
            <a:ext cx="867251" cy="220028"/>
          </a:xfrm>
          <a:prstGeom prst="roundRect">
            <a:avLst>
              <a:gd name="adj" fmla="val 25974"/>
            </a:avLst>
          </a:prstGeom>
          <a:solidFill>
            <a:srgbClr val="FFFFFF">
              <a:alpha val="85000"/>
            </a:srgbClr>
          </a:solidFill>
          <a:ln w="7144">
            <a:solidFill>
              <a:srgbClr val="10B981"/>
            </a:solidFill>
            <a:prstDash val="solid"/>
          </a:ln>
        </p:spPr>
        <p:txBody>
          <a:bodyPr wrap="square" rtlCol="0" anchor="ctr"/>
          <a:lstStyle/>
          <a:p>
            <a:pPr indent="0" marL="0">
              <a:buNone/>
            </a:pPr>
            <a:endParaRPr lang="en-US" dirty="0"/>
          </a:p>
        </p:txBody>
      </p:sp>
      <p:sp>
        <p:nvSpPr>
          <p:cNvPr id="30" name="Text 24"/>
          <p:cNvSpPr/>
          <p:nvPr/>
        </p:nvSpPr>
        <p:spPr>
          <a:xfrm>
            <a:off x="3350419" y="2878373"/>
            <a:ext cx="821531" cy="196453"/>
          </a:xfrm>
          <a:prstGeom prst="rect">
            <a:avLst/>
          </a:prstGeom>
          <a:noFill/>
          <a:ln/>
        </p:spPr>
        <p:txBody>
          <a:bodyPr wrap="none" lIns="0" tIns="0" rIns="0" bIns="0" rtlCol="0" anchor="ctr"/>
          <a:lstStyle/>
          <a:p>
            <a:pPr algn="ctr" indent="0" marL="0">
              <a:lnSpc>
                <a:spcPts val="872"/>
              </a:lnSpc>
              <a:buNone/>
            </a:pPr>
            <a:r>
              <a:rPr lang="en-US" sz="800" spc="68" kern="0" dirty="0">
                <a:solidFill>
                  <a:srgbClr val="10B981"/>
                </a:solidFill>
                <a:latin typeface="Liberation Sans Narrow" pitchFamily="34" charset="0"/>
                <a:ea typeface="Liberation Sans Narrow" pitchFamily="34" charset="-122"/>
                <a:cs typeface="Liberation Sans Narrow" pitchFamily="34" charset="-120"/>
              </a:rPr>
              <a:t>~3.5S LOCAL GEN</a:t>
            </a:r>
            <a:endParaRPr lang="en-US" sz="800" dirty="0"/>
          </a:p>
        </p:txBody>
      </p:sp>
      <p:pic>
        <p:nvPicPr>
          <p:cNvPr id="31" name="Image 4" descr="preencoded.png">    </p:cNvPr>
          <p:cNvPicPr>
            <a:picLocks noChangeAspect="1"/>
          </p:cNvPicPr>
          <p:nvPr/>
        </p:nvPicPr>
        <p:blipFill>
          <a:blip r:embed="rId5"/>
          <a:stretch>
            <a:fillRect/>
          </a:stretch>
        </p:blipFill>
        <p:spPr>
          <a:xfrm>
            <a:off x="6029325" y="1067209"/>
            <a:ext cx="2714625" cy="2114773"/>
          </a:xfrm>
          <a:prstGeom prst="rect">
            <a:avLst/>
          </a:prstGeom>
        </p:spPr>
      </p:pic>
      <p:sp>
        <p:nvSpPr>
          <p:cNvPr id="32" name="Text 25"/>
          <p:cNvSpPr/>
          <p:nvPr/>
        </p:nvSpPr>
        <p:spPr>
          <a:xfrm>
            <a:off x="6032897" y="1070781"/>
            <a:ext cx="2707481" cy="2107629"/>
          </a:xfrm>
          <a:prstGeom prst="roundRect">
            <a:avLst>
              <a:gd name="adj" fmla="val 6327"/>
            </a:avLst>
          </a:prstGeom>
          <a:noFill/>
          <a:ln w="7144">
            <a:solidFill>
              <a:srgbClr val="0E7490"/>
            </a:solidFill>
            <a:prstDash val="solid"/>
          </a:ln>
          <a:effectLst>
            <a:outerShdw sx="100000" sy="100000" kx="0" ky="0" algn="bl" rotWithShape="0" blurRad="228600" dist="38100" dir="5400000">
              <a:srgbClr val="06B6D4">
                <a:alpha val="6000"/>
              </a:srgbClr>
            </a:outerShdw>
          </a:effectLst>
        </p:spPr>
        <p:txBody>
          <a:bodyPr wrap="square" rtlCol="0" anchor="ctr"/>
          <a:lstStyle/>
          <a:p>
            <a:pPr indent="0" marL="0">
              <a:buNone/>
            </a:pPr>
            <a:endParaRPr lang="en-US" dirty="0"/>
          </a:p>
        </p:txBody>
      </p:sp>
      <p:sp>
        <p:nvSpPr>
          <p:cNvPr id="33" name="Text 26"/>
          <p:cNvSpPr/>
          <p:nvPr/>
        </p:nvSpPr>
        <p:spPr>
          <a:xfrm>
            <a:off x="6142196" y="1178058"/>
            <a:ext cx="1053993" cy="197775"/>
          </a:xfrm>
          <a:prstGeom prst="roundRect">
            <a:avLst>
              <a:gd name="adj" fmla="val 4811263"/>
            </a:avLst>
          </a:prstGeom>
          <a:solidFill>
            <a:srgbClr val="94A3B8">
              <a:alpha val="14000"/>
            </a:srgbClr>
          </a:solidFill>
          <a:ln w="7144">
            <a:solidFill>
              <a:srgbClr val="94A3B8"/>
            </a:solidFill>
            <a:prstDash val="solid"/>
          </a:ln>
        </p:spPr>
        <p:txBody>
          <a:bodyPr wrap="square" rtlCol="0" anchor="ctr"/>
          <a:lstStyle/>
          <a:p>
            <a:pPr indent="0" marL="0">
              <a:buNone/>
            </a:pPr>
            <a:endParaRPr lang="en-US" dirty="0"/>
          </a:p>
        </p:txBody>
      </p:sp>
      <p:sp>
        <p:nvSpPr>
          <p:cNvPr id="34" name="Text 27"/>
          <p:cNvSpPr/>
          <p:nvPr/>
        </p:nvSpPr>
        <p:spPr>
          <a:xfrm>
            <a:off x="6165056" y="1188653"/>
            <a:ext cx="1008273" cy="176585"/>
          </a:xfrm>
          <a:prstGeom prst="rect">
            <a:avLst/>
          </a:prstGeom>
          <a:noFill/>
          <a:ln/>
        </p:spPr>
        <p:txBody>
          <a:bodyPr wrap="none" lIns="0" tIns="0" rIns="0" bIns="0" rtlCol="0" anchor="ctr"/>
          <a:lstStyle/>
          <a:p>
            <a:pPr algn="ctr" indent="0" marL="0">
              <a:lnSpc>
                <a:spcPts val="828"/>
              </a:lnSpc>
              <a:buNone/>
            </a:pPr>
            <a:r>
              <a:rPr lang="en-US" sz="800" spc="86" kern="0" dirty="0">
                <a:solidFill>
                  <a:srgbClr val="475569"/>
                </a:solidFill>
                <a:latin typeface="Courier New" pitchFamily="34" charset="0"/>
                <a:ea typeface="Courier New" pitchFamily="34" charset="-122"/>
                <a:cs typeface="Courier New" pitchFamily="34" charset="-120"/>
              </a:rPr>
              <a:t>ENTERPRISE STANDARD</a:t>
            </a:r>
            <a:endParaRPr lang="en-US" sz="800" dirty="0"/>
          </a:p>
        </p:txBody>
      </p:sp>
      <p:sp>
        <p:nvSpPr>
          <p:cNvPr id="35" name="Text 28"/>
          <p:cNvSpPr/>
          <p:nvPr/>
        </p:nvSpPr>
        <p:spPr>
          <a:xfrm>
            <a:off x="6168628" y="1454534"/>
            <a:ext cx="392906" cy="392906"/>
          </a:xfrm>
          <a:prstGeom prst="roundRect">
            <a:avLst>
              <a:gd name="adj" fmla="val 29091"/>
            </a:avLst>
          </a:prstGeom>
          <a:solidFill>
            <a:srgbClr val="06B6D4">
              <a:alpha val="12000"/>
            </a:srgbClr>
          </a:solidFill>
          <a:ln w="7144">
            <a:solidFill>
              <a:srgbClr val="06B6D4"/>
            </a:solidFill>
            <a:prstDash val="solid"/>
          </a:ln>
        </p:spPr>
        <p:txBody>
          <a:bodyPr wrap="square" rtlCol="0" anchor="ctr"/>
          <a:lstStyle/>
          <a:p>
            <a:pPr indent="0" marL="0">
              <a:buNone/>
            </a:pPr>
            <a:endParaRPr lang="en-US" dirty="0"/>
          </a:p>
        </p:txBody>
      </p:sp>
      <p:sp>
        <p:nvSpPr>
          <p:cNvPr id="36" name="Text 29"/>
          <p:cNvSpPr/>
          <p:nvPr/>
        </p:nvSpPr>
        <p:spPr>
          <a:xfrm>
            <a:off x="6199346" y="1485253"/>
            <a:ext cx="331470" cy="331470"/>
          </a:xfrm>
          <a:prstGeom prst="rect">
            <a:avLst/>
          </a:prstGeom>
          <a:noFill/>
          <a:ln/>
        </p:spPr>
        <p:txBody>
          <a:bodyPr wrap="none" lIns="0" tIns="0" rIns="0" bIns="0" rtlCol="0" anchor="ctr"/>
          <a:lstStyle/>
          <a:p>
            <a:pPr algn="ctr" indent="0" marL="0">
              <a:buNone/>
            </a:pPr>
            <a:r>
              <a:rPr lang="en-US" sz="2250" dirty="0">
                <a:solidFill>
                  <a:srgbClr val="0E7490"/>
                </a:solidFill>
                <a:latin typeface="Segoe UI Symbol" pitchFamily="34" charset="0"/>
                <a:ea typeface="Segoe UI Symbol" pitchFamily="34" charset="-122"/>
                <a:cs typeface="Segoe UI Symbol" pitchFamily="34" charset="-120"/>
              </a:rPr>
              <a:t>✦</a:t>
            </a:r>
            <a:endParaRPr lang="en-US" sz="2250" dirty="0"/>
          </a:p>
        </p:txBody>
      </p:sp>
      <p:sp>
        <p:nvSpPr>
          <p:cNvPr id="37" name="Text 30"/>
          <p:cNvSpPr/>
          <p:nvPr/>
        </p:nvSpPr>
        <p:spPr>
          <a:xfrm>
            <a:off x="6165056" y="1908163"/>
            <a:ext cx="2443163" cy="182862"/>
          </a:xfrm>
          <a:prstGeom prst="rect">
            <a:avLst/>
          </a:prstGeom>
          <a:noFill/>
          <a:ln/>
        </p:spPr>
        <p:txBody>
          <a:bodyPr wrap="none" lIns="0" tIns="0" rIns="0" bIns="0" rtlCol="0" anchor="t">
            <a:normAutofit/>
          </a:bodyPr>
          <a:lstStyle/>
          <a:p>
            <a:pPr algn="l" indent="0" marL="0">
              <a:lnSpc>
                <a:spcPts val="1657"/>
              </a:lnSpc>
              <a:buNone/>
            </a:pPr>
            <a:r>
              <a:rPr lang="en-US" sz="1069" spc="-5" kern="0" dirty="0">
                <a:solidFill>
                  <a:srgbClr val="0F172A"/>
                </a:solidFill>
                <a:latin typeface="Carlito" pitchFamily="34" charset="0"/>
                <a:ea typeface="Carlito" pitchFamily="34" charset="-122"/>
                <a:cs typeface="Carlito" pitchFamily="34" charset="-120"/>
              </a:rPr>
              <a:t>OpenAI</a:t>
            </a:r>
            <a:endParaRPr lang="en-US" sz="1069" dirty="0"/>
          </a:p>
        </p:txBody>
      </p:sp>
      <p:sp>
        <p:nvSpPr>
          <p:cNvPr id="38" name="Text 31"/>
          <p:cNvSpPr/>
          <p:nvPr/>
        </p:nvSpPr>
        <p:spPr>
          <a:xfrm>
            <a:off x="6165056" y="2118457"/>
            <a:ext cx="2443162" cy="170021"/>
          </a:xfrm>
          <a:prstGeom prst="rect">
            <a:avLst/>
          </a:prstGeom>
          <a:noFill/>
          <a:ln/>
        </p:spPr>
        <p:txBody>
          <a:bodyPr wrap="none" lIns="0" tIns="0" rIns="0" bIns="0" rtlCol="0" anchor="t"/>
          <a:lstStyle/>
          <a:p>
            <a:pPr algn="l" indent="0" marL="0">
              <a:lnSpc>
                <a:spcPts val="1046"/>
              </a:lnSpc>
              <a:buNone/>
            </a:pPr>
            <a:r>
              <a:rPr lang="en-US" sz="800" spc="27" kern="0" dirty="0">
                <a:solidFill>
                  <a:srgbClr val="0E7490"/>
                </a:solidFill>
                <a:latin typeface="Liberation Sans Narrow" pitchFamily="34" charset="0"/>
                <a:ea typeface="Liberation Sans Narrow" pitchFamily="34" charset="-122"/>
                <a:cs typeface="Liberation Sans Narrow" pitchFamily="34" charset="-120"/>
              </a:rPr>
              <a:t>gpt-4o-mini</a:t>
            </a:r>
            <a:endParaRPr lang="en-US" sz="800" dirty="0"/>
          </a:p>
        </p:txBody>
      </p:sp>
      <p:sp>
        <p:nvSpPr>
          <p:cNvPr id="39" name="Text 32"/>
          <p:cNvSpPr/>
          <p:nvPr/>
        </p:nvSpPr>
        <p:spPr>
          <a:xfrm>
            <a:off x="6165056" y="2337011"/>
            <a:ext cx="2443163" cy="513265"/>
          </a:xfrm>
          <a:prstGeom prst="rect">
            <a:avLst/>
          </a:prstGeom>
          <a:noFill/>
          <a:ln/>
        </p:spPr>
        <p:txBody>
          <a:bodyPr wrap="square" lIns="0" tIns="0" rIns="0" bIns="0" rtlCol="0" anchor="t"/>
          <a:lstStyle/>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Enterprise standard cloud integration</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Token tracking and usage analytics</a:t>
            </a:r>
            <a:endParaRPr lang="en-US" sz="800" dirty="0"/>
          </a:p>
          <a:p>
            <a:pPr algn="l" indent="0" marL="0">
              <a:lnSpc>
                <a:spcPts val="1046"/>
              </a:lnSpc>
              <a:buNone/>
            </a:pPr>
            <a:r>
              <a:rPr lang="en-US" sz="600" dirty="0">
                <a:solidFill>
                  <a:srgbClr val="0E7490"/>
                </a:solidFill>
                <a:latin typeface="Carlito" pitchFamily="34" charset="0"/>
                <a:ea typeface="Carlito" pitchFamily="34" charset="-122"/>
                <a:cs typeface="Carlito" pitchFamily="34" charset="-120"/>
              </a:rPr>
              <a:t>●  </a:t>
            </a:r>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Mature ecosystem support</a:t>
            </a:r>
            <a:endParaRPr lang="en-US" sz="800" dirty="0"/>
          </a:p>
        </p:txBody>
      </p:sp>
      <p:sp>
        <p:nvSpPr>
          <p:cNvPr id="40" name="Text 33"/>
          <p:cNvSpPr/>
          <p:nvPr/>
        </p:nvSpPr>
        <p:spPr>
          <a:xfrm>
            <a:off x="6142196" y="2866586"/>
            <a:ext cx="823049" cy="220028"/>
          </a:xfrm>
          <a:prstGeom prst="roundRect">
            <a:avLst>
              <a:gd name="adj" fmla="val 25974"/>
            </a:avLst>
          </a:prstGeom>
          <a:solidFill>
            <a:srgbClr val="FFFFFF">
              <a:alpha val="85000"/>
            </a:srgbClr>
          </a:solidFill>
          <a:ln w="7144">
            <a:solidFill>
              <a:srgbClr val="94A3B8"/>
            </a:solidFill>
            <a:prstDash val="solid"/>
          </a:ln>
        </p:spPr>
        <p:txBody>
          <a:bodyPr wrap="square" rtlCol="0" anchor="ctr"/>
          <a:lstStyle/>
          <a:p>
            <a:pPr indent="0" marL="0">
              <a:buNone/>
            </a:pPr>
            <a:endParaRPr lang="en-US" dirty="0"/>
          </a:p>
        </p:txBody>
      </p:sp>
      <p:sp>
        <p:nvSpPr>
          <p:cNvPr id="41" name="Text 34"/>
          <p:cNvSpPr/>
          <p:nvPr/>
        </p:nvSpPr>
        <p:spPr>
          <a:xfrm>
            <a:off x="6165056" y="2878373"/>
            <a:ext cx="777329" cy="196453"/>
          </a:xfrm>
          <a:prstGeom prst="rect">
            <a:avLst/>
          </a:prstGeom>
          <a:noFill/>
          <a:ln/>
        </p:spPr>
        <p:txBody>
          <a:bodyPr wrap="none" lIns="0" tIns="0" rIns="0" bIns="0" rtlCol="0" anchor="ctr"/>
          <a:lstStyle/>
          <a:p>
            <a:pPr algn="ctr" indent="0" marL="0">
              <a:lnSpc>
                <a:spcPts val="872"/>
              </a:lnSpc>
              <a:buNone/>
            </a:pPr>
            <a:r>
              <a:rPr lang="en-US" sz="800" spc="68" kern="0" dirty="0">
                <a:solidFill>
                  <a:srgbClr val="475569"/>
                </a:solidFill>
                <a:latin typeface="Courier New" pitchFamily="34" charset="0"/>
                <a:ea typeface="Courier New" pitchFamily="34" charset="-122"/>
                <a:cs typeface="Courier New" pitchFamily="34" charset="-120"/>
              </a:rPr>
              <a:t>ENTERPRISE API</a:t>
            </a:r>
            <a:endParaRPr lang="en-US" sz="800" dirty="0"/>
          </a:p>
        </p:txBody>
      </p:sp>
      <p:sp>
        <p:nvSpPr>
          <p:cNvPr id="42" name="Text 35"/>
          <p:cNvSpPr/>
          <p:nvPr/>
        </p:nvSpPr>
        <p:spPr>
          <a:xfrm>
            <a:off x="400050" y="3281995"/>
            <a:ext cx="4121944" cy="604317"/>
          </a:xfrm>
          <a:prstGeom prst="roundRect">
            <a:avLst>
              <a:gd name="adj" fmla="val 15762"/>
            </a:avLst>
          </a:prstGeom>
          <a:solidFill>
            <a:srgbClr val="FFFFFF"/>
          </a:solidFill>
          <a:ln/>
        </p:spPr>
        <p:txBody>
          <a:bodyPr wrap="square" rtlCol="0" anchor="ctr"/>
          <a:lstStyle/>
          <a:p>
            <a:pPr indent="0" marL="0">
              <a:buNone/>
            </a:pPr>
            <a:endParaRPr lang="en-US" dirty="0"/>
          </a:p>
        </p:txBody>
      </p:sp>
      <p:sp>
        <p:nvSpPr>
          <p:cNvPr id="43" name="Shape 36"/>
          <p:cNvSpPr/>
          <p:nvPr/>
        </p:nvSpPr>
        <p:spPr>
          <a:xfrm>
            <a:off x="400050" y="3285567"/>
            <a:ext cx="4121944" cy="0"/>
          </a:xfrm>
          <a:prstGeom prst="line">
            <a:avLst/>
          </a:prstGeom>
          <a:noFill/>
          <a:ln w="7144">
            <a:solidFill>
              <a:srgbClr val="0F172A"/>
            </a:solidFill>
            <a:prstDash val="solid"/>
          </a:ln>
        </p:spPr>
      </p:sp>
      <p:sp>
        <p:nvSpPr>
          <p:cNvPr id="44" name="Shape 37"/>
          <p:cNvSpPr/>
          <p:nvPr/>
        </p:nvSpPr>
        <p:spPr>
          <a:xfrm>
            <a:off x="4518422" y="3281995"/>
            <a:ext cx="0" cy="604317"/>
          </a:xfrm>
          <a:prstGeom prst="line">
            <a:avLst/>
          </a:prstGeom>
          <a:noFill/>
          <a:ln w="7144">
            <a:solidFill>
              <a:srgbClr val="0F172A"/>
            </a:solidFill>
            <a:prstDash val="solid"/>
          </a:ln>
        </p:spPr>
      </p:sp>
      <p:sp>
        <p:nvSpPr>
          <p:cNvPr id="45" name="Shape 38"/>
          <p:cNvSpPr/>
          <p:nvPr/>
        </p:nvSpPr>
        <p:spPr>
          <a:xfrm>
            <a:off x="400050" y="3882740"/>
            <a:ext cx="4121944" cy="0"/>
          </a:xfrm>
          <a:prstGeom prst="line">
            <a:avLst/>
          </a:prstGeom>
          <a:noFill/>
          <a:ln w="7144">
            <a:solidFill>
              <a:srgbClr val="0F172A"/>
            </a:solidFill>
            <a:prstDash val="solid"/>
          </a:ln>
        </p:spPr>
      </p:sp>
      <p:sp>
        <p:nvSpPr>
          <p:cNvPr id="46" name="Shape 39"/>
          <p:cNvSpPr/>
          <p:nvPr/>
        </p:nvSpPr>
        <p:spPr>
          <a:xfrm>
            <a:off x="410766" y="3281995"/>
            <a:ext cx="0" cy="604317"/>
          </a:xfrm>
          <a:prstGeom prst="line">
            <a:avLst/>
          </a:prstGeom>
          <a:noFill/>
          <a:ln w="21431">
            <a:solidFill>
              <a:srgbClr val="0E7490"/>
            </a:solidFill>
            <a:prstDash val="solid"/>
          </a:ln>
        </p:spPr>
      </p:sp>
      <p:sp>
        <p:nvSpPr>
          <p:cNvPr id="47" name="Text 40"/>
          <p:cNvSpPr/>
          <p:nvPr/>
        </p:nvSpPr>
        <p:spPr>
          <a:xfrm>
            <a:off x="535781" y="3376985"/>
            <a:ext cx="128588" cy="128588"/>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48" name="Text 41"/>
          <p:cNvSpPr/>
          <p:nvPr/>
        </p:nvSpPr>
        <p:spPr>
          <a:xfrm>
            <a:off x="721519" y="3374864"/>
            <a:ext cx="3679031" cy="170021"/>
          </a:xfrm>
          <a:prstGeom prst="rect">
            <a:avLst/>
          </a:prstGeom>
          <a:noFill/>
          <a:ln/>
        </p:spPr>
        <p:txBody>
          <a:bodyPr wrap="none" lIns="0" tIns="0" rIns="0" bIns="0" rtlCol="0" anchor="t"/>
          <a:lstStyle/>
          <a:p>
            <a:pPr algn="l" indent="0" marL="0">
              <a:lnSpc>
                <a:spcPts val="1046"/>
              </a:lnSpc>
              <a:buNone/>
            </a:pPr>
            <a:r>
              <a:rPr lang="en-US" sz="800" spc="41" kern="0" dirty="0">
                <a:solidFill>
                  <a:srgbClr val="0F172A"/>
                </a:solidFill>
                <a:latin typeface="Carlito" pitchFamily="34" charset="0"/>
                <a:ea typeface="Carlito" pitchFamily="34" charset="-122"/>
                <a:cs typeface="Carlito" pitchFamily="34" charset="-120"/>
              </a:rPr>
              <a:t>CPU-OPTIMIZED EMBEDDINGS</a:t>
            </a:r>
            <a:endParaRPr lang="en-US" sz="800" dirty="0"/>
          </a:p>
        </p:txBody>
      </p:sp>
      <p:sp>
        <p:nvSpPr>
          <p:cNvPr id="49" name="Text 42"/>
          <p:cNvSpPr/>
          <p:nvPr/>
        </p:nvSpPr>
        <p:spPr>
          <a:xfrm>
            <a:off x="535781" y="3536268"/>
            <a:ext cx="3864769" cy="257175"/>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Default all-MiniLM-L6-v2 runs locally on CPU with zero GPU cost. Pluggable Google GenAI (text-embedding-004) and OpenAI (text-embedding-3-small) support.</a:t>
            </a:r>
            <a:endParaRPr lang="en-US" sz="800" dirty="0"/>
          </a:p>
        </p:txBody>
      </p:sp>
      <p:sp>
        <p:nvSpPr>
          <p:cNvPr id="50" name="Text 43"/>
          <p:cNvSpPr/>
          <p:nvPr/>
        </p:nvSpPr>
        <p:spPr>
          <a:xfrm>
            <a:off x="4622006" y="3281995"/>
            <a:ext cx="4121944" cy="604317"/>
          </a:xfrm>
          <a:prstGeom prst="roundRect">
            <a:avLst>
              <a:gd name="adj" fmla="val 15762"/>
            </a:avLst>
          </a:prstGeom>
          <a:solidFill>
            <a:srgbClr val="FFFFFF"/>
          </a:solidFill>
          <a:ln/>
        </p:spPr>
        <p:txBody>
          <a:bodyPr wrap="square" rtlCol="0" anchor="ctr"/>
          <a:lstStyle/>
          <a:p>
            <a:pPr indent="0" marL="0">
              <a:buNone/>
            </a:pPr>
            <a:endParaRPr lang="en-US" dirty="0"/>
          </a:p>
        </p:txBody>
      </p:sp>
      <p:sp>
        <p:nvSpPr>
          <p:cNvPr id="51" name="Shape 44"/>
          <p:cNvSpPr/>
          <p:nvPr/>
        </p:nvSpPr>
        <p:spPr>
          <a:xfrm>
            <a:off x="4622006" y="3285567"/>
            <a:ext cx="4121944" cy="0"/>
          </a:xfrm>
          <a:prstGeom prst="line">
            <a:avLst/>
          </a:prstGeom>
          <a:noFill/>
          <a:ln w="7144">
            <a:solidFill>
              <a:srgbClr val="0F172A"/>
            </a:solidFill>
            <a:prstDash val="solid"/>
          </a:ln>
        </p:spPr>
      </p:sp>
      <p:sp>
        <p:nvSpPr>
          <p:cNvPr id="52" name="Shape 45"/>
          <p:cNvSpPr/>
          <p:nvPr/>
        </p:nvSpPr>
        <p:spPr>
          <a:xfrm>
            <a:off x="8740378" y="3281995"/>
            <a:ext cx="0" cy="604317"/>
          </a:xfrm>
          <a:prstGeom prst="line">
            <a:avLst/>
          </a:prstGeom>
          <a:noFill/>
          <a:ln w="7144">
            <a:solidFill>
              <a:srgbClr val="0F172A"/>
            </a:solidFill>
            <a:prstDash val="solid"/>
          </a:ln>
        </p:spPr>
      </p:sp>
      <p:sp>
        <p:nvSpPr>
          <p:cNvPr id="53" name="Shape 46"/>
          <p:cNvSpPr/>
          <p:nvPr/>
        </p:nvSpPr>
        <p:spPr>
          <a:xfrm>
            <a:off x="4622006" y="3882740"/>
            <a:ext cx="4121944" cy="0"/>
          </a:xfrm>
          <a:prstGeom prst="line">
            <a:avLst/>
          </a:prstGeom>
          <a:noFill/>
          <a:ln w="7144">
            <a:solidFill>
              <a:srgbClr val="0F172A"/>
            </a:solidFill>
            <a:prstDash val="solid"/>
          </a:ln>
        </p:spPr>
      </p:sp>
      <p:sp>
        <p:nvSpPr>
          <p:cNvPr id="54" name="Shape 47"/>
          <p:cNvSpPr/>
          <p:nvPr/>
        </p:nvSpPr>
        <p:spPr>
          <a:xfrm>
            <a:off x="4632722" y="3281995"/>
            <a:ext cx="0" cy="604317"/>
          </a:xfrm>
          <a:prstGeom prst="line">
            <a:avLst/>
          </a:prstGeom>
          <a:noFill/>
          <a:ln w="21431">
            <a:solidFill>
              <a:srgbClr val="0E7490"/>
            </a:solidFill>
            <a:prstDash val="solid"/>
          </a:ln>
        </p:spPr>
      </p:sp>
      <p:sp>
        <p:nvSpPr>
          <p:cNvPr id="55" name="Text 48"/>
          <p:cNvSpPr/>
          <p:nvPr/>
        </p:nvSpPr>
        <p:spPr>
          <a:xfrm>
            <a:off x="4757738" y="3376985"/>
            <a:ext cx="128588" cy="128588"/>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56" name="Text 49"/>
          <p:cNvSpPr/>
          <p:nvPr/>
        </p:nvSpPr>
        <p:spPr>
          <a:xfrm>
            <a:off x="4943475" y="3374864"/>
            <a:ext cx="3679031" cy="170021"/>
          </a:xfrm>
          <a:prstGeom prst="rect">
            <a:avLst/>
          </a:prstGeom>
          <a:noFill/>
          <a:ln/>
        </p:spPr>
        <p:txBody>
          <a:bodyPr wrap="none" lIns="0" tIns="0" rIns="0" bIns="0" rtlCol="0" anchor="t"/>
          <a:lstStyle/>
          <a:p>
            <a:pPr algn="l" indent="0" marL="0">
              <a:lnSpc>
                <a:spcPts val="1046"/>
              </a:lnSpc>
              <a:buNone/>
            </a:pPr>
            <a:r>
              <a:rPr lang="en-US" sz="800" spc="41" kern="0" dirty="0">
                <a:solidFill>
                  <a:srgbClr val="0F172A"/>
                </a:solidFill>
                <a:latin typeface="Carlito" pitchFamily="34" charset="0"/>
                <a:ea typeface="Carlito" pitchFamily="34" charset="-122"/>
                <a:cs typeface="Carlito" pitchFamily="34" charset="-120"/>
              </a:rPr>
              <a:t>CLOUD KEEPALIVE &amp; ZERO-DOWNTIME</a:t>
            </a:r>
            <a:endParaRPr lang="en-US" sz="800" dirty="0"/>
          </a:p>
        </p:txBody>
      </p:sp>
      <p:sp>
        <p:nvSpPr>
          <p:cNvPr id="57" name="Text 50"/>
          <p:cNvSpPr/>
          <p:nvPr/>
        </p:nvSpPr>
        <p:spPr>
          <a:xfrm>
            <a:off x="4757738" y="3536268"/>
            <a:ext cx="3864769" cy="257175"/>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Automated GitHub Actions keepalive cron (keepalive.yaml) pings the deployment every 3 days to prevent cloud sleep cycles.</a:t>
            </a:r>
            <a:endParaRPr lang="en-US" sz="800" dirty="0"/>
          </a:p>
        </p:txBody>
      </p:sp>
      <p:sp>
        <p:nvSpPr>
          <p:cNvPr id="58" name="Shape 51"/>
          <p:cNvSpPr/>
          <p:nvPr/>
        </p:nvSpPr>
        <p:spPr>
          <a:xfrm>
            <a:off x="400050" y="4829175"/>
            <a:ext cx="8343900" cy="0"/>
          </a:xfrm>
          <a:prstGeom prst="line">
            <a:avLst/>
          </a:prstGeom>
          <a:noFill/>
          <a:ln w="7144">
            <a:solidFill>
              <a:srgbClr val="0F172A"/>
            </a:solidFill>
            <a:prstDash val="solid"/>
          </a:ln>
        </p:spPr>
      </p:sp>
      <p:sp>
        <p:nvSpPr>
          <p:cNvPr id="59" name="Text 52"/>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60" name="Text 53"/>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10 / 18</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205142"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619479" y="157163"/>
            <a:ext cx="1347608"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10 / 16 · RBAC &amp; SECURITY</a:t>
            </a:r>
            <a:endParaRPr lang="en-US" sz="600" dirty="0"/>
          </a:p>
        </p:txBody>
      </p:sp>
      <p:sp>
        <p:nvSpPr>
          <p:cNvPr id="6" name="Text 2"/>
          <p:cNvSpPr/>
          <p:nvPr/>
        </p:nvSpPr>
        <p:spPr>
          <a:xfrm>
            <a:off x="400050" y="442913"/>
            <a:ext cx="8636000" cy="11187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ROLE-BASED ACCESS CONTROL &amp; SECURITY</a:t>
            </a:r>
            <a:endParaRPr lang="en-US" sz="800" dirty="0"/>
          </a:p>
        </p:txBody>
      </p:sp>
      <p:sp>
        <p:nvSpPr>
          <p:cNvPr id="7" name="Text 3"/>
          <p:cNvSpPr/>
          <p:nvPr/>
        </p:nvSpPr>
        <p:spPr>
          <a:xfrm>
            <a:off x="400050" y="582216"/>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Protecting Institutional Directives &amp; Privacy</a:t>
            </a:r>
            <a:endParaRPr lang="en-US" sz="1238" dirty="0"/>
          </a:p>
        </p:txBody>
      </p:sp>
      <p:pic>
        <p:nvPicPr>
          <p:cNvPr id="8" name="Image 2" descr="preencoded.png">    </p:cNvPr>
          <p:cNvPicPr>
            <a:picLocks noChangeAspect="1"/>
          </p:cNvPicPr>
          <p:nvPr/>
        </p:nvPicPr>
        <p:blipFill>
          <a:blip r:embed="rId3"/>
          <a:stretch>
            <a:fillRect/>
          </a:stretch>
        </p:blipFill>
        <p:spPr>
          <a:xfrm>
            <a:off x="400050" y="885044"/>
            <a:ext cx="8343900" cy="933376"/>
          </a:xfrm>
          <a:prstGeom prst="rect">
            <a:avLst/>
          </a:prstGeom>
        </p:spPr>
      </p:pic>
      <p:sp>
        <p:nvSpPr>
          <p:cNvPr id="9" name="Shape 4"/>
          <p:cNvSpPr/>
          <p:nvPr/>
        </p:nvSpPr>
        <p:spPr>
          <a:xfrm>
            <a:off x="400050" y="888616"/>
            <a:ext cx="8343900" cy="0"/>
          </a:xfrm>
          <a:prstGeom prst="line">
            <a:avLst/>
          </a:prstGeom>
          <a:noFill/>
          <a:ln w="7144">
            <a:solidFill>
              <a:srgbClr val="0E7490"/>
            </a:solidFill>
            <a:prstDash val="solid"/>
          </a:ln>
        </p:spPr>
      </p:sp>
      <p:sp>
        <p:nvSpPr>
          <p:cNvPr id="10" name="Shape 5"/>
          <p:cNvSpPr/>
          <p:nvPr/>
        </p:nvSpPr>
        <p:spPr>
          <a:xfrm>
            <a:off x="8740378" y="885044"/>
            <a:ext cx="0" cy="933376"/>
          </a:xfrm>
          <a:prstGeom prst="line">
            <a:avLst/>
          </a:prstGeom>
          <a:noFill/>
          <a:ln w="7144">
            <a:solidFill>
              <a:srgbClr val="0E7490"/>
            </a:solidFill>
            <a:prstDash val="solid"/>
          </a:ln>
        </p:spPr>
      </p:sp>
      <p:sp>
        <p:nvSpPr>
          <p:cNvPr id="11" name="Shape 6"/>
          <p:cNvSpPr/>
          <p:nvPr/>
        </p:nvSpPr>
        <p:spPr>
          <a:xfrm>
            <a:off x="400050" y="1814847"/>
            <a:ext cx="8343900" cy="0"/>
          </a:xfrm>
          <a:prstGeom prst="line">
            <a:avLst/>
          </a:prstGeom>
          <a:noFill/>
          <a:ln w="7144">
            <a:solidFill>
              <a:srgbClr val="0E7490"/>
            </a:solidFill>
            <a:prstDash val="solid"/>
          </a:ln>
        </p:spPr>
      </p:sp>
      <p:sp>
        <p:nvSpPr>
          <p:cNvPr id="12" name="Shape 7"/>
          <p:cNvSpPr/>
          <p:nvPr/>
        </p:nvSpPr>
        <p:spPr>
          <a:xfrm>
            <a:off x="410766" y="885044"/>
            <a:ext cx="0" cy="933376"/>
          </a:xfrm>
          <a:prstGeom prst="line">
            <a:avLst/>
          </a:prstGeom>
          <a:noFill/>
          <a:ln w="21431">
            <a:solidFill>
              <a:srgbClr val="06B6D4"/>
            </a:solidFill>
            <a:prstDash val="solid"/>
          </a:ln>
        </p:spPr>
      </p:sp>
      <p:sp>
        <p:nvSpPr>
          <p:cNvPr id="13" name="Text 8"/>
          <p:cNvSpPr/>
          <p:nvPr/>
        </p:nvSpPr>
        <p:spPr>
          <a:xfrm>
            <a:off x="567928" y="1155278"/>
            <a:ext cx="392906" cy="392906"/>
          </a:xfrm>
          <a:prstGeom prst="roundRect">
            <a:avLst>
              <a:gd name="adj" fmla="val 29091"/>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14" name="Text 9"/>
          <p:cNvSpPr/>
          <p:nvPr/>
        </p:nvSpPr>
        <p:spPr>
          <a:xfrm>
            <a:off x="598646" y="1185996"/>
            <a:ext cx="331470" cy="331470"/>
          </a:xfrm>
          <a:prstGeom prst="rect">
            <a:avLst/>
          </a:prstGeom>
          <a:noFill/>
          <a:ln/>
        </p:spPr>
        <p:txBody>
          <a:bodyPr wrap="none" lIns="0" tIns="0" rIns="0" bIns="0" rtlCol="0" anchor="ctr"/>
          <a:lstStyle/>
          <a:p>
            <a:pPr algn="ctr" indent="0" marL="0">
              <a:buNone/>
            </a:pPr>
            <a:r>
              <a:rPr lang="en-US" sz="2250" dirty="0">
                <a:solidFill>
                  <a:srgbClr val="0E7490"/>
                </a:solidFill>
                <a:latin typeface="Segoe UI Symbol" pitchFamily="34" charset="0"/>
                <a:ea typeface="Segoe UI Symbol" pitchFamily="34" charset="-122"/>
                <a:cs typeface="Segoe UI Symbol" pitchFamily="34" charset="-120"/>
              </a:rPr>
              <a:t>⛨</a:t>
            </a:r>
            <a:endParaRPr lang="en-US" sz="2250" dirty="0"/>
          </a:p>
        </p:txBody>
      </p:sp>
      <p:sp>
        <p:nvSpPr>
          <p:cNvPr id="15" name="Text 10"/>
          <p:cNvSpPr/>
          <p:nvPr/>
        </p:nvSpPr>
        <p:spPr>
          <a:xfrm>
            <a:off x="1050131" y="1218679"/>
            <a:ext cx="1981975" cy="127945"/>
          </a:xfrm>
          <a:prstGeom prst="rect">
            <a:avLst/>
          </a:prstGeom>
          <a:noFill/>
          <a:ln/>
        </p:spPr>
        <p:txBody>
          <a:bodyPr wrap="square" lIns="0" tIns="0" rIns="0" bIns="0" rtlCol="0" anchor="t">
            <a:normAutofit/>
          </a:bodyPr>
          <a:lstStyle/>
          <a:p>
            <a:pPr algn="l" indent="0" marL="0">
              <a:lnSpc>
                <a:spcPts val="1055"/>
              </a:lnSpc>
              <a:buNone/>
            </a:pPr>
            <a:r>
              <a:rPr lang="en-US" sz="844" spc="17" kern="0" dirty="0">
                <a:solidFill>
                  <a:srgbClr val="0F172A"/>
                </a:solidFill>
                <a:latin typeface="Carlito" pitchFamily="34" charset="0"/>
                <a:ea typeface="Carlito" pitchFamily="34" charset="-122"/>
                <a:cs typeface="Carlito" pitchFamily="34" charset="-120"/>
              </a:rPr>
              <a:t>ENTERPRISE AUTHENTICATION LAYER</a:t>
            </a:r>
            <a:endParaRPr lang="en-US" sz="844" dirty="0"/>
          </a:p>
        </p:txBody>
      </p:sp>
      <p:sp>
        <p:nvSpPr>
          <p:cNvPr id="16" name="Text 11"/>
          <p:cNvSpPr/>
          <p:nvPr/>
        </p:nvSpPr>
        <p:spPr>
          <a:xfrm>
            <a:off x="1050131" y="1374056"/>
            <a:ext cx="2225134" cy="170078"/>
          </a:xfrm>
          <a:prstGeom prst="rect">
            <a:avLst/>
          </a:prstGeom>
          <a:noFill/>
          <a:ln/>
        </p:spPr>
        <p:txBody>
          <a:bodyPr wrap="none" lIns="0" tIns="0" rIns="0" bIns="0" rtlCol="0" anchor="t"/>
          <a:lstStyle/>
          <a:p>
            <a:pPr algn="l" indent="0" marL="0">
              <a:lnSpc>
                <a:spcPts val="872"/>
              </a:lnSpc>
              <a:buNone/>
            </a:pPr>
            <a:r>
              <a:rPr lang="en-US" sz="800" spc="90" kern="0" dirty="0">
                <a:solidFill>
                  <a:srgbClr val="0E7490"/>
                </a:solidFill>
                <a:latin typeface="Courier New" pitchFamily="34" charset="0"/>
                <a:ea typeface="Courier New" pitchFamily="34" charset="-122"/>
                <a:cs typeface="Courier New" pitchFamily="34" charset="-120"/>
              </a:rPr>
              <a:t>BCRYPT · YAML · GITIGNORE</a:t>
            </a:r>
            <a:endParaRPr lang="en-US" sz="800" dirty="0"/>
          </a:p>
        </p:txBody>
      </p:sp>
      <p:sp>
        <p:nvSpPr>
          <p:cNvPr id="17" name="Text 12"/>
          <p:cNvSpPr/>
          <p:nvPr/>
        </p:nvSpPr>
        <p:spPr>
          <a:xfrm>
            <a:off x="3086770" y="995772"/>
            <a:ext cx="1782142" cy="521940"/>
          </a:xfrm>
          <a:prstGeom prst="roundRect">
            <a:avLst>
              <a:gd name="adj" fmla="val 18249"/>
            </a:avLst>
          </a:prstGeom>
          <a:solidFill>
            <a:srgbClr val="FFFFFF">
              <a:alpha val="85000"/>
            </a:srgbClr>
          </a:solidFill>
          <a:ln w="7144">
            <a:solidFill>
              <a:srgbClr val="94A3B8"/>
            </a:solidFill>
            <a:prstDash val="solid"/>
          </a:ln>
        </p:spPr>
        <p:txBody>
          <a:bodyPr wrap="square" rtlCol="0" anchor="ctr"/>
          <a:lstStyle/>
          <a:p>
            <a:pPr indent="0" marL="0">
              <a:buNone/>
            </a:pPr>
            <a:endParaRPr lang="en-US" dirty="0"/>
          </a:p>
        </p:txBody>
      </p:sp>
      <p:sp>
        <p:nvSpPr>
          <p:cNvPr id="18" name="Text 13"/>
          <p:cNvSpPr/>
          <p:nvPr/>
        </p:nvSpPr>
        <p:spPr>
          <a:xfrm>
            <a:off x="3176067" y="1070781"/>
            <a:ext cx="1699762" cy="106290"/>
          </a:xfrm>
          <a:prstGeom prst="rect">
            <a:avLst/>
          </a:prstGeom>
          <a:noFill/>
          <a:ln/>
        </p:spPr>
        <p:txBody>
          <a:bodyPr wrap="square" lIns="0" tIns="0" rIns="0" bIns="0" rtlCol="0" anchor="t">
            <a:normAutofit/>
          </a:bodyPr>
          <a:lstStyle/>
          <a:p>
            <a:pPr algn="l" indent="0" marL="0">
              <a:lnSpc>
                <a:spcPts val="828"/>
              </a:lnSpc>
              <a:buNone/>
            </a:pPr>
            <a:r>
              <a:rPr lang="en-US" sz="800" spc="86" kern="0" dirty="0">
                <a:solidFill>
                  <a:srgbClr val="0E7490"/>
                </a:solidFill>
                <a:latin typeface="Courier New" pitchFamily="34" charset="0"/>
                <a:ea typeface="Courier New" pitchFamily="34" charset="-122"/>
                <a:cs typeface="Courier New" pitchFamily="34" charset="-120"/>
              </a:rPr>
              <a:t>STREAMLIT-AUTHENTICATOR</a:t>
            </a:r>
            <a:endParaRPr lang="en-US" sz="800" dirty="0"/>
          </a:p>
        </p:txBody>
      </p:sp>
      <p:sp>
        <p:nvSpPr>
          <p:cNvPr id="19" name="Text 14"/>
          <p:cNvSpPr/>
          <p:nvPr/>
        </p:nvSpPr>
        <p:spPr>
          <a:xfrm>
            <a:off x="3176067" y="1204503"/>
            <a:ext cx="1699762" cy="159076"/>
          </a:xfrm>
          <a:prstGeom prst="rect">
            <a:avLst/>
          </a:prstGeom>
          <a:noFill/>
          <a:ln/>
        </p:spPr>
        <p:txBody>
          <a:bodyPr wrap="square" lIns="0" tIns="0" rIns="0" bIns="0" rtlCol="0" anchor="t"/>
          <a:lstStyle/>
          <a:p>
            <a:pPr algn="l" indent="0" marL="0">
              <a:lnSpc>
                <a:spcPts val="938"/>
              </a:lnSpc>
              <a:buNone/>
            </a:pPr>
            <a:r>
              <a:rPr lang="en-US" sz="647" dirty="0">
                <a:solidFill>
                  <a:srgbClr val="475569"/>
                </a:solidFill>
                <a:latin typeface="Carlito" pitchFamily="34" charset="0"/>
                <a:ea typeface="Carlito" pitchFamily="34" charset="-122"/>
                <a:cs typeface="Carlito" pitchFamily="34" charset="-120"/>
              </a:rPr>
              <a:t>Salted bcrypt password encryption</a:t>
            </a:r>
            <a:endParaRPr lang="en-US" sz="647" dirty="0"/>
          </a:p>
        </p:txBody>
      </p:sp>
      <p:sp>
        <p:nvSpPr>
          <p:cNvPr id="20" name="Text 15"/>
          <p:cNvSpPr/>
          <p:nvPr/>
        </p:nvSpPr>
        <p:spPr>
          <a:xfrm>
            <a:off x="4947493" y="995772"/>
            <a:ext cx="1782142" cy="521940"/>
          </a:xfrm>
          <a:prstGeom prst="roundRect">
            <a:avLst>
              <a:gd name="adj" fmla="val 18249"/>
            </a:avLst>
          </a:prstGeom>
          <a:solidFill>
            <a:srgbClr val="FFFFFF">
              <a:alpha val="85000"/>
            </a:srgbClr>
          </a:solidFill>
          <a:ln w="7144">
            <a:solidFill>
              <a:srgbClr val="94A3B8"/>
            </a:solidFill>
            <a:prstDash val="solid"/>
          </a:ln>
        </p:spPr>
        <p:txBody>
          <a:bodyPr wrap="square" rtlCol="0" anchor="ctr"/>
          <a:lstStyle/>
          <a:p>
            <a:pPr indent="0" marL="0">
              <a:buNone/>
            </a:pPr>
            <a:endParaRPr lang="en-US" dirty="0"/>
          </a:p>
        </p:txBody>
      </p:sp>
      <p:sp>
        <p:nvSpPr>
          <p:cNvPr id="21" name="Text 16"/>
          <p:cNvSpPr/>
          <p:nvPr/>
        </p:nvSpPr>
        <p:spPr>
          <a:xfrm>
            <a:off x="5036790" y="1070781"/>
            <a:ext cx="1603549" cy="106290"/>
          </a:xfrm>
          <a:prstGeom prst="rect">
            <a:avLst/>
          </a:prstGeom>
          <a:noFill/>
          <a:ln/>
        </p:spPr>
        <p:txBody>
          <a:bodyPr wrap="none" lIns="0" tIns="0" rIns="0" bIns="0" rtlCol="0" anchor="t">
            <a:normAutofit/>
          </a:bodyPr>
          <a:lstStyle/>
          <a:p>
            <a:pPr algn="l" indent="0" marL="0">
              <a:lnSpc>
                <a:spcPts val="828"/>
              </a:lnSpc>
              <a:buNone/>
            </a:pPr>
            <a:r>
              <a:rPr lang="en-US" sz="800" spc="86" kern="0" dirty="0">
                <a:solidFill>
                  <a:srgbClr val="0E7490"/>
                </a:solidFill>
                <a:latin typeface="Courier New" pitchFamily="34" charset="0"/>
                <a:ea typeface="Courier New" pitchFamily="34" charset="-122"/>
                <a:cs typeface="Courier New" pitchFamily="34" charset="-120"/>
              </a:rPr>
              <a:t>SECURE YAML CONFIG</a:t>
            </a:r>
            <a:endParaRPr lang="en-US" sz="800" dirty="0"/>
          </a:p>
        </p:txBody>
      </p:sp>
      <p:sp>
        <p:nvSpPr>
          <p:cNvPr id="22" name="Text 17"/>
          <p:cNvSpPr/>
          <p:nvPr/>
        </p:nvSpPr>
        <p:spPr>
          <a:xfrm>
            <a:off x="5036790" y="1204503"/>
            <a:ext cx="1699762" cy="159076"/>
          </a:xfrm>
          <a:prstGeom prst="rect">
            <a:avLst/>
          </a:prstGeom>
          <a:noFill/>
          <a:ln/>
        </p:spPr>
        <p:txBody>
          <a:bodyPr wrap="square" lIns="0" tIns="0" rIns="0" bIns="0" rtlCol="0" anchor="t"/>
          <a:lstStyle/>
          <a:p>
            <a:pPr algn="l" indent="0" marL="0">
              <a:lnSpc>
                <a:spcPts val="938"/>
              </a:lnSpc>
              <a:buNone/>
            </a:pPr>
            <a:r>
              <a:rPr lang="en-US" sz="647" dirty="0">
                <a:solidFill>
                  <a:srgbClr val="475569"/>
                </a:solidFill>
                <a:latin typeface="Carlito" pitchFamily="34" charset="0"/>
                <a:ea typeface="Carlito" pitchFamily="34" charset="-122"/>
                <a:cs typeface="Carlito" pitchFamily="34" charset="-120"/>
              </a:rPr>
              <a:t>Session cookies + secret key signatures</a:t>
            </a:r>
            <a:endParaRPr lang="en-US" sz="647" dirty="0"/>
          </a:p>
        </p:txBody>
      </p:sp>
      <p:sp>
        <p:nvSpPr>
          <p:cNvPr id="23" name="Text 18"/>
          <p:cNvSpPr/>
          <p:nvPr/>
        </p:nvSpPr>
        <p:spPr>
          <a:xfrm>
            <a:off x="6808217" y="995772"/>
            <a:ext cx="1782142" cy="521940"/>
          </a:xfrm>
          <a:prstGeom prst="roundRect">
            <a:avLst>
              <a:gd name="adj" fmla="val 18249"/>
            </a:avLst>
          </a:prstGeom>
          <a:solidFill>
            <a:srgbClr val="FFFFFF">
              <a:alpha val="85000"/>
            </a:srgbClr>
          </a:solidFill>
          <a:ln w="7144">
            <a:solidFill>
              <a:srgbClr val="94A3B8"/>
            </a:solidFill>
            <a:prstDash val="solid"/>
          </a:ln>
        </p:spPr>
        <p:txBody>
          <a:bodyPr wrap="square" rtlCol="0" anchor="ctr"/>
          <a:lstStyle/>
          <a:p>
            <a:pPr indent="0" marL="0">
              <a:buNone/>
            </a:pPr>
            <a:endParaRPr lang="en-US" dirty="0"/>
          </a:p>
        </p:txBody>
      </p:sp>
      <p:sp>
        <p:nvSpPr>
          <p:cNvPr id="24" name="Text 19"/>
          <p:cNvSpPr/>
          <p:nvPr/>
        </p:nvSpPr>
        <p:spPr>
          <a:xfrm>
            <a:off x="6897514" y="1070781"/>
            <a:ext cx="1603549" cy="106290"/>
          </a:xfrm>
          <a:prstGeom prst="rect">
            <a:avLst/>
          </a:prstGeom>
          <a:noFill/>
          <a:ln/>
        </p:spPr>
        <p:txBody>
          <a:bodyPr wrap="none" lIns="0" tIns="0" rIns="0" bIns="0" rtlCol="0" anchor="t">
            <a:normAutofit/>
          </a:bodyPr>
          <a:lstStyle/>
          <a:p>
            <a:pPr algn="l" indent="0" marL="0">
              <a:lnSpc>
                <a:spcPts val="828"/>
              </a:lnSpc>
              <a:buNone/>
            </a:pPr>
            <a:r>
              <a:rPr lang="en-US" sz="800" spc="86" kern="0" dirty="0">
                <a:solidFill>
                  <a:srgbClr val="0E7490"/>
                </a:solidFill>
                <a:latin typeface="Courier New" pitchFamily="34" charset="0"/>
                <a:ea typeface="Courier New" pitchFamily="34" charset="-122"/>
                <a:cs typeface="Courier New" pitchFamily="34" charset="-120"/>
              </a:rPr>
              <a:t>.GITIGNORE ENFORCED</a:t>
            </a:r>
            <a:endParaRPr lang="en-US" sz="800" dirty="0"/>
          </a:p>
        </p:txBody>
      </p:sp>
      <p:sp>
        <p:nvSpPr>
          <p:cNvPr id="25" name="Text 20"/>
          <p:cNvSpPr/>
          <p:nvPr/>
        </p:nvSpPr>
        <p:spPr>
          <a:xfrm>
            <a:off x="6897514" y="1204503"/>
            <a:ext cx="1603549" cy="238199"/>
          </a:xfrm>
          <a:prstGeom prst="rect">
            <a:avLst/>
          </a:prstGeom>
          <a:noFill/>
          <a:ln/>
        </p:spPr>
        <p:txBody>
          <a:bodyPr wrap="square" lIns="0" tIns="0" rIns="0" bIns="0" rtlCol="0" anchor="t"/>
          <a:lstStyle/>
          <a:p>
            <a:pPr algn="l" indent="0" marL="0">
              <a:lnSpc>
                <a:spcPts val="938"/>
              </a:lnSpc>
              <a:buNone/>
            </a:pPr>
            <a:r>
              <a:rPr lang="en-US" sz="800" dirty="0">
                <a:solidFill>
                  <a:srgbClr val="475569"/>
                </a:solidFill>
                <a:latin typeface="Carlito" pitchFamily="34" charset="0"/>
                <a:ea typeface="Carlito" pitchFamily="34" charset="-122"/>
                <a:cs typeface="Carlito" pitchFamily="34" charset="-120"/>
              </a:rPr>
              <a:t>credentials (auth_config.yaml) &amp; API keys (.env)</a:t>
            </a:r>
            <a:endParaRPr lang="en-US" sz="800" dirty="0"/>
          </a:p>
        </p:txBody>
      </p:sp>
      <p:sp>
        <p:nvSpPr>
          <p:cNvPr id="26" name="Text 21"/>
          <p:cNvSpPr/>
          <p:nvPr/>
        </p:nvSpPr>
        <p:spPr>
          <a:xfrm>
            <a:off x="3083198" y="1578434"/>
            <a:ext cx="5620461" cy="132829"/>
          </a:xfrm>
          <a:prstGeom prst="rect">
            <a:avLst/>
          </a:prstGeom>
          <a:noFill/>
          <a:ln/>
        </p:spPr>
        <p:txBody>
          <a:bodyPr wrap="square" lIns="0" tIns="0" rIns="0" bIns="0" rtlCol="0" anchor="t"/>
          <a:lstStyle/>
          <a:p>
            <a:pPr algn="l" indent="0" marL="0">
              <a:lnSpc>
                <a:spcPts val="1046"/>
              </a:lnSpc>
              <a:buNone/>
            </a:pPr>
            <a:r>
              <a:rPr lang="en-US" sz="800" dirty="0">
                <a:solidFill>
                  <a:srgbClr val="475569">
                    <a:alpha val="85000"/>
                  </a:srgbClr>
                </a:solidFill>
                <a:latin typeface="Carlito" pitchFamily="34" charset="0"/>
                <a:ea typeface="Carlito" pitchFamily="34" charset="-122"/>
                <a:cs typeface="Carlito" pitchFamily="34" charset="-120"/>
              </a:rPr>
              <a:t>No committed secrets in version control.</a:t>
            </a:r>
            <a:endParaRPr lang="en-US" sz="800" dirty="0"/>
          </a:p>
        </p:txBody>
      </p:sp>
      <p:pic>
        <p:nvPicPr>
          <p:cNvPr id="27" name="Image 3" descr="preencoded.png">    </p:cNvPr>
          <p:cNvPicPr>
            <a:picLocks noChangeAspect="1"/>
          </p:cNvPicPr>
          <p:nvPr/>
        </p:nvPicPr>
        <p:blipFill>
          <a:blip r:embed="rId4"/>
          <a:stretch>
            <a:fillRect/>
          </a:stretch>
        </p:blipFill>
        <p:spPr>
          <a:xfrm>
            <a:off x="400050" y="1918432"/>
            <a:ext cx="4121944" cy="925227"/>
          </a:xfrm>
          <a:prstGeom prst="rect">
            <a:avLst/>
          </a:prstGeom>
        </p:spPr>
      </p:pic>
      <p:sp>
        <p:nvSpPr>
          <p:cNvPr id="28" name="Text 22"/>
          <p:cNvSpPr/>
          <p:nvPr/>
        </p:nvSpPr>
        <p:spPr>
          <a:xfrm>
            <a:off x="403622" y="1922004"/>
            <a:ext cx="4114800" cy="918083"/>
          </a:xfrm>
          <a:prstGeom prst="roundRect">
            <a:avLst>
              <a:gd name="adj" fmla="val 14525"/>
            </a:avLst>
          </a:prstGeom>
          <a:noFill/>
          <a:ln w="7144">
            <a:solidFill>
              <a:srgbClr val="0E7490"/>
            </a:solidFill>
            <a:prstDash val="solid"/>
          </a:ln>
          <a:effectLst>
            <a:outerShdw sx="100000" sy="100000" kx="0" ky="0" algn="bl" rotWithShape="0" blurRad="190500" dist="38100" dir="5400000">
              <a:srgbClr val="06B6D4">
                <a:alpha val="5000"/>
              </a:srgbClr>
            </a:outerShdw>
          </a:effectLst>
        </p:spPr>
        <p:txBody>
          <a:bodyPr wrap="square" rtlCol="0" anchor="ctr"/>
          <a:lstStyle/>
          <a:p>
            <a:pPr indent="0" marL="0">
              <a:buNone/>
            </a:pPr>
            <a:endParaRPr lang="en-US" dirty="0"/>
          </a:p>
        </p:txBody>
      </p:sp>
      <p:sp>
        <p:nvSpPr>
          <p:cNvPr id="29" name="Text 23"/>
          <p:cNvSpPr/>
          <p:nvPr/>
        </p:nvSpPr>
        <p:spPr>
          <a:xfrm>
            <a:off x="539353" y="2029160"/>
            <a:ext cx="292894" cy="292894"/>
          </a:xfrm>
          <a:prstGeom prst="roundRect">
            <a:avLst>
              <a:gd name="adj" fmla="val 32520"/>
            </a:avLst>
          </a:prstGeom>
          <a:solidFill>
            <a:srgbClr val="D4A017">
              <a:alpha val="14000"/>
            </a:srgbClr>
          </a:solidFill>
          <a:ln w="7144">
            <a:solidFill>
              <a:srgbClr val="D4A017"/>
            </a:solidFill>
            <a:prstDash val="solid"/>
          </a:ln>
        </p:spPr>
        <p:txBody>
          <a:bodyPr wrap="square" rtlCol="0" anchor="ctr"/>
          <a:lstStyle/>
          <a:p>
            <a:pPr indent="0" marL="0">
              <a:buNone/>
            </a:pPr>
            <a:endParaRPr lang="en-US" dirty="0"/>
          </a:p>
        </p:txBody>
      </p:sp>
      <p:sp>
        <p:nvSpPr>
          <p:cNvPr id="30" name="Text 24"/>
          <p:cNvSpPr/>
          <p:nvPr/>
        </p:nvSpPr>
        <p:spPr>
          <a:xfrm>
            <a:off x="561499" y="2051305"/>
            <a:ext cx="248602" cy="248602"/>
          </a:xfrm>
          <a:prstGeom prst="rect">
            <a:avLst/>
          </a:prstGeom>
          <a:noFill/>
          <a:ln/>
        </p:spPr>
        <p:txBody>
          <a:bodyPr wrap="none" lIns="0" tIns="0" rIns="0" bIns="0" rtlCol="0" anchor="ctr"/>
          <a:lstStyle/>
          <a:p>
            <a:pPr algn="ctr" indent="0" marL="0">
              <a:buNone/>
            </a:pPr>
            <a:r>
              <a:rPr lang="en-US" sz="1688" dirty="0">
                <a:solidFill>
                  <a:srgbClr val="B45309"/>
                </a:solidFill>
                <a:latin typeface="Segoe UI Symbol" pitchFamily="34" charset="0"/>
                <a:ea typeface="Segoe UI Symbol" pitchFamily="34" charset="-122"/>
                <a:cs typeface="Segoe UI Symbol" pitchFamily="34" charset="-120"/>
              </a:rPr>
              <a:t>⛨</a:t>
            </a:r>
            <a:endParaRPr lang="en-US" sz="1688" dirty="0"/>
          </a:p>
        </p:txBody>
      </p:sp>
      <p:sp>
        <p:nvSpPr>
          <p:cNvPr id="31" name="Text 25"/>
          <p:cNvSpPr/>
          <p:nvPr/>
        </p:nvSpPr>
        <p:spPr>
          <a:xfrm>
            <a:off x="921544" y="2031616"/>
            <a:ext cx="923800" cy="91440"/>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64748B"/>
                </a:solidFill>
                <a:latin typeface="Liberation Sans Narrow" pitchFamily="34" charset="0"/>
                <a:ea typeface="Liberation Sans Narrow" pitchFamily="34" charset="-122"/>
                <a:cs typeface="Liberation Sans Narrow" pitchFamily="34" charset="-120"/>
              </a:rPr>
              <a:t>ROLE 01</a:t>
            </a:r>
            <a:endParaRPr lang="en-US" sz="800" dirty="0"/>
          </a:p>
        </p:txBody>
      </p:sp>
      <p:sp>
        <p:nvSpPr>
          <p:cNvPr id="32" name="Text 26"/>
          <p:cNvSpPr/>
          <p:nvPr/>
        </p:nvSpPr>
        <p:spPr>
          <a:xfrm>
            <a:off x="921544" y="2142344"/>
            <a:ext cx="769744" cy="191314"/>
          </a:xfrm>
          <a:prstGeom prst="rect">
            <a:avLst/>
          </a:prstGeom>
          <a:noFill/>
          <a:ln/>
        </p:spPr>
        <p:txBody>
          <a:bodyPr wrap="squar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Administrator</a:t>
            </a:r>
            <a:endParaRPr lang="en-US" sz="900" dirty="0"/>
          </a:p>
        </p:txBody>
      </p:sp>
      <p:sp>
        <p:nvSpPr>
          <p:cNvPr id="33" name="Text 27"/>
          <p:cNvSpPr/>
          <p:nvPr/>
        </p:nvSpPr>
        <p:spPr>
          <a:xfrm>
            <a:off x="535781" y="2368488"/>
            <a:ext cx="3960209" cy="153591"/>
          </a:xfrm>
          <a:prstGeom prst="rect">
            <a:avLst/>
          </a:prstGeom>
          <a:noFill/>
          <a:ln/>
        </p:spPr>
        <p:txBody>
          <a:bodyPr wrap="square" lIns="0" tIns="0" rIns="0" bIns="0" rtlCol="0" anchor="t"/>
          <a:lstStyle/>
          <a:p>
            <a:pPr algn="l" indent="0" marL="0">
              <a:lnSpc>
                <a:spcPts val="945"/>
              </a:lnSpc>
              <a:buNone/>
            </a:pPr>
            <a:r>
              <a:rPr lang="en-US" sz="800" dirty="0">
                <a:solidFill>
                  <a:srgbClr val="475569"/>
                </a:solidFill>
                <a:latin typeface="Carlito" pitchFamily="34" charset="0"/>
                <a:ea typeface="Carlito" pitchFamily="34" charset="-122"/>
                <a:cs typeface="Carlito" pitchFamily="34" charset="-120"/>
              </a:rPr>
              <a:t>Principal &amp; Administrative Section Head</a:t>
            </a:r>
            <a:endParaRPr lang="en-US" sz="800" dirty="0"/>
          </a:p>
        </p:txBody>
      </p:sp>
      <p:sp>
        <p:nvSpPr>
          <p:cNvPr id="34" name="Text 28"/>
          <p:cNvSpPr/>
          <p:nvPr/>
        </p:nvSpPr>
        <p:spPr>
          <a:xfrm>
            <a:off x="535781" y="2564468"/>
            <a:ext cx="902345"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35" name="Text 29"/>
          <p:cNvSpPr/>
          <p:nvPr/>
        </p:nvSpPr>
        <p:spPr>
          <a:xfrm>
            <a:off x="535781" y="2574206"/>
            <a:ext cx="902345"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FULL INDEX RE-BUILD</a:t>
            </a:r>
            <a:endParaRPr lang="en-US" sz="800" dirty="0"/>
          </a:p>
        </p:txBody>
      </p:sp>
      <p:sp>
        <p:nvSpPr>
          <p:cNvPr id="36" name="Text 30"/>
          <p:cNvSpPr/>
          <p:nvPr/>
        </p:nvSpPr>
        <p:spPr>
          <a:xfrm>
            <a:off x="1480989" y="2564468"/>
            <a:ext cx="902345"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37" name="Text 31"/>
          <p:cNvSpPr/>
          <p:nvPr/>
        </p:nvSpPr>
        <p:spPr>
          <a:xfrm>
            <a:off x="1480989" y="2574206"/>
            <a:ext cx="902345"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DOCUMENT GOVERNANCE</a:t>
            </a:r>
            <a:endParaRPr lang="en-US" sz="800" dirty="0"/>
          </a:p>
        </p:txBody>
      </p:sp>
      <p:pic>
        <p:nvPicPr>
          <p:cNvPr id="38" name="Image 4" descr="preencoded.png">    </p:cNvPr>
          <p:cNvPicPr>
            <a:picLocks noChangeAspect="1"/>
          </p:cNvPicPr>
          <p:nvPr/>
        </p:nvPicPr>
        <p:blipFill>
          <a:blip r:embed="rId5"/>
          <a:stretch>
            <a:fillRect/>
          </a:stretch>
        </p:blipFill>
        <p:spPr>
          <a:xfrm>
            <a:off x="4622006" y="1918432"/>
            <a:ext cx="4121944" cy="925227"/>
          </a:xfrm>
          <a:prstGeom prst="rect">
            <a:avLst/>
          </a:prstGeom>
        </p:spPr>
      </p:pic>
      <p:sp>
        <p:nvSpPr>
          <p:cNvPr id="39" name="Text 32"/>
          <p:cNvSpPr/>
          <p:nvPr/>
        </p:nvSpPr>
        <p:spPr>
          <a:xfrm>
            <a:off x="4625578" y="1922004"/>
            <a:ext cx="4114800" cy="918083"/>
          </a:xfrm>
          <a:prstGeom prst="roundRect">
            <a:avLst>
              <a:gd name="adj" fmla="val 14525"/>
            </a:avLst>
          </a:prstGeom>
          <a:noFill/>
          <a:ln w="7144">
            <a:solidFill>
              <a:srgbClr val="0E7490"/>
            </a:solidFill>
            <a:prstDash val="solid"/>
          </a:ln>
          <a:effectLst>
            <a:outerShdw sx="100000" sy="100000" kx="0" ky="0" algn="bl" rotWithShape="0" blurRad="190500" dist="38100" dir="5400000">
              <a:srgbClr val="06B6D4">
                <a:alpha val="5000"/>
              </a:srgbClr>
            </a:outerShdw>
          </a:effectLst>
        </p:spPr>
        <p:txBody>
          <a:bodyPr wrap="square" rtlCol="0" anchor="ctr"/>
          <a:lstStyle/>
          <a:p>
            <a:pPr indent="0" marL="0">
              <a:buNone/>
            </a:pPr>
            <a:endParaRPr lang="en-US" dirty="0"/>
          </a:p>
        </p:txBody>
      </p:sp>
      <p:sp>
        <p:nvSpPr>
          <p:cNvPr id="40" name="Text 33"/>
          <p:cNvSpPr/>
          <p:nvPr/>
        </p:nvSpPr>
        <p:spPr>
          <a:xfrm>
            <a:off x="4761309" y="2029160"/>
            <a:ext cx="292894" cy="292894"/>
          </a:xfrm>
          <a:prstGeom prst="roundRect">
            <a:avLst>
              <a:gd name="adj" fmla="val 32520"/>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41" name="Text 34"/>
          <p:cNvSpPr/>
          <p:nvPr/>
        </p:nvSpPr>
        <p:spPr>
          <a:xfrm>
            <a:off x="4783455" y="2051305"/>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42" name="Text 35"/>
          <p:cNvSpPr/>
          <p:nvPr/>
        </p:nvSpPr>
        <p:spPr>
          <a:xfrm>
            <a:off x="5143500" y="2031616"/>
            <a:ext cx="1045320" cy="91440"/>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64748B"/>
                </a:solidFill>
                <a:latin typeface="Liberation Sans Narrow" pitchFamily="34" charset="0"/>
                <a:ea typeface="Liberation Sans Narrow" pitchFamily="34" charset="-122"/>
                <a:cs typeface="Liberation Sans Narrow" pitchFamily="34" charset="-120"/>
              </a:rPr>
              <a:t>ROLE 02</a:t>
            </a:r>
            <a:endParaRPr lang="en-US" sz="800" dirty="0"/>
          </a:p>
        </p:txBody>
      </p:sp>
      <p:sp>
        <p:nvSpPr>
          <p:cNvPr id="43" name="Text 36"/>
          <p:cNvSpPr/>
          <p:nvPr/>
        </p:nvSpPr>
        <p:spPr>
          <a:xfrm>
            <a:off x="5143500" y="2142344"/>
            <a:ext cx="870999" cy="191314"/>
          </a:xfrm>
          <a:prstGeom prst="rect">
            <a:avLst/>
          </a:prstGeom>
          <a:noFill/>
          <a:ln/>
        </p:spPr>
        <p:txBody>
          <a:bodyPr wrap="non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Academic Staff</a:t>
            </a:r>
            <a:endParaRPr lang="en-US" sz="900" dirty="0"/>
          </a:p>
        </p:txBody>
      </p:sp>
      <p:sp>
        <p:nvSpPr>
          <p:cNvPr id="44" name="Text 37"/>
          <p:cNvSpPr/>
          <p:nvPr/>
        </p:nvSpPr>
        <p:spPr>
          <a:xfrm>
            <a:off x="4757738" y="2368488"/>
            <a:ext cx="3850481" cy="153591"/>
          </a:xfrm>
          <a:prstGeom prst="rect">
            <a:avLst/>
          </a:prstGeom>
          <a:noFill/>
          <a:ln/>
        </p:spPr>
        <p:txBody>
          <a:bodyPr wrap="none" lIns="0" tIns="0" rIns="0" bIns="0" rtlCol="0" anchor="t"/>
          <a:lstStyle/>
          <a:p>
            <a:pPr algn="l" indent="0" marL="0">
              <a:lnSpc>
                <a:spcPts val="945"/>
              </a:lnSpc>
              <a:buNone/>
            </a:pPr>
            <a:r>
              <a:rPr lang="en-US" sz="800" dirty="0">
                <a:solidFill>
                  <a:srgbClr val="475569"/>
                </a:solidFill>
                <a:latin typeface="Carlito" pitchFamily="34" charset="0"/>
                <a:ea typeface="Carlito" pitchFamily="34" charset="-122"/>
                <a:cs typeface="Carlito" pitchFamily="34" charset="-120"/>
              </a:rPr>
              <a:t>Academic In-Charge</a:t>
            </a:r>
            <a:endParaRPr lang="en-US" sz="800" dirty="0"/>
          </a:p>
        </p:txBody>
      </p:sp>
      <p:sp>
        <p:nvSpPr>
          <p:cNvPr id="45" name="Text 38"/>
          <p:cNvSpPr/>
          <p:nvPr/>
        </p:nvSpPr>
        <p:spPr>
          <a:xfrm>
            <a:off x="4757738" y="2564468"/>
            <a:ext cx="820862"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46" name="Text 39"/>
          <p:cNvSpPr/>
          <p:nvPr/>
        </p:nvSpPr>
        <p:spPr>
          <a:xfrm>
            <a:off x="4757738" y="2574206"/>
            <a:ext cx="820862"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STUDENT CIRCULARS</a:t>
            </a:r>
            <a:endParaRPr lang="en-US" sz="800" dirty="0"/>
          </a:p>
        </p:txBody>
      </p:sp>
      <p:sp>
        <p:nvSpPr>
          <p:cNvPr id="47" name="Text 40"/>
          <p:cNvSpPr/>
          <p:nvPr/>
        </p:nvSpPr>
        <p:spPr>
          <a:xfrm>
            <a:off x="5621462" y="2564468"/>
            <a:ext cx="454409"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48" name="Text 41"/>
          <p:cNvSpPr/>
          <p:nvPr/>
        </p:nvSpPr>
        <p:spPr>
          <a:xfrm>
            <a:off x="5533564" y="2574206"/>
            <a:ext cx="630204" cy="162297"/>
          </a:xfrm>
          <a:prstGeom prst="rect">
            <a:avLst/>
          </a:prstGeom>
          <a:noFill/>
          <a:ln/>
        </p:spPr>
        <p:txBody>
          <a:bodyPr wrap="non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SYLLABUS</a:t>
            </a:r>
            <a:endParaRPr lang="en-US" sz="800" dirty="0"/>
          </a:p>
        </p:txBody>
      </p:sp>
      <p:sp>
        <p:nvSpPr>
          <p:cNvPr id="49" name="Text 42"/>
          <p:cNvSpPr/>
          <p:nvPr/>
        </p:nvSpPr>
        <p:spPr>
          <a:xfrm>
            <a:off x="6118733" y="2564468"/>
            <a:ext cx="617265"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50" name="Text 43"/>
          <p:cNvSpPr/>
          <p:nvPr/>
        </p:nvSpPr>
        <p:spPr>
          <a:xfrm>
            <a:off x="5963602" y="2574206"/>
            <a:ext cx="927527"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REGISTRATION</a:t>
            </a:r>
            <a:endParaRPr lang="en-US" sz="800" dirty="0"/>
          </a:p>
        </p:txBody>
      </p:sp>
      <p:pic>
        <p:nvPicPr>
          <p:cNvPr id="51" name="Image 5" descr="preencoded.png">    </p:cNvPr>
          <p:cNvPicPr>
            <a:picLocks noChangeAspect="1"/>
          </p:cNvPicPr>
          <p:nvPr/>
        </p:nvPicPr>
        <p:blipFill>
          <a:blip r:embed="rId6"/>
          <a:stretch>
            <a:fillRect/>
          </a:stretch>
        </p:blipFill>
        <p:spPr>
          <a:xfrm>
            <a:off x="400050" y="2943671"/>
            <a:ext cx="4121944" cy="925227"/>
          </a:xfrm>
          <a:prstGeom prst="rect">
            <a:avLst/>
          </a:prstGeom>
        </p:spPr>
      </p:pic>
      <p:sp>
        <p:nvSpPr>
          <p:cNvPr id="52" name="Text 44"/>
          <p:cNvSpPr/>
          <p:nvPr/>
        </p:nvSpPr>
        <p:spPr>
          <a:xfrm>
            <a:off x="403622" y="2947243"/>
            <a:ext cx="4114800" cy="918083"/>
          </a:xfrm>
          <a:prstGeom prst="roundRect">
            <a:avLst>
              <a:gd name="adj" fmla="val 14525"/>
            </a:avLst>
          </a:prstGeom>
          <a:noFill/>
          <a:ln w="7144">
            <a:solidFill>
              <a:srgbClr val="0E7490"/>
            </a:solidFill>
            <a:prstDash val="solid"/>
          </a:ln>
          <a:effectLst>
            <a:outerShdw sx="100000" sy="100000" kx="0" ky="0" algn="bl" rotWithShape="0" blurRad="190500" dist="38100" dir="5400000">
              <a:srgbClr val="06B6D4">
                <a:alpha val="5000"/>
              </a:srgbClr>
            </a:outerShdw>
          </a:effectLst>
        </p:spPr>
        <p:txBody>
          <a:bodyPr wrap="square" rtlCol="0" anchor="ctr"/>
          <a:lstStyle/>
          <a:p>
            <a:pPr indent="0" marL="0">
              <a:buNone/>
            </a:pPr>
            <a:endParaRPr lang="en-US" dirty="0"/>
          </a:p>
        </p:txBody>
      </p:sp>
      <p:sp>
        <p:nvSpPr>
          <p:cNvPr id="53" name="Text 45"/>
          <p:cNvSpPr/>
          <p:nvPr/>
        </p:nvSpPr>
        <p:spPr>
          <a:xfrm>
            <a:off x="539353" y="3054400"/>
            <a:ext cx="292894" cy="292894"/>
          </a:xfrm>
          <a:prstGeom prst="roundRect">
            <a:avLst>
              <a:gd name="adj" fmla="val 32520"/>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54" name="Text 46"/>
          <p:cNvSpPr/>
          <p:nvPr/>
        </p:nvSpPr>
        <p:spPr>
          <a:xfrm>
            <a:off x="561499" y="3076545"/>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55" name="Text 47"/>
          <p:cNvSpPr/>
          <p:nvPr/>
        </p:nvSpPr>
        <p:spPr>
          <a:xfrm>
            <a:off x="921544" y="3056855"/>
            <a:ext cx="1226657" cy="91440"/>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64748B"/>
                </a:solidFill>
                <a:latin typeface="Liberation Sans Narrow" pitchFamily="34" charset="0"/>
                <a:ea typeface="Liberation Sans Narrow" pitchFamily="34" charset="-122"/>
                <a:cs typeface="Liberation Sans Narrow" pitchFamily="34" charset="-120"/>
              </a:rPr>
              <a:t>ROLE 03</a:t>
            </a:r>
            <a:endParaRPr lang="en-US" sz="800" dirty="0"/>
          </a:p>
        </p:txBody>
      </p:sp>
      <p:sp>
        <p:nvSpPr>
          <p:cNvPr id="56" name="Text 48"/>
          <p:cNvSpPr/>
          <p:nvPr/>
        </p:nvSpPr>
        <p:spPr>
          <a:xfrm>
            <a:off x="921544" y="3167583"/>
            <a:ext cx="1022096" cy="191314"/>
          </a:xfrm>
          <a:prstGeom prst="rect">
            <a:avLst/>
          </a:prstGeom>
          <a:noFill/>
          <a:ln/>
        </p:spPr>
        <p:txBody>
          <a:bodyPr wrap="non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Examination Wing</a:t>
            </a:r>
            <a:endParaRPr lang="en-US" sz="900" dirty="0"/>
          </a:p>
        </p:txBody>
      </p:sp>
      <p:sp>
        <p:nvSpPr>
          <p:cNvPr id="57" name="Text 49"/>
          <p:cNvSpPr/>
          <p:nvPr/>
        </p:nvSpPr>
        <p:spPr>
          <a:xfrm>
            <a:off x="535781" y="3393728"/>
            <a:ext cx="3960209" cy="153591"/>
          </a:xfrm>
          <a:prstGeom prst="rect">
            <a:avLst/>
          </a:prstGeom>
          <a:noFill/>
          <a:ln/>
        </p:spPr>
        <p:txBody>
          <a:bodyPr wrap="square" lIns="0" tIns="0" rIns="0" bIns="0" rtlCol="0" anchor="t"/>
          <a:lstStyle/>
          <a:p>
            <a:pPr algn="l" indent="0" marL="0">
              <a:lnSpc>
                <a:spcPts val="945"/>
              </a:lnSpc>
              <a:buNone/>
            </a:pPr>
            <a:r>
              <a:rPr lang="en-US" sz="800" dirty="0">
                <a:solidFill>
                  <a:srgbClr val="475569"/>
                </a:solidFill>
                <a:latin typeface="Carlito" pitchFamily="34" charset="0"/>
                <a:ea typeface="Carlito" pitchFamily="34" charset="-122"/>
                <a:cs typeface="Carlito" pitchFamily="34" charset="-120"/>
              </a:rPr>
              <a:t>Controller of Examinations</a:t>
            </a:r>
            <a:endParaRPr lang="en-US" sz="800" dirty="0"/>
          </a:p>
        </p:txBody>
      </p:sp>
      <p:sp>
        <p:nvSpPr>
          <p:cNvPr id="58" name="Text 50"/>
          <p:cNvSpPr/>
          <p:nvPr/>
        </p:nvSpPr>
        <p:spPr>
          <a:xfrm>
            <a:off x="535781" y="3589708"/>
            <a:ext cx="698748"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59" name="Text 51"/>
          <p:cNvSpPr/>
          <p:nvPr/>
        </p:nvSpPr>
        <p:spPr>
          <a:xfrm>
            <a:off x="535781" y="3599445"/>
            <a:ext cx="698748"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RESULT NOTICES</a:t>
            </a:r>
            <a:endParaRPr lang="en-US" sz="800" dirty="0"/>
          </a:p>
        </p:txBody>
      </p:sp>
      <p:sp>
        <p:nvSpPr>
          <p:cNvPr id="60" name="Text 52"/>
          <p:cNvSpPr/>
          <p:nvPr/>
        </p:nvSpPr>
        <p:spPr>
          <a:xfrm>
            <a:off x="1277392" y="3589708"/>
            <a:ext cx="902345"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61" name="Text 53"/>
          <p:cNvSpPr/>
          <p:nvPr/>
        </p:nvSpPr>
        <p:spPr>
          <a:xfrm>
            <a:off x="1277392" y="3599445"/>
            <a:ext cx="902345"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CONDONATION RECORDS</a:t>
            </a:r>
            <a:endParaRPr lang="en-US" sz="800" dirty="0"/>
          </a:p>
        </p:txBody>
      </p:sp>
      <p:pic>
        <p:nvPicPr>
          <p:cNvPr id="62" name="Image 6" descr="preencoded.png">    </p:cNvPr>
          <p:cNvPicPr>
            <a:picLocks noChangeAspect="1"/>
          </p:cNvPicPr>
          <p:nvPr/>
        </p:nvPicPr>
        <p:blipFill>
          <a:blip r:embed="rId7"/>
          <a:stretch>
            <a:fillRect/>
          </a:stretch>
        </p:blipFill>
        <p:spPr>
          <a:xfrm>
            <a:off x="4622006" y="2943671"/>
            <a:ext cx="4121944" cy="925227"/>
          </a:xfrm>
          <a:prstGeom prst="rect">
            <a:avLst/>
          </a:prstGeom>
        </p:spPr>
      </p:pic>
      <p:sp>
        <p:nvSpPr>
          <p:cNvPr id="63" name="Text 54"/>
          <p:cNvSpPr/>
          <p:nvPr/>
        </p:nvSpPr>
        <p:spPr>
          <a:xfrm>
            <a:off x="4625578" y="2947243"/>
            <a:ext cx="4114800" cy="918083"/>
          </a:xfrm>
          <a:prstGeom prst="roundRect">
            <a:avLst>
              <a:gd name="adj" fmla="val 14525"/>
            </a:avLst>
          </a:prstGeom>
          <a:noFill/>
          <a:ln w="7144">
            <a:solidFill>
              <a:srgbClr val="0E7490"/>
            </a:solidFill>
            <a:prstDash val="solid"/>
          </a:ln>
          <a:effectLst>
            <a:outerShdw sx="100000" sy="100000" kx="0" ky="0" algn="bl" rotWithShape="0" blurRad="190500" dist="38100" dir="5400000">
              <a:srgbClr val="06B6D4">
                <a:alpha val="5000"/>
              </a:srgbClr>
            </a:outerShdw>
          </a:effectLst>
        </p:spPr>
        <p:txBody>
          <a:bodyPr wrap="square" rtlCol="0" anchor="ctr"/>
          <a:lstStyle/>
          <a:p>
            <a:pPr indent="0" marL="0">
              <a:buNone/>
            </a:pPr>
            <a:endParaRPr lang="en-US" dirty="0"/>
          </a:p>
        </p:txBody>
      </p:sp>
      <p:sp>
        <p:nvSpPr>
          <p:cNvPr id="64" name="Text 55"/>
          <p:cNvSpPr/>
          <p:nvPr/>
        </p:nvSpPr>
        <p:spPr>
          <a:xfrm>
            <a:off x="4761309" y="3054400"/>
            <a:ext cx="292894" cy="292894"/>
          </a:xfrm>
          <a:prstGeom prst="roundRect">
            <a:avLst>
              <a:gd name="adj" fmla="val 32520"/>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65" name="Text 56"/>
          <p:cNvSpPr/>
          <p:nvPr/>
        </p:nvSpPr>
        <p:spPr>
          <a:xfrm>
            <a:off x="4783455" y="3076545"/>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66" name="Text 57"/>
          <p:cNvSpPr/>
          <p:nvPr/>
        </p:nvSpPr>
        <p:spPr>
          <a:xfrm>
            <a:off x="5143500" y="3056855"/>
            <a:ext cx="998062" cy="91440"/>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64748B"/>
                </a:solidFill>
                <a:latin typeface="Liberation Sans Narrow" pitchFamily="34" charset="0"/>
                <a:ea typeface="Liberation Sans Narrow" pitchFamily="34" charset="-122"/>
                <a:cs typeface="Liberation Sans Narrow" pitchFamily="34" charset="-120"/>
              </a:rPr>
              <a:t>ROLE 04</a:t>
            </a:r>
            <a:endParaRPr lang="en-US" sz="800" dirty="0"/>
          </a:p>
        </p:txBody>
      </p:sp>
      <p:sp>
        <p:nvSpPr>
          <p:cNvPr id="67" name="Text 58"/>
          <p:cNvSpPr/>
          <p:nvPr/>
        </p:nvSpPr>
        <p:spPr>
          <a:xfrm>
            <a:off x="5093550" y="3167583"/>
            <a:ext cx="931522" cy="191314"/>
          </a:xfrm>
          <a:prstGeom prst="rect">
            <a:avLst/>
          </a:prstGeom>
          <a:noFill/>
          <a:ln/>
        </p:spPr>
        <p:txBody>
          <a:bodyPr wrap="none" lIns="0" tIns="0" rIns="0" bIns="0" rtlCol="0" anchor="t"/>
          <a:lstStyle/>
          <a:p>
            <a:pPr algn="l" indent="0" marL="0">
              <a:lnSpc>
                <a:spcPts val="1395"/>
              </a:lnSpc>
              <a:buNone/>
            </a:pPr>
            <a:r>
              <a:rPr lang="en-US" sz="900" spc="-4" kern="0" dirty="0">
                <a:solidFill>
                  <a:srgbClr val="0F172A"/>
                </a:solidFill>
                <a:latin typeface="Carlito" pitchFamily="34" charset="0"/>
                <a:ea typeface="Carlito" pitchFamily="34" charset="-122"/>
                <a:cs typeface="Carlito" pitchFamily="34" charset="-120"/>
              </a:rPr>
              <a:t>HOD &amp; Faculty</a:t>
            </a:r>
            <a:endParaRPr lang="en-US" sz="900" dirty="0"/>
          </a:p>
        </p:txBody>
      </p:sp>
      <p:sp>
        <p:nvSpPr>
          <p:cNvPr id="68" name="Text 59"/>
          <p:cNvSpPr/>
          <p:nvPr/>
        </p:nvSpPr>
        <p:spPr>
          <a:xfrm>
            <a:off x="4757738" y="3393728"/>
            <a:ext cx="3850481" cy="153591"/>
          </a:xfrm>
          <a:prstGeom prst="rect">
            <a:avLst/>
          </a:prstGeom>
          <a:noFill/>
          <a:ln/>
        </p:spPr>
        <p:txBody>
          <a:bodyPr wrap="none" lIns="0" tIns="0" rIns="0" bIns="0" rtlCol="0" anchor="t"/>
          <a:lstStyle/>
          <a:p>
            <a:pPr algn="l" indent="0" marL="0">
              <a:lnSpc>
                <a:spcPts val="945"/>
              </a:lnSpc>
              <a:buNone/>
            </a:pPr>
            <a:r>
              <a:rPr lang="en-US" sz="800" dirty="0">
                <a:solidFill>
                  <a:srgbClr val="475569"/>
                </a:solidFill>
                <a:latin typeface="Carlito" pitchFamily="34" charset="0"/>
                <a:ea typeface="Carlito" pitchFamily="34" charset="-122"/>
                <a:cs typeface="Carlito" pitchFamily="34" charset="-120"/>
              </a:rPr>
              <a:t>Departmental Heads</a:t>
            </a:r>
            <a:endParaRPr lang="en-US" sz="800" dirty="0"/>
          </a:p>
        </p:txBody>
      </p:sp>
      <p:sp>
        <p:nvSpPr>
          <p:cNvPr id="69" name="Text 60"/>
          <p:cNvSpPr/>
          <p:nvPr/>
        </p:nvSpPr>
        <p:spPr>
          <a:xfrm>
            <a:off x="4757738" y="3589708"/>
            <a:ext cx="698748"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70" name="Text 61"/>
          <p:cNvSpPr/>
          <p:nvPr/>
        </p:nvSpPr>
        <p:spPr>
          <a:xfrm>
            <a:off x="4757738" y="3599445"/>
            <a:ext cx="698748"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FACULTY ORDERS</a:t>
            </a:r>
            <a:endParaRPr lang="en-US" sz="800" dirty="0"/>
          </a:p>
        </p:txBody>
      </p:sp>
      <p:sp>
        <p:nvSpPr>
          <p:cNvPr id="71" name="Text 62"/>
          <p:cNvSpPr/>
          <p:nvPr/>
        </p:nvSpPr>
        <p:spPr>
          <a:xfrm>
            <a:off x="5499348" y="3589708"/>
            <a:ext cx="698748" cy="181773"/>
          </a:xfrm>
          <a:prstGeom prst="roundRect">
            <a:avLst>
              <a:gd name="adj" fmla="val 20960"/>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72" name="Text 63"/>
          <p:cNvSpPr/>
          <p:nvPr/>
        </p:nvSpPr>
        <p:spPr>
          <a:xfrm>
            <a:off x="5499348" y="3599445"/>
            <a:ext cx="698748" cy="162297"/>
          </a:xfrm>
          <a:prstGeom prst="rect">
            <a:avLst/>
          </a:prstGeom>
          <a:noFill/>
          <a:ln/>
        </p:spPr>
        <p:txBody>
          <a:bodyPr wrap="square" lIns="0" tIns="0" rIns="0" bIns="0" rtlCol="0" anchor="ctr"/>
          <a:lstStyle/>
          <a:p>
            <a:pPr algn="ctr" indent="0" marL="0">
              <a:lnSpc>
                <a:spcPts val="828"/>
              </a:lnSpc>
              <a:buNone/>
            </a:pPr>
            <a:r>
              <a:rPr lang="en-US" sz="800" spc="53" kern="0" dirty="0">
                <a:solidFill>
                  <a:srgbClr val="0E7490"/>
                </a:solidFill>
                <a:latin typeface="Courier New" pitchFamily="34" charset="0"/>
                <a:ea typeface="Courier New" pitchFamily="34" charset="-122"/>
                <a:cs typeface="Courier New" pitchFamily="34" charset="-120"/>
              </a:rPr>
              <a:t>LEAVE POLICIES</a:t>
            </a:r>
            <a:endParaRPr lang="en-US" sz="800" dirty="0"/>
          </a:p>
        </p:txBody>
      </p:sp>
      <p:sp>
        <p:nvSpPr>
          <p:cNvPr id="73" name="Text 64"/>
          <p:cNvSpPr/>
          <p:nvPr/>
        </p:nvSpPr>
        <p:spPr>
          <a:xfrm>
            <a:off x="2308101" y="3958196"/>
            <a:ext cx="4527798" cy="214647"/>
          </a:xfrm>
          <a:prstGeom prst="roundRect">
            <a:avLst>
              <a:gd name="adj" fmla="val 4433081"/>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74" name="Text 65"/>
          <p:cNvSpPr/>
          <p:nvPr/>
        </p:nvSpPr>
        <p:spPr>
          <a:xfrm>
            <a:off x="2568848" y="4011774"/>
            <a:ext cx="6175102" cy="139654"/>
          </a:xfrm>
          <a:prstGeom prst="rect">
            <a:avLst/>
          </a:prstGeom>
          <a:noFill/>
          <a:ln/>
        </p:spPr>
        <p:txBody>
          <a:bodyPr wrap="square" lIns="114300" tIns="42863" rIns="114300" bIns="42863" rtlCol="0" anchor="t"/>
          <a:lstStyle/>
          <a:p>
            <a:pPr algn="l" indent="0" marL="0">
              <a:lnSpc>
                <a:spcPts val="959"/>
              </a:lnSpc>
              <a:buNone/>
            </a:pPr>
            <a:r>
              <a:rPr lang="en-US" sz="800" spc="62" kern="0" dirty="0">
                <a:solidFill>
                  <a:srgbClr val="15803D"/>
                </a:solidFill>
                <a:latin typeface="Courier New" pitchFamily="34" charset="0"/>
                <a:ea typeface="Courier New" pitchFamily="34" charset="-122"/>
                <a:cs typeface="Courier New" pitchFamily="34" charset="-120"/>
              </a:rPr>
              <a:t>SECURITY COMPLIANCE — STRICT .GITIGNORE + NO COMMITTED SECRETS + BCRYPT-HASHED PASSWORDS</a:t>
            </a:r>
            <a:endParaRPr lang="en-US" sz="800" dirty="0"/>
          </a:p>
        </p:txBody>
      </p:sp>
      <p:sp>
        <p:nvSpPr>
          <p:cNvPr id="75" name="Text 66"/>
          <p:cNvSpPr/>
          <p:nvPr/>
        </p:nvSpPr>
        <p:spPr>
          <a:xfrm>
            <a:off x="2425973" y="4015457"/>
            <a:ext cx="100013" cy="100013"/>
          </a:xfrm>
          <a:prstGeom prst="rect">
            <a:avLst/>
          </a:prstGeom>
          <a:noFill/>
          <a:ln/>
        </p:spPr>
        <p:txBody>
          <a:bodyPr wrap="none" lIns="0" tIns="0" rIns="0" bIns="0" rtlCol="0" anchor="ctr"/>
          <a:lstStyle/>
          <a:p>
            <a:pPr algn="ctr" indent="0" marL="0">
              <a:buNone/>
            </a:pPr>
            <a:r>
              <a:rPr lang="en-US" sz="984" dirty="0">
                <a:solidFill>
                  <a:srgbClr val="15803D"/>
                </a:solidFill>
                <a:latin typeface="Segoe UI Symbol" pitchFamily="34" charset="0"/>
                <a:ea typeface="Segoe UI Symbol" pitchFamily="34" charset="-122"/>
                <a:cs typeface="Segoe UI Symbol" pitchFamily="34" charset="-120"/>
              </a:rPr>
              <a:t>✓</a:t>
            </a:r>
            <a:endParaRPr lang="en-US" sz="984" dirty="0"/>
          </a:p>
        </p:txBody>
      </p:sp>
      <p:sp>
        <p:nvSpPr>
          <p:cNvPr id="76" name="Shape 67"/>
          <p:cNvSpPr/>
          <p:nvPr/>
        </p:nvSpPr>
        <p:spPr>
          <a:xfrm>
            <a:off x="400050" y="4829175"/>
            <a:ext cx="8343900" cy="0"/>
          </a:xfrm>
          <a:prstGeom prst="line">
            <a:avLst/>
          </a:prstGeom>
          <a:noFill/>
          <a:ln w="7144">
            <a:solidFill>
              <a:srgbClr val="0F172A"/>
            </a:solidFill>
            <a:prstDash val="solid"/>
          </a:ln>
        </p:spPr>
      </p:sp>
      <p:sp>
        <p:nvSpPr>
          <p:cNvPr id="77" name="Text 68"/>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78" name="Text 69"/>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11 / 18</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433742"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848079" y="157163"/>
            <a:ext cx="1138148"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11 / 16 · TEST CASES</a:t>
            </a:r>
            <a:endParaRPr lang="en-US" sz="600" dirty="0"/>
          </a:p>
        </p:txBody>
      </p:sp>
      <p:sp>
        <p:nvSpPr>
          <p:cNvPr id="6" name="Text 2"/>
          <p:cNvSpPr/>
          <p:nvPr/>
        </p:nvSpPr>
        <p:spPr>
          <a:xfrm>
            <a:off x="400050" y="442913"/>
            <a:ext cx="8636000" cy="111871"/>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EMPIRICAL VERIFICATION &amp; TEST CASE DEMONSTRATIONS</a:t>
            </a:r>
            <a:endParaRPr lang="en-US" sz="800" dirty="0"/>
          </a:p>
        </p:txBody>
      </p:sp>
      <p:sp>
        <p:nvSpPr>
          <p:cNvPr id="7" name="Text 3"/>
          <p:cNvSpPr/>
          <p:nvPr/>
        </p:nvSpPr>
        <p:spPr>
          <a:xfrm>
            <a:off x="400050" y="582216"/>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Validated Against Real-World Polytechnic Administrative Queries</a:t>
            </a:r>
            <a:endParaRPr lang="en-US" sz="1238" dirty="0"/>
          </a:p>
        </p:txBody>
      </p:sp>
      <p:pic>
        <p:nvPicPr>
          <p:cNvPr id="8" name="Image 2" descr="preencoded.png">    </p:cNvPr>
          <p:cNvPicPr>
            <a:picLocks noChangeAspect="1"/>
          </p:cNvPicPr>
          <p:nvPr/>
        </p:nvPicPr>
        <p:blipFill>
          <a:blip r:embed="rId3"/>
          <a:stretch>
            <a:fillRect/>
          </a:stretch>
        </p:blipFill>
        <p:spPr>
          <a:xfrm>
            <a:off x="400050" y="885044"/>
            <a:ext cx="2714625" cy="3357563"/>
          </a:xfrm>
          <a:prstGeom prst="rect">
            <a:avLst/>
          </a:prstGeom>
        </p:spPr>
      </p:pic>
      <p:sp>
        <p:nvSpPr>
          <p:cNvPr id="9" name="Text 4"/>
          <p:cNvSpPr/>
          <p:nvPr/>
        </p:nvSpPr>
        <p:spPr>
          <a:xfrm>
            <a:off x="403622" y="888616"/>
            <a:ext cx="2707481" cy="3350419"/>
          </a:xfrm>
          <a:prstGeom prst="roundRect">
            <a:avLst>
              <a:gd name="adj" fmla="val 4925"/>
            </a:avLst>
          </a:prstGeom>
          <a:noFill/>
          <a:ln w="7144">
            <a:solidFill>
              <a:srgbClr val="0E7490"/>
            </a:solidFill>
            <a:prstDash val="solid"/>
          </a:ln>
          <a:effectLst>
            <a:outerShdw sx="100000" sy="100000" kx="0" ky="0" algn="bl" rotWithShape="0" blurRad="228600" dist="38100" dir="5400000">
              <a:srgbClr val="06B6D4">
                <a:alpha val="6000"/>
              </a:srgbClr>
            </a:outerShdw>
          </a:effectLst>
        </p:spPr>
        <p:txBody>
          <a:bodyPr wrap="square" rtlCol="0" anchor="ctr"/>
          <a:lstStyle/>
          <a:p>
            <a:pPr indent="0" marL="0">
              <a:buNone/>
            </a:pPr>
            <a:endParaRPr lang="en-US" dirty="0"/>
          </a:p>
        </p:txBody>
      </p:sp>
      <p:sp>
        <p:nvSpPr>
          <p:cNvPr id="10" name="Text 5"/>
          <p:cNvSpPr/>
          <p:nvPr/>
        </p:nvSpPr>
        <p:spPr>
          <a:xfrm>
            <a:off x="525066" y="995772"/>
            <a:ext cx="1493825" cy="169441"/>
          </a:xfrm>
          <a:prstGeom prst="roundRect">
            <a:avLst>
              <a:gd name="adj" fmla="val 5615804"/>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11" name="Text 6"/>
          <p:cNvSpPr/>
          <p:nvPr/>
        </p:nvSpPr>
        <p:spPr>
          <a:xfrm>
            <a:off x="521494" y="992200"/>
            <a:ext cx="2171700" cy="285509"/>
          </a:xfrm>
          <a:prstGeom prst="rect">
            <a:avLst/>
          </a:prstGeom>
          <a:noFill/>
          <a:ln/>
        </p:spPr>
        <p:txBody>
          <a:bodyPr wrap="none" lIns="71438" tIns="28575" rIns="71438" bIns="28575" rtlCol="0" anchor="t"/>
          <a:lstStyle/>
          <a:p>
            <a:pPr algn="l" indent="0" marL="0">
              <a:lnSpc>
                <a:spcPts val="828"/>
              </a:lnSpc>
              <a:buNone/>
            </a:pPr>
            <a:r>
              <a:rPr lang="en-US" sz="800" spc="86" kern="0" dirty="0">
                <a:solidFill>
                  <a:srgbClr val="0E7490"/>
                </a:solidFill>
                <a:latin typeface="Liberation Sans Narrow" pitchFamily="34" charset="0"/>
                <a:ea typeface="Liberation Sans Narrow" pitchFamily="34" charset="-122"/>
                <a:cs typeface="Liberation Sans Narrow" pitchFamily="34" charset="-120"/>
              </a:rPr>
              <a:t>TEST 01 — EXACT FACT RETRIEVAL</a:t>
            </a:r>
            <a:endParaRPr lang="en-US" sz="800" dirty="0"/>
          </a:p>
        </p:txBody>
      </p:sp>
      <p:sp>
        <p:nvSpPr>
          <p:cNvPr id="12" name="Text 7"/>
          <p:cNvSpPr/>
          <p:nvPr/>
        </p:nvSpPr>
        <p:spPr>
          <a:xfrm>
            <a:off x="2711053" y="995772"/>
            <a:ext cx="278606" cy="278606"/>
          </a:xfrm>
          <a:prstGeom prst="roundRect">
            <a:avLst>
              <a:gd name="adj" fmla="val 34188"/>
            </a:avLst>
          </a:prstGeom>
          <a:solidFill>
            <a:srgbClr val="10B981">
              <a:alpha val="14000"/>
            </a:srgbClr>
          </a:solidFill>
          <a:ln w="7144">
            <a:solidFill>
              <a:srgbClr val="10B981"/>
            </a:solidFill>
            <a:prstDash val="solid"/>
          </a:ln>
        </p:spPr>
        <p:txBody>
          <a:bodyPr wrap="square" rtlCol="0" anchor="ctr"/>
          <a:lstStyle/>
          <a:p>
            <a:pPr indent="0" marL="0">
              <a:buNone/>
            </a:pPr>
            <a:endParaRPr lang="en-US" dirty="0"/>
          </a:p>
        </p:txBody>
      </p:sp>
      <p:sp>
        <p:nvSpPr>
          <p:cNvPr id="13" name="Text 8"/>
          <p:cNvSpPr/>
          <p:nvPr/>
        </p:nvSpPr>
        <p:spPr>
          <a:xfrm>
            <a:off x="2736413" y="1021132"/>
            <a:ext cx="227886" cy="227886"/>
          </a:xfrm>
          <a:prstGeom prst="rect">
            <a:avLst/>
          </a:prstGeom>
          <a:noFill/>
          <a:ln/>
        </p:spPr>
        <p:txBody>
          <a:bodyPr wrap="none" lIns="0" tIns="0" rIns="0" bIns="0" rtlCol="0" anchor="ctr"/>
          <a:lstStyle/>
          <a:p>
            <a:pPr algn="ctr" indent="0" marL="0">
              <a:buNone/>
            </a:pPr>
            <a:r>
              <a:rPr lang="en-US" sz="1547" dirty="0">
                <a:solidFill>
                  <a:srgbClr val="10B981"/>
                </a:solidFill>
                <a:latin typeface="Segoe UI Symbol" pitchFamily="34" charset="0"/>
                <a:ea typeface="Segoe UI Symbol" pitchFamily="34" charset="-122"/>
                <a:cs typeface="Segoe UI Symbol" pitchFamily="34" charset="-120"/>
              </a:rPr>
              <a:t>✓</a:t>
            </a:r>
            <a:endParaRPr lang="en-US" sz="1547" dirty="0"/>
          </a:p>
        </p:txBody>
      </p:sp>
      <p:sp>
        <p:nvSpPr>
          <p:cNvPr id="14" name="Text 9"/>
          <p:cNvSpPr/>
          <p:nvPr/>
        </p:nvSpPr>
        <p:spPr>
          <a:xfrm>
            <a:off x="521494" y="1335100"/>
            <a:ext cx="2471738" cy="104727"/>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USER QUERY</a:t>
            </a:r>
            <a:endParaRPr lang="en-US" sz="800" dirty="0"/>
          </a:p>
        </p:txBody>
      </p:sp>
      <p:sp>
        <p:nvSpPr>
          <p:cNvPr id="15" name="Text 10"/>
          <p:cNvSpPr/>
          <p:nvPr/>
        </p:nvSpPr>
        <p:spPr>
          <a:xfrm>
            <a:off x="521494" y="1467259"/>
            <a:ext cx="2471738" cy="329184"/>
          </a:xfrm>
          <a:prstGeom prst="rect">
            <a:avLst/>
          </a:prstGeom>
          <a:noFill/>
          <a:ln/>
        </p:spPr>
        <p:txBody>
          <a:bodyPr wrap="square" lIns="0" tIns="0" rIns="0" bIns="0" rtlCol="0" anchor="t"/>
          <a:lstStyle/>
          <a:p>
            <a:pPr algn="l" indent="0" marL="0">
              <a:lnSpc>
                <a:spcPts val="1097"/>
              </a:lnSpc>
              <a:buNone/>
            </a:pPr>
            <a:r>
              <a:rPr lang="en-US" sz="800" i="1" dirty="0">
                <a:solidFill>
                  <a:srgbClr val="475569"/>
                </a:solidFill>
                <a:latin typeface="Carlito" pitchFamily="34" charset="0"/>
                <a:ea typeface="Carlito" pitchFamily="34" charset="-122"/>
                <a:cs typeface="Carlito" pitchFamily="34" charset="-120"/>
              </a:rPr>
              <a:t>What is the minimum attendance required and can the Principal condone shortage?</a:t>
            </a:r>
            <a:endParaRPr lang="en-US" sz="800" dirty="0"/>
          </a:p>
        </p:txBody>
      </p:sp>
      <p:pic>
        <p:nvPicPr>
          <p:cNvPr id="16" name="Image 3" descr="preencoded.png">    </p:cNvPr>
          <p:cNvPicPr>
            <a:picLocks noChangeAspect="1"/>
          </p:cNvPicPr>
          <p:nvPr/>
        </p:nvPicPr>
        <p:blipFill>
          <a:blip r:embed="rId4"/>
          <a:stretch>
            <a:fillRect/>
          </a:stretch>
        </p:blipFill>
        <p:spPr>
          <a:xfrm>
            <a:off x="521494" y="1831591"/>
            <a:ext cx="2471738" cy="7144"/>
          </a:xfrm>
          <a:prstGeom prst="rect">
            <a:avLst/>
          </a:prstGeom>
        </p:spPr>
      </p:pic>
      <p:sp>
        <p:nvSpPr>
          <p:cNvPr id="17" name="Text 11"/>
          <p:cNvSpPr/>
          <p:nvPr/>
        </p:nvSpPr>
        <p:spPr>
          <a:xfrm>
            <a:off x="521494" y="1910172"/>
            <a:ext cx="2471738" cy="104727"/>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GROUND-TRUTH ANSWER</a:t>
            </a:r>
            <a:endParaRPr lang="en-US" sz="800" dirty="0"/>
          </a:p>
        </p:txBody>
      </p:sp>
      <p:sp>
        <p:nvSpPr>
          <p:cNvPr id="18" name="Text 12"/>
          <p:cNvSpPr/>
          <p:nvPr/>
        </p:nvSpPr>
        <p:spPr>
          <a:xfrm>
            <a:off x="521494" y="2042331"/>
            <a:ext cx="2471738" cy="493776"/>
          </a:xfrm>
          <a:prstGeom prst="rect">
            <a:avLst/>
          </a:prstGeom>
          <a:noFill/>
          <a:ln/>
        </p:spPr>
        <p:txBody>
          <a:bodyPr wrap="square" lIns="0" tIns="0" rIns="0" bIns="0" rtlCol="0" anchor="t"/>
          <a:lstStyle/>
          <a:p>
            <a:pPr algn="l" indent="0" marL="0">
              <a:lnSpc>
                <a:spcPts val="1097"/>
              </a:lnSpc>
              <a:buNone/>
            </a:pPr>
            <a:r>
              <a:rPr lang="en-US" sz="800" dirty="0">
                <a:solidFill>
                  <a:srgbClr val="0F172A"/>
                </a:solidFill>
                <a:latin typeface="Carlito" pitchFamily="34" charset="0"/>
                <a:ea typeface="Carlito" pitchFamily="34" charset="-122"/>
                <a:cs typeface="Carlito" pitchFamily="34" charset="-120"/>
              </a:rPr>
              <a:t>Exactly 75% required. Principal can condone up to 10% (between 65%–74.9%) for illness/NCC; below 65% is non-condonable.</a:t>
            </a:r>
            <a:endParaRPr lang="en-US" sz="800" dirty="0"/>
          </a:p>
        </p:txBody>
      </p:sp>
      <p:sp>
        <p:nvSpPr>
          <p:cNvPr id="19" name="Text 13"/>
          <p:cNvSpPr/>
          <p:nvPr/>
        </p:nvSpPr>
        <p:spPr>
          <a:xfrm>
            <a:off x="521494" y="2545966"/>
            <a:ext cx="2471738" cy="634454"/>
          </a:xfrm>
          <a:prstGeom prst="roundRect">
            <a:avLst>
              <a:gd name="adj" fmla="val 12010"/>
            </a:avLst>
          </a:prstGeom>
          <a:solidFill>
            <a:srgbClr val="F5EFE3"/>
          </a:solidFill>
          <a:ln/>
        </p:spPr>
        <p:txBody>
          <a:bodyPr wrap="square" rtlCol="0" anchor="ctr"/>
          <a:lstStyle/>
          <a:p>
            <a:pPr indent="0" marL="0">
              <a:buNone/>
            </a:pPr>
            <a:endParaRPr lang="en-US" dirty="0"/>
          </a:p>
        </p:txBody>
      </p:sp>
      <p:sp>
        <p:nvSpPr>
          <p:cNvPr id="20" name="Shape 14"/>
          <p:cNvSpPr/>
          <p:nvPr/>
        </p:nvSpPr>
        <p:spPr>
          <a:xfrm>
            <a:off x="521494" y="2549537"/>
            <a:ext cx="2471738" cy="0"/>
          </a:xfrm>
          <a:prstGeom prst="line">
            <a:avLst/>
          </a:prstGeom>
          <a:noFill/>
          <a:ln w="7144">
            <a:solidFill>
              <a:srgbClr val="0E7490"/>
            </a:solidFill>
            <a:prstDash val="solid"/>
          </a:ln>
        </p:spPr>
      </p:sp>
      <p:sp>
        <p:nvSpPr>
          <p:cNvPr id="21" name="Shape 15"/>
          <p:cNvSpPr/>
          <p:nvPr/>
        </p:nvSpPr>
        <p:spPr>
          <a:xfrm>
            <a:off x="2989659" y="2545966"/>
            <a:ext cx="0" cy="634454"/>
          </a:xfrm>
          <a:prstGeom prst="line">
            <a:avLst/>
          </a:prstGeom>
          <a:noFill/>
          <a:ln w="7144">
            <a:solidFill>
              <a:srgbClr val="0E7490"/>
            </a:solidFill>
            <a:prstDash val="solid"/>
          </a:ln>
        </p:spPr>
      </p:sp>
      <p:sp>
        <p:nvSpPr>
          <p:cNvPr id="22" name="Shape 16"/>
          <p:cNvSpPr/>
          <p:nvPr/>
        </p:nvSpPr>
        <p:spPr>
          <a:xfrm>
            <a:off x="521494" y="3176848"/>
            <a:ext cx="2471738" cy="0"/>
          </a:xfrm>
          <a:prstGeom prst="line">
            <a:avLst/>
          </a:prstGeom>
          <a:noFill/>
          <a:ln w="7144">
            <a:solidFill>
              <a:srgbClr val="0E7490"/>
            </a:solidFill>
            <a:prstDash val="solid"/>
          </a:ln>
        </p:spPr>
      </p:sp>
      <p:sp>
        <p:nvSpPr>
          <p:cNvPr id="23" name="Shape 17"/>
          <p:cNvSpPr/>
          <p:nvPr/>
        </p:nvSpPr>
        <p:spPr>
          <a:xfrm>
            <a:off x="532209" y="2545966"/>
            <a:ext cx="0" cy="634454"/>
          </a:xfrm>
          <a:prstGeom prst="line">
            <a:avLst/>
          </a:prstGeom>
          <a:noFill/>
          <a:ln w="21431">
            <a:solidFill>
              <a:srgbClr val="06B6D4"/>
            </a:solidFill>
            <a:prstDash val="solid"/>
          </a:ln>
        </p:spPr>
      </p:sp>
      <p:sp>
        <p:nvSpPr>
          <p:cNvPr id="24" name="Text 18"/>
          <p:cNvSpPr/>
          <p:nvPr/>
        </p:nvSpPr>
        <p:spPr>
          <a:xfrm>
            <a:off x="628650" y="2624547"/>
            <a:ext cx="2271713" cy="106290"/>
          </a:xfrm>
          <a:prstGeom prst="rect">
            <a:avLst/>
          </a:prstGeom>
          <a:noFill/>
          <a:ln/>
        </p:spPr>
        <p:txBody>
          <a:bodyPr wrap="none" lIns="0" tIns="0" rIns="0" bIns="0" rtlCol="0" anchor="t">
            <a:normAutofit/>
          </a:bodyPr>
          <a:lstStyle/>
          <a:p>
            <a:pPr algn="l" indent="0" marL="0">
              <a:lnSpc>
                <a:spcPts val="828"/>
              </a:lnSpc>
              <a:buNone/>
            </a:pPr>
            <a:r>
              <a:rPr lang="en-US" sz="800" spc="86" kern="0" dirty="0">
                <a:solidFill>
                  <a:srgbClr val="0E7490"/>
                </a:solidFill>
                <a:latin typeface="Courier New" pitchFamily="34" charset="0"/>
                <a:ea typeface="Courier New" pitchFamily="34" charset="-122"/>
                <a:cs typeface="Courier New" pitchFamily="34" charset="-120"/>
              </a:rPr>
              <a:t>SOURCE CITED</a:t>
            </a:r>
            <a:endParaRPr lang="en-US" sz="800" dirty="0"/>
          </a:p>
        </p:txBody>
      </p:sp>
      <p:sp>
        <p:nvSpPr>
          <p:cNvPr id="25" name="Text 19"/>
          <p:cNvSpPr/>
          <p:nvPr/>
        </p:nvSpPr>
        <p:spPr>
          <a:xfrm>
            <a:off x="628650" y="2758269"/>
            <a:ext cx="2271713" cy="148260"/>
          </a:xfrm>
          <a:prstGeom prst="rect">
            <a:avLst/>
          </a:prstGeom>
          <a:noFill/>
          <a:ln/>
        </p:spPr>
        <p:txBody>
          <a:bodyPr wrap="square" lIns="0" tIns="0" rIns="0" bIns="0" rtlCol="0" anchor="t">
            <a:normAutofit/>
          </a:bodyPr>
          <a:lstStyle/>
          <a:p>
            <a:pPr algn="l" indent="0" marL="0">
              <a:lnSpc>
                <a:spcPts val="1046"/>
              </a:lnSpc>
              <a:buNone/>
            </a:pPr>
            <a:r>
              <a:rPr lang="en-US" sz="675" dirty="0">
                <a:solidFill>
                  <a:srgbClr val="0E7490"/>
                </a:solidFill>
                <a:latin typeface="Courier New" pitchFamily="34" charset="0"/>
                <a:ea typeface="Courier New" pitchFamily="34" charset="-122"/>
                <a:cs typeface="Courier New" pitchFamily="34" charset="-120"/>
              </a:rPr>
              <a:t>KGP_Order_Attendance_and_Leave_Rules_2026.pdf</a:t>
            </a:r>
            <a:endParaRPr lang="en-US" sz="675" dirty="0"/>
          </a:p>
        </p:txBody>
      </p:sp>
      <p:sp>
        <p:nvSpPr>
          <p:cNvPr id="26" name="Text 20"/>
          <p:cNvSpPr/>
          <p:nvPr/>
        </p:nvSpPr>
        <p:spPr>
          <a:xfrm>
            <a:off x="612876" y="2923888"/>
            <a:ext cx="425906" cy="188024"/>
          </a:xfrm>
          <a:prstGeom prst="roundRect">
            <a:avLst>
              <a:gd name="adj" fmla="val 20263"/>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27" name="Text 21"/>
          <p:cNvSpPr/>
          <p:nvPr/>
        </p:nvSpPr>
        <p:spPr>
          <a:xfrm>
            <a:off x="605438" y="2933960"/>
            <a:ext cx="440781" cy="167878"/>
          </a:xfrm>
          <a:prstGeom prst="rect">
            <a:avLst/>
          </a:prstGeom>
          <a:noFill/>
          <a:ln/>
        </p:spPr>
        <p:txBody>
          <a:bodyPr wrap="none" lIns="0" tIns="0" rIns="0" bIns="0" rtlCol="0" anchor="ctr"/>
          <a:lstStyle/>
          <a:p>
            <a:pPr algn="ctr" indent="0" marL="0">
              <a:lnSpc>
                <a:spcPts val="872"/>
              </a:lnSpc>
              <a:buNone/>
            </a:pPr>
            <a:r>
              <a:rPr lang="en-US" sz="800" spc="68" kern="0" dirty="0">
                <a:solidFill>
                  <a:srgbClr val="0E7490"/>
                </a:solidFill>
                <a:latin typeface="Liberation Sans Narrow" pitchFamily="34" charset="0"/>
                <a:ea typeface="Liberation Sans Narrow" pitchFamily="34" charset="-122"/>
                <a:cs typeface="Liberation Sans Narrow" pitchFamily="34" charset="-120"/>
              </a:rPr>
              <a:t>PAGE 1</a:t>
            </a:r>
            <a:endParaRPr lang="en-US" sz="800" dirty="0"/>
          </a:p>
        </p:txBody>
      </p:sp>
      <p:sp>
        <p:nvSpPr>
          <p:cNvPr id="28" name="Text 22"/>
          <p:cNvSpPr/>
          <p:nvPr/>
        </p:nvSpPr>
        <p:spPr>
          <a:xfrm>
            <a:off x="525066" y="3937099"/>
            <a:ext cx="1454088" cy="194779"/>
          </a:xfrm>
          <a:prstGeom prst="roundRect">
            <a:avLst>
              <a:gd name="adj" fmla="val 4885267"/>
            </a:avLst>
          </a:prstGeom>
          <a:solidFill>
            <a:srgbClr val="10B981">
              <a:alpha val="16000"/>
            </a:srgbClr>
          </a:solidFill>
          <a:ln w="7144">
            <a:solidFill>
              <a:srgbClr val="10B981"/>
            </a:solidFill>
            <a:prstDash val="solid"/>
          </a:ln>
        </p:spPr>
        <p:txBody>
          <a:bodyPr wrap="square" rtlCol="0" anchor="ctr"/>
          <a:lstStyle/>
          <a:p>
            <a:pPr indent="0" marL="0">
              <a:buNone/>
            </a:pPr>
            <a:endParaRPr lang="en-US" dirty="0"/>
          </a:p>
        </p:txBody>
      </p:sp>
      <p:sp>
        <p:nvSpPr>
          <p:cNvPr id="29" name="Text 23"/>
          <p:cNvSpPr/>
          <p:nvPr/>
        </p:nvSpPr>
        <p:spPr>
          <a:xfrm>
            <a:off x="757238" y="3983534"/>
            <a:ext cx="1132619" cy="135854"/>
          </a:xfrm>
          <a:prstGeom prst="rect">
            <a:avLst/>
          </a:prstGeom>
          <a:noFill/>
          <a:ln/>
        </p:spPr>
        <p:txBody>
          <a:bodyPr wrap="none" lIns="0" tIns="0" rIns="0" bIns="0" rtlCol="0" anchor="t"/>
          <a:lstStyle/>
          <a:p>
            <a:pPr algn="l" indent="0" marL="0">
              <a:lnSpc>
                <a:spcPts val="915"/>
              </a:lnSpc>
              <a:buNone/>
            </a:pPr>
            <a:r>
              <a:rPr lang="en-US" sz="600" spc="83" kern="0" dirty="0">
                <a:solidFill>
                  <a:srgbClr val="10B981"/>
                </a:solidFill>
                <a:latin typeface="Courier New" pitchFamily="34" charset="0"/>
                <a:ea typeface="Courier New" pitchFamily="34" charset="-122"/>
                <a:cs typeface="Courier New" pitchFamily="34" charset="-120"/>
              </a:rPr>
              <a:t>PASS · CITATION VERIFIED</a:t>
            </a:r>
            <a:endParaRPr lang="en-US" sz="600" dirty="0"/>
          </a:p>
        </p:txBody>
      </p:sp>
      <p:sp>
        <p:nvSpPr>
          <p:cNvPr id="30" name="Text 24"/>
          <p:cNvSpPr/>
          <p:nvPr/>
        </p:nvSpPr>
        <p:spPr>
          <a:xfrm>
            <a:off x="614363" y="3984427"/>
            <a:ext cx="100013" cy="100013"/>
          </a:xfrm>
          <a:prstGeom prst="rect">
            <a:avLst/>
          </a:prstGeom>
          <a:noFill/>
          <a:ln/>
        </p:spPr>
        <p:txBody>
          <a:bodyPr wrap="none" lIns="0" tIns="0" rIns="0" bIns="0" rtlCol="0" anchor="ctr"/>
          <a:lstStyle/>
          <a:p>
            <a:pPr algn="ctr" indent="0" marL="0">
              <a:buNone/>
            </a:pPr>
            <a:r>
              <a:rPr lang="en-US" sz="984" dirty="0">
                <a:solidFill>
                  <a:srgbClr val="10B981"/>
                </a:solidFill>
                <a:latin typeface="Segoe UI Symbol" pitchFamily="34" charset="0"/>
                <a:ea typeface="Segoe UI Symbol" pitchFamily="34" charset="-122"/>
                <a:cs typeface="Segoe UI Symbol" pitchFamily="34" charset="-120"/>
              </a:rPr>
              <a:t>✓</a:t>
            </a:r>
            <a:endParaRPr lang="en-US" sz="984" dirty="0"/>
          </a:p>
        </p:txBody>
      </p:sp>
      <p:pic>
        <p:nvPicPr>
          <p:cNvPr id="31" name="Image 4" descr="preencoded.png">    </p:cNvPr>
          <p:cNvPicPr>
            <a:picLocks noChangeAspect="1"/>
          </p:cNvPicPr>
          <p:nvPr/>
        </p:nvPicPr>
        <p:blipFill>
          <a:blip r:embed="rId5"/>
          <a:stretch>
            <a:fillRect/>
          </a:stretch>
        </p:blipFill>
        <p:spPr>
          <a:xfrm>
            <a:off x="3214688" y="885044"/>
            <a:ext cx="2714625" cy="3357563"/>
          </a:xfrm>
          <a:prstGeom prst="rect">
            <a:avLst/>
          </a:prstGeom>
        </p:spPr>
      </p:pic>
      <p:sp>
        <p:nvSpPr>
          <p:cNvPr id="32" name="Text 25"/>
          <p:cNvSpPr/>
          <p:nvPr/>
        </p:nvSpPr>
        <p:spPr>
          <a:xfrm>
            <a:off x="3218259" y="888616"/>
            <a:ext cx="2707481" cy="3350419"/>
          </a:xfrm>
          <a:prstGeom prst="roundRect">
            <a:avLst>
              <a:gd name="adj" fmla="val 4925"/>
            </a:avLst>
          </a:prstGeom>
          <a:noFill/>
          <a:ln w="7144">
            <a:solidFill>
              <a:srgbClr val="0E7490"/>
            </a:solidFill>
            <a:prstDash val="solid"/>
          </a:ln>
          <a:effectLst>
            <a:outerShdw sx="100000" sy="100000" kx="0" ky="0" algn="bl" rotWithShape="0" blurRad="228600" dist="38100" dir="5400000">
              <a:srgbClr val="06B6D4">
                <a:alpha val="6000"/>
              </a:srgbClr>
            </a:outerShdw>
          </a:effectLst>
        </p:spPr>
        <p:txBody>
          <a:bodyPr wrap="square" rtlCol="0" anchor="ctr"/>
          <a:lstStyle/>
          <a:p>
            <a:pPr indent="0" marL="0">
              <a:buNone/>
            </a:pPr>
            <a:endParaRPr lang="en-US" dirty="0"/>
          </a:p>
        </p:txBody>
      </p:sp>
      <p:sp>
        <p:nvSpPr>
          <p:cNvPr id="33" name="Text 26"/>
          <p:cNvSpPr/>
          <p:nvPr/>
        </p:nvSpPr>
        <p:spPr>
          <a:xfrm>
            <a:off x="3339703" y="995772"/>
            <a:ext cx="1493825" cy="169441"/>
          </a:xfrm>
          <a:prstGeom prst="roundRect">
            <a:avLst>
              <a:gd name="adj" fmla="val 5615804"/>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34" name="Text 27"/>
          <p:cNvSpPr/>
          <p:nvPr/>
        </p:nvSpPr>
        <p:spPr>
          <a:xfrm>
            <a:off x="3336131" y="992200"/>
            <a:ext cx="2171700" cy="285509"/>
          </a:xfrm>
          <a:prstGeom prst="rect">
            <a:avLst/>
          </a:prstGeom>
          <a:noFill/>
          <a:ln/>
        </p:spPr>
        <p:txBody>
          <a:bodyPr wrap="none" lIns="71438" tIns="28575" rIns="71438" bIns="28575" rtlCol="0" anchor="t"/>
          <a:lstStyle/>
          <a:p>
            <a:pPr algn="l" indent="0" marL="0">
              <a:lnSpc>
                <a:spcPts val="828"/>
              </a:lnSpc>
              <a:buNone/>
            </a:pPr>
            <a:r>
              <a:rPr lang="en-US" sz="800" spc="86" kern="0" dirty="0">
                <a:solidFill>
                  <a:srgbClr val="0E7490"/>
                </a:solidFill>
                <a:latin typeface="Liberation Sans Narrow" pitchFamily="34" charset="0"/>
                <a:ea typeface="Liberation Sans Narrow" pitchFamily="34" charset="-122"/>
                <a:cs typeface="Liberation Sans Narrow" pitchFamily="34" charset="-120"/>
              </a:rPr>
              <a:t>TEST 02 — MULTI-TURN FOLLOW-UP</a:t>
            </a:r>
            <a:endParaRPr lang="en-US" sz="800" dirty="0"/>
          </a:p>
        </p:txBody>
      </p:sp>
      <p:sp>
        <p:nvSpPr>
          <p:cNvPr id="35" name="Text 28"/>
          <p:cNvSpPr/>
          <p:nvPr/>
        </p:nvSpPr>
        <p:spPr>
          <a:xfrm>
            <a:off x="5525691" y="995772"/>
            <a:ext cx="278606" cy="278606"/>
          </a:xfrm>
          <a:prstGeom prst="roundRect">
            <a:avLst>
              <a:gd name="adj" fmla="val 34188"/>
            </a:avLst>
          </a:prstGeom>
          <a:solidFill>
            <a:srgbClr val="06B6D4">
              <a:alpha val="14000"/>
            </a:srgbClr>
          </a:solidFill>
          <a:ln w="7144">
            <a:solidFill>
              <a:srgbClr val="06B6D4"/>
            </a:solidFill>
            <a:prstDash val="solid"/>
          </a:ln>
        </p:spPr>
        <p:txBody>
          <a:bodyPr wrap="square" rtlCol="0" anchor="ctr"/>
          <a:lstStyle/>
          <a:p>
            <a:pPr indent="0" marL="0">
              <a:buNone/>
            </a:pPr>
            <a:endParaRPr lang="en-US" dirty="0"/>
          </a:p>
        </p:txBody>
      </p:sp>
      <p:sp>
        <p:nvSpPr>
          <p:cNvPr id="36" name="Text 29"/>
          <p:cNvSpPr/>
          <p:nvPr/>
        </p:nvSpPr>
        <p:spPr>
          <a:xfrm>
            <a:off x="5551051" y="1021132"/>
            <a:ext cx="227886" cy="227886"/>
          </a:xfrm>
          <a:prstGeom prst="rect">
            <a:avLst/>
          </a:prstGeom>
          <a:noFill/>
          <a:ln/>
        </p:spPr>
        <p:txBody>
          <a:bodyPr wrap="none" lIns="0" tIns="0" rIns="0" bIns="0" rtlCol="0" anchor="ctr"/>
          <a:lstStyle/>
          <a:p>
            <a:pPr algn="ctr" indent="0" marL="0">
              <a:buNone/>
            </a:pPr>
            <a:r>
              <a:rPr lang="en-US" sz="1547" dirty="0">
                <a:solidFill>
                  <a:srgbClr val="0E7490"/>
                </a:solidFill>
                <a:latin typeface="Segoe UI Symbol" pitchFamily="34" charset="0"/>
                <a:ea typeface="Segoe UI Symbol" pitchFamily="34" charset="-122"/>
                <a:cs typeface="Segoe UI Symbol" pitchFamily="34" charset="-120"/>
              </a:rPr>
              <a:t>◌</a:t>
            </a:r>
            <a:endParaRPr lang="en-US" sz="1547" dirty="0"/>
          </a:p>
        </p:txBody>
      </p:sp>
      <p:sp>
        <p:nvSpPr>
          <p:cNvPr id="37" name="Text 30"/>
          <p:cNvSpPr/>
          <p:nvPr/>
        </p:nvSpPr>
        <p:spPr>
          <a:xfrm>
            <a:off x="3336131" y="1335100"/>
            <a:ext cx="2471738" cy="104727"/>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TURN 2 QUERY</a:t>
            </a:r>
            <a:endParaRPr lang="en-US" sz="800" dirty="0"/>
          </a:p>
        </p:txBody>
      </p:sp>
      <p:sp>
        <p:nvSpPr>
          <p:cNvPr id="38" name="Text 31"/>
          <p:cNvSpPr/>
          <p:nvPr/>
        </p:nvSpPr>
        <p:spPr>
          <a:xfrm>
            <a:off x="3336131" y="1467259"/>
            <a:ext cx="2471738" cy="164592"/>
          </a:xfrm>
          <a:prstGeom prst="rect">
            <a:avLst/>
          </a:prstGeom>
          <a:noFill/>
          <a:ln/>
        </p:spPr>
        <p:txBody>
          <a:bodyPr wrap="square" lIns="0" tIns="0" rIns="0" bIns="0" rtlCol="0" anchor="t"/>
          <a:lstStyle/>
          <a:p>
            <a:pPr algn="l" indent="0" marL="0">
              <a:lnSpc>
                <a:spcPts val="1097"/>
              </a:lnSpc>
              <a:buNone/>
            </a:pPr>
            <a:r>
              <a:rPr lang="en-US" sz="731" i="1" dirty="0">
                <a:solidFill>
                  <a:srgbClr val="475569"/>
                </a:solidFill>
                <a:latin typeface="Carlito" pitchFamily="34" charset="0"/>
                <a:ea typeface="Carlito" pitchFamily="34" charset="-122"/>
                <a:cs typeface="Carlito" pitchFamily="34" charset="-120"/>
              </a:rPr>
              <a:t>What is the deadline to submit medical certificates for it?</a:t>
            </a:r>
            <a:endParaRPr lang="en-US" sz="731" dirty="0"/>
          </a:p>
        </p:txBody>
      </p:sp>
      <p:pic>
        <p:nvPicPr>
          <p:cNvPr id="39" name="Image 5" descr="preencoded.png">    </p:cNvPr>
          <p:cNvPicPr>
            <a:picLocks noChangeAspect="1"/>
          </p:cNvPicPr>
          <p:nvPr/>
        </p:nvPicPr>
        <p:blipFill>
          <a:blip r:embed="rId6"/>
          <a:stretch>
            <a:fillRect/>
          </a:stretch>
        </p:blipFill>
        <p:spPr>
          <a:xfrm>
            <a:off x="3336131" y="1692287"/>
            <a:ext cx="2471738" cy="7144"/>
          </a:xfrm>
          <a:prstGeom prst="rect">
            <a:avLst/>
          </a:prstGeom>
        </p:spPr>
      </p:pic>
      <p:sp>
        <p:nvSpPr>
          <p:cNvPr id="40" name="Text 32"/>
          <p:cNvSpPr/>
          <p:nvPr/>
        </p:nvSpPr>
        <p:spPr>
          <a:xfrm>
            <a:off x="3336131" y="1770869"/>
            <a:ext cx="2471738" cy="104727"/>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GROUND-TRUTH ANSWER</a:t>
            </a:r>
            <a:endParaRPr lang="en-US" sz="800" dirty="0"/>
          </a:p>
        </p:txBody>
      </p:sp>
      <p:sp>
        <p:nvSpPr>
          <p:cNvPr id="41" name="Text 33"/>
          <p:cNvSpPr/>
          <p:nvPr/>
        </p:nvSpPr>
        <p:spPr>
          <a:xfrm>
            <a:off x="3336131" y="1903028"/>
            <a:ext cx="2471738" cy="329184"/>
          </a:xfrm>
          <a:prstGeom prst="rect">
            <a:avLst/>
          </a:prstGeom>
          <a:noFill/>
          <a:ln/>
        </p:spPr>
        <p:txBody>
          <a:bodyPr wrap="square" lIns="0" tIns="0" rIns="0" bIns="0" rtlCol="0" anchor="t"/>
          <a:lstStyle/>
          <a:p>
            <a:pPr algn="l" indent="0" marL="0">
              <a:lnSpc>
                <a:spcPts val="1097"/>
              </a:lnSpc>
              <a:buNone/>
            </a:pPr>
            <a:r>
              <a:rPr lang="en-US" sz="800" dirty="0">
                <a:solidFill>
                  <a:srgbClr val="0F172A"/>
                </a:solidFill>
                <a:latin typeface="Carlito" pitchFamily="34" charset="0"/>
                <a:ea typeface="Carlito" pitchFamily="34" charset="-122"/>
                <a:cs typeface="Carlito" pitchFamily="34" charset="-120"/>
              </a:rPr>
              <a:t>Must be submitted within 3 working days of resumption of classes to respective HOD.</a:t>
            </a:r>
            <a:endParaRPr lang="en-US" sz="800" dirty="0"/>
          </a:p>
        </p:txBody>
      </p:sp>
      <p:sp>
        <p:nvSpPr>
          <p:cNvPr id="42" name="Text 34"/>
          <p:cNvSpPr/>
          <p:nvPr/>
        </p:nvSpPr>
        <p:spPr>
          <a:xfrm>
            <a:off x="3336131" y="2267359"/>
            <a:ext cx="2471738" cy="634454"/>
          </a:xfrm>
          <a:prstGeom prst="roundRect">
            <a:avLst>
              <a:gd name="adj" fmla="val 12010"/>
            </a:avLst>
          </a:prstGeom>
          <a:solidFill>
            <a:srgbClr val="F5EFE3"/>
          </a:solidFill>
          <a:ln/>
        </p:spPr>
        <p:txBody>
          <a:bodyPr wrap="square" rtlCol="0" anchor="ctr"/>
          <a:lstStyle/>
          <a:p>
            <a:pPr indent="0" marL="0">
              <a:buNone/>
            </a:pPr>
            <a:endParaRPr lang="en-US" dirty="0"/>
          </a:p>
        </p:txBody>
      </p:sp>
      <p:sp>
        <p:nvSpPr>
          <p:cNvPr id="43" name="Shape 35"/>
          <p:cNvSpPr/>
          <p:nvPr/>
        </p:nvSpPr>
        <p:spPr>
          <a:xfrm>
            <a:off x="3336131" y="2270931"/>
            <a:ext cx="2471738" cy="0"/>
          </a:xfrm>
          <a:prstGeom prst="line">
            <a:avLst/>
          </a:prstGeom>
          <a:noFill/>
          <a:ln w="7144">
            <a:solidFill>
              <a:srgbClr val="0E7490"/>
            </a:solidFill>
            <a:prstDash val="solid"/>
          </a:ln>
        </p:spPr>
      </p:sp>
      <p:sp>
        <p:nvSpPr>
          <p:cNvPr id="44" name="Shape 36"/>
          <p:cNvSpPr/>
          <p:nvPr/>
        </p:nvSpPr>
        <p:spPr>
          <a:xfrm>
            <a:off x="5804297" y="2267359"/>
            <a:ext cx="0" cy="634454"/>
          </a:xfrm>
          <a:prstGeom prst="line">
            <a:avLst/>
          </a:prstGeom>
          <a:noFill/>
          <a:ln w="7144">
            <a:solidFill>
              <a:srgbClr val="0E7490"/>
            </a:solidFill>
            <a:prstDash val="solid"/>
          </a:ln>
        </p:spPr>
      </p:sp>
      <p:sp>
        <p:nvSpPr>
          <p:cNvPr id="45" name="Shape 37"/>
          <p:cNvSpPr/>
          <p:nvPr/>
        </p:nvSpPr>
        <p:spPr>
          <a:xfrm>
            <a:off x="3336131" y="2898242"/>
            <a:ext cx="2471738" cy="0"/>
          </a:xfrm>
          <a:prstGeom prst="line">
            <a:avLst/>
          </a:prstGeom>
          <a:noFill/>
          <a:ln w="7144">
            <a:solidFill>
              <a:srgbClr val="0E7490"/>
            </a:solidFill>
            <a:prstDash val="solid"/>
          </a:ln>
        </p:spPr>
      </p:sp>
      <p:sp>
        <p:nvSpPr>
          <p:cNvPr id="46" name="Shape 38"/>
          <p:cNvSpPr/>
          <p:nvPr/>
        </p:nvSpPr>
        <p:spPr>
          <a:xfrm>
            <a:off x="3346847" y="2267359"/>
            <a:ext cx="0" cy="634454"/>
          </a:xfrm>
          <a:prstGeom prst="line">
            <a:avLst/>
          </a:prstGeom>
          <a:noFill/>
          <a:ln w="21431">
            <a:solidFill>
              <a:srgbClr val="06B6D4"/>
            </a:solidFill>
            <a:prstDash val="solid"/>
          </a:ln>
        </p:spPr>
      </p:sp>
      <p:sp>
        <p:nvSpPr>
          <p:cNvPr id="47" name="Text 39"/>
          <p:cNvSpPr/>
          <p:nvPr/>
        </p:nvSpPr>
        <p:spPr>
          <a:xfrm>
            <a:off x="3443288" y="2345941"/>
            <a:ext cx="2271712" cy="106290"/>
          </a:xfrm>
          <a:prstGeom prst="rect">
            <a:avLst/>
          </a:prstGeom>
          <a:noFill/>
          <a:ln/>
        </p:spPr>
        <p:txBody>
          <a:bodyPr wrap="none" lIns="0" tIns="0" rIns="0" bIns="0" rtlCol="0" anchor="t">
            <a:normAutofit/>
          </a:bodyPr>
          <a:lstStyle/>
          <a:p>
            <a:pPr algn="l" indent="0" marL="0">
              <a:lnSpc>
                <a:spcPts val="828"/>
              </a:lnSpc>
              <a:buNone/>
            </a:pPr>
            <a:r>
              <a:rPr lang="en-US" sz="800" spc="86" kern="0" dirty="0">
                <a:solidFill>
                  <a:srgbClr val="0E7490"/>
                </a:solidFill>
                <a:latin typeface="Courier New" pitchFamily="34" charset="0"/>
                <a:ea typeface="Courier New" pitchFamily="34" charset="-122"/>
                <a:cs typeface="Courier New" pitchFamily="34" charset="-120"/>
              </a:rPr>
              <a:t>SOURCE CITED</a:t>
            </a:r>
            <a:endParaRPr lang="en-US" sz="800" dirty="0"/>
          </a:p>
        </p:txBody>
      </p:sp>
      <p:sp>
        <p:nvSpPr>
          <p:cNvPr id="48" name="Text 40"/>
          <p:cNvSpPr/>
          <p:nvPr/>
        </p:nvSpPr>
        <p:spPr>
          <a:xfrm>
            <a:off x="3443288" y="2479663"/>
            <a:ext cx="2271713" cy="148260"/>
          </a:xfrm>
          <a:prstGeom prst="rect">
            <a:avLst/>
          </a:prstGeom>
          <a:noFill/>
          <a:ln/>
        </p:spPr>
        <p:txBody>
          <a:bodyPr wrap="square" lIns="0" tIns="0" rIns="0" bIns="0" rtlCol="0" anchor="t">
            <a:normAutofit/>
          </a:bodyPr>
          <a:lstStyle/>
          <a:p>
            <a:pPr algn="l" indent="0" marL="0">
              <a:lnSpc>
                <a:spcPts val="1046"/>
              </a:lnSpc>
              <a:buNone/>
            </a:pPr>
            <a:r>
              <a:rPr lang="en-US" sz="675" dirty="0">
                <a:solidFill>
                  <a:srgbClr val="0E7490"/>
                </a:solidFill>
                <a:latin typeface="Courier New" pitchFamily="34" charset="0"/>
                <a:ea typeface="Courier New" pitchFamily="34" charset="-122"/>
                <a:cs typeface="Courier New" pitchFamily="34" charset="-120"/>
              </a:rPr>
              <a:t>KGP_Order_Attendance_and_Leave_Rules_2026.pdf</a:t>
            </a:r>
            <a:endParaRPr lang="en-US" sz="675" dirty="0"/>
          </a:p>
        </p:txBody>
      </p:sp>
      <p:sp>
        <p:nvSpPr>
          <p:cNvPr id="49" name="Text 41"/>
          <p:cNvSpPr/>
          <p:nvPr/>
        </p:nvSpPr>
        <p:spPr>
          <a:xfrm>
            <a:off x="3427513" y="2645282"/>
            <a:ext cx="425906" cy="188024"/>
          </a:xfrm>
          <a:prstGeom prst="roundRect">
            <a:avLst>
              <a:gd name="adj" fmla="val 20263"/>
            </a:avLst>
          </a:prstGeom>
          <a:solidFill>
            <a:srgbClr val="06B6D4">
              <a:alpha val="10000"/>
            </a:srgbClr>
          </a:solidFill>
          <a:ln w="7144">
            <a:solidFill>
              <a:srgbClr val="06B6D4"/>
            </a:solidFill>
            <a:prstDash val="solid"/>
          </a:ln>
        </p:spPr>
        <p:txBody>
          <a:bodyPr wrap="square" rtlCol="0" anchor="ctr"/>
          <a:lstStyle/>
          <a:p>
            <a:pPr indent="0" marL="0">
              <a:buNone/>
            </a:pPr>
            <a:endParaRPr lang="en-US" dirty="0"/>
          </a:p>
        </p:txBody>
      </p:sp>
      <p:sp>
        <p:nvSpPr>
          <p:cNvPr id="50" name="Text 42"/>
          <p:cNvSpPr/>
          <p:nvPr/>
        </p:nvSpPr>
        <p:spPr>
          <a:xfrm>
            <a:off x="3420075" y="2655354"/>
            <a:ext cx="440781" cy="167878"/>
          </a:xfrm>
          <a:prstGeom prst="rect">
            <a:avLst/>
          </a:prstGeom>
          <a:noFill/>
          <a:ln/>
        </p:spPr>
        <p:txBody>
          <a:bodyPr wrap="none" lIns="0" tIns="0" rIns="0" bIns="0" rtlCol="0" anchor="ctr"/>
          <a:lstStyle/>
          <a:p>
            <a:pPr algn="ctr" indent="0" marL="0">
              <a:lnSpc>
                <a:spcPts val="872"/>
              </a:lnSpc>
              <a:buNone/>
            </a:pPr>
            <a:r>
              <a:rPr lang="en-US" sz="800" spc="68" kern="0" dirty="0">
                <a:solidFill>
                  <a:srgbClr val="0E7490"/>
                </a:solidFill>
                <a:latin typeface="Liberation Sans Narrow" pitchFamily="34" charset="0"/>
                <a:ea typeface="Liberation Sans Narrow" pitchFamily="34" charset="-122"/>
                <a:cs typeface="Liberation Sans Narrow" pitchFamily="34" charset="-120"/>
              </a:rPr>
              <a:t>PAGE 1</a:t>
            </a:r>
            <a:endParaRPr lang="en-US" sz="800" dirty="0"/>
          </a:p>
        </p:txBody>
      </p:sp>
      <p:sp>
        <p:nvSpPr>
          <p:cNvPr id="51" name="Text 43"/>
          <p:cNvSpPr/>
          <p:nvPr/>
        </p:nvSpPr>
        <p:spPr>
          <a:xfrm>
            <a:off x="3339703" y="3937099"/>
            <a:ext cx="1406091" cy="194779"/>
          </a:xfrm>
          <a:prstGeom prst="roundRect">
            <a:avLst>
              <a:gd name="adj" fmla="val 4885267"/>
            </a:avLst>
          </a:prstGeom>
          <a:solidFill>
            <a:srgbClr val="10B981">
              <a:alpha val="16000"/>
            </a:srgbClr>
          </a:solidFill>
          <a:ln w="7144">
            <a:solidFill>
              <a:srgbClr val="10B981"/>
            </a:solidFill>
            <a:prstDash val="solid"/>
          </a:ln>
        </p:spPr>
        <p:txBody>
          <a:bodyPr wrap="square" rtlCol="0" anchor="ctr"/>
          <a:lstStyle/>
          <a:p>
            <a:pPr indent="0" marL="0">
              <a:buNone/>
            </a:pPr>
            <a:endParaRPr lang="en-US" dirty="0"/>
          </a:p>
        </p:txBody>
      </p:sp>
      <p:sp>
        <p:nvSpPr>
          <p:cNvPr id="52" name="Text 44"/>
          <p:cNvSpPr/>
          <p:nvPr/>
        </p:nvSpPr>
        <p:spPr>
          <a:xfrm>
            <a:off x="3571875" y="3983534"/>
            <a:ext cx="1084622" cy="135854"/>
          </a:xfrm>
          <a:prstGeom prst="rect">
            <a:avLst/>
          </a:prstGeom>
          <a:noFill/>
          <a:ln/>
        </p:spPr>
        <p:txBody>
          <a:bodyPr wrap="none" lIns="0" tIns="0" rIns="0" bIns="0" rtlCol="0" anchor="t"/>
          <a:lstStyle/>
          <a:p>
            <a:pPr algn="l" indent="0" marL="0">
              <a:lnSpc>
                <a:spcPts val="915"/>
              </a:lnSpc>
              <a:buNone/>
            </a:pPr>
            <a:r>
              <a:rPr lang="en-US" sz="600" spc="83" kern="0" dirty="0">
                <a:solidFill>
                  <a:srgbClr val="10B981"/>
                </a:solidFill>
                <a:latin typeface="Courier New" pitchFamily="34" charset="0"/>
                <a:ea typeface="Courier New" pitchFamily="34" charset="-122"/>
                <a:cs typeface="Courier New" pitchFamily="34" charset="-120"/>
              </a:rPr>
              <a:t>PASS · CONTEXT RESOLVED</a:t>
            </a:r>
            <a:endParaRPr lang="en-US" sz="600" dirty="0"/>
          </a:p>
        </p:txBody>
      </p:sp>
      <p:sp>
        <p:nvSpPr>
          <p:cNvPr id="53" name="Text 45"/>
          <p:cNvSpPr/>
          <p:nvPr/>
        </p:nvSpPr>
        <p:spPr>
          <a:xfrm>
            <a:off x="3429000" y="3984427"/>
            <a:ext cx="100013" cy="100013"/>
          </a:xfrm>
          <a:prstGeom prst="rect">
            <a:avLst/>
          </a:prstGeom>
          <a:noFill/>
          <a:ln/>
        </p:spPr>
        <p:txBody>
          <a:bodyPr wrap="none" lIns="0" tIns="0" rIns="0" bIns="0" rtlCol="0" anchor="ctr"/>
          <a:lstStyle/>
          <a:p>
            <a:pPr algn="ctr" indent="0" marL="0">
              <a:buNone/>
            </a:pPr>
            <a:r>
              <a:rPr lang="en-US" sz="984" dirty="0">
                <a:solidFill>
                  <a:srgbClr val="10B981"/>
                </a:solidFill>
                <a:latin typeface="Segoe UI Symbol" pitchFamily="34" charset="0"/>
                <a:ea typeface="Segoe UI Symbol" pitchFamily="34" charset="-122"/>
                <a:cs typeface="Segoe UI Symbol" pitchFamily="34" charset="-120"/>
              </a:rPr>
              <a:t>✓</a:t>
            </a:r>
            <a:endParaRPr lang="en-US" sz="984" dirty="0"/>
          </a:p>
        </p:txBody>
      </p:sp>
      <p:pic>
        <p:nvPicPr>
          <p:cNvPr id="54" name="Image 6" descr="preencoded.png">    </p:cNvPr>
          <p:cNvPicPr>
            <a:picLocks noChangeAspect="1"/>
          </p:cNvPicPr>
          <p:nvPr/>
        </p:nvPicPr>
        <p:blipFill>
          <a:blip r:embed="rId7"/>
          <a:stretch>
            <a:fillRect/>
          </a:stretch>
        </p:blipFill>
        <p:spPr>
          <a:xfrm>
            <a:off x="6029325" y="885044"/>
            <a:ext cx="2714625" cy="3357563"/>
          </a:xfrm>
          <a:prstGeom prst="rect">
            <a:avLst/>
          </a:prstGeom>
        </p:spPr>
      </p:pic>
      <p:sp>
        <p:nvSpPr>
          <p:cNvPr id="55" name="Text 46"/>
          <p:cNvSpPr/>
          <p:nvPr/>
        </p:nvSpPr>
        <p:spPr>
          <a:xfrm>
            <a:off x="6032897" y="888616"/>
            <a:ext cx="2707481" cy="3350419"/>
          </a:xfrm>
          <a:prstGeom prst="roundRect">
            <a:avLst>
              <a:gd name="adj" fmla="val 4925"/>
            </a:avLst>
          </a:prstGeom>
          <a:noFill/>
          <a:ln w="7144">
            <a:solidFill>
              <a:srgbClr val="0E7490"/>
            </a:solidFill>
            <a:prstDash val="solid"/>
          </a:ln>
          <a:effectLst>
            <a:outerShdw sx="100000" sy="100000" kx="0" ky="0" algn="bl" rotWithShape="0" blurRad="228600" dist="38100" dir="5400000">
              <a:srgbClr val="06B6D4">
                <a:alpha val="6000"/>
              </a:srgbClr>
            </a:outerShdw>
          </a:effectLst>
        </p:spPr>
        <p:txBody>
          <a:bodyPr wrap="square" rtlCol="0" anchor="ctr"/>
          <a:lstStyle/>
          <a:p>
            <a:pPr indent="0" marL="0">
              <a:buNone/>
            </a:pPr>
            <a:endParaRPr lang="en-US" dirty="0"/>
          </a:p>
        </p:txBody>
      </p:sp>
      <p:sp>
        <p:nvSpPr>
          <p:cNvPr id="56" name="Text 47"/>
          <p:cNvSpPr/>
          <p:nvPr/>
        </p:nvSpPr>
        <p:spPr>
          <a:xfrm>
            <a:off x="6154341" y="995772"/>
            <a:ext cx="1404193" cy="169441"/>
          </a:xfrm>
          <a:prstGeom prst="roundRect">
            <a:avLst>
              <a:gd name="adj" fmla="val 5615804"/>
            </a:avLst>
          </a:prstGeom>
          <a:solidFill>
            <a:srgbClr val="F87171">
              <a:alpha val="14000"/>
            </a:srgbClr>
          </a:solidFill>
          <a:ln w="7144">
            <a:solidFill>
              <a:srgbClr val="F87171"/>
            </a:solidFill>
            <a:prstDash val="solid"/>
          </a:ln>
        </p:spPr>
        <p:txBody>
          <a:bodyPr wrap="square" rtlCol="0" anchor="ctr"/>
          <a:lstStyle/>
          <a:p>
            <a:pPr indent="0" marL="0">
              <a:buNone/>
            </a:pPr>
            <a:endParaRPr lang="en-US" dirty="0"/>
          </a:p>
        </p:txBody>
      </p:sp>
      <p:sp>
        <p:nvSpPr>
          <p:cNvPr id="57" name="Text 48"/>
          <p:cNvSpPr/>
          <p:nvPr/>
        </p:nvSpPr>
        <p:spPr>
          <a:xfrm>
            <a:off x="6150769" y="992200"/>
            <a:ext cx="2171700" cy="285509"/>
          </a:xfrm>
          <a:prstGeom prst="rect">
            <a:avLst/>
          </a:prstGeom>
          <a:noFill/>
          <a:ln/>
        </p:spPr>
        <p:txBody>
          <a:bodyPr wrap="none" lIns="71438" tIns="28575" rIns="71438" bIns="28575" rtlCol="0" anchor="t"/>
          <a:lstStyle/>
          <a:p>
            <a:pPr algn="l" indent="0" marL="0">
              <a:lnSpc>
                <a:spcPts val="828"/>
              </a:lnSpc>
              <a:buNone/>
            </a:pPr>
            <a:r>
              <a:rPr lang="en-US" sz="800" spc="86" kern="0" dirty="0">
                <a:solidFill>
                  <a:srgbClr val="F87171"/>
                </a:solidFill>
                <a:latin typeface="Liberation Sans Narrow" pitchFamily="34" charset="0"/>
                <a:ea typeface="Liberation Sans Narrow" pitchFamily="34" charset="-122"/>
                <a:cs typeface="Liberation Sans Narrow" pitchFamily="34" charset="-120"/>
              </a:rPr>
              <a:t>TEST 03 — ANTI-HALLUCINATION</a:t>
            </a:r>
            <a:endParaRPr lang="en-US" sz="800" dirty="0"/>
          </a:p>
        </p:txBody>
      </p:sp>
      <p:sp>
        <p:nvSpPr>
          <p:cNvPr id="58" name="Text 49"/>
          <p:cNvSpPr/>
          <p:nvPr/>
        </p:nvSpPr>
        <p:spPr>
          <a:xfrm>
            <a:off x="8340328" y="995772"/>
            <a:ext cx="278606" cy="278606"/>
          </a:xfrm>
          <a:prstGeom prst="roundRect">
            <a:avLst>
              <a:gd name="adj" fmla="val 34188"/>
            </a:avLst>
          </a:prstGeom>
          <a:solidFill>
            <a:srgbClr val="F87171">
              <a:alpha val="14000"/>
            </a:srgbClr>
          </a:solidFill>
          <a:ln w="7144">
            <a:solidFill>
              <a:srgbClr val="F87171"/>
            </a:solidFill>
            <a:prstDash val="solid"/>
          </a:ln>
        </p:spPr>
        <p:txBody>
          <a:bodyPr wrap="square" rtlCol="0" anchor="ctr"/>
          <a:lstStyle/>
          <a:p>
            <a:pPr indent="0" marL="0">
              <a:buNone/>
            </a:pPr>
            <a:endParaRPr lang="en-US" dirty="0"/>
          </a:p>
        </p:txBody>
      </p:sp>
      <p:sp>
        <p:nvSpPr>
          <p:cNvPr id="59" name="Text 50"/>
          <p:cNvSpPr/>
          <p:nvPr/>
        </p:nvSpPr>
        <p:spPr>
          <a:xfrm>
            <a:off x="8365688" y="1021132"/>
            <a:ext cx="227886" cy="227886"/>
          </a:xfrm>
          <a:prstGeom prst="rect">
            <a:avLst/>
          </a:prstGeom>
          <a:noFill/>
          <a:ln/>
        </p:spPr>
        <p:txBody>
          <a:bodyPr wrap="none" lIns="0" tIns="0" rIns="0" bIns="0" rtlCol="0" anchor="ctr"/>
          <a:lstStyle/>
          <a:p>
            <a:pPr algn="ctr" indent="0" marL="0">
              <a:buNone/>
            </a:pPr>
            <a:r>
              <a:rPr lang="en-US" sz="1547" dirty="0">
                <a:solidFill>
                  <a:srgbClr val="F87171"/>
                </a:solidFill>
                <a:latin typeface="Segoe UI Symbol" pitchFamily="34" charset="0"/>
                <a:ea typeface="Segoe UI Symbol" pitchFamily="34" charset="-122"/>
                <a:cs typeface="Segoe UI Symbol" pitchFamily="34" charset="-120"/>
              </a:rPr>
              <a:t>⊘</a:t>
            </a:r>
            <a:endParaRPr lang="en-US" sz="1547" dirty="0"/>
          </a:p>
        </p:txBody>
      </p:sp>
      <p:sp>
        <p:nvSpPr>
          <p:cNvPr id="60" name="Text 51"/>
          <p:cNvSpPr/>
          <p:nvPr/>
        </p:nvSpPr>
        <p:spPr>
          <a:xfrm>
            <a:off x="6150769" y="1335100"/>
            <a:ext cx="2471738" cy="104727"/>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OUT-OF-SCOPE QUERY</a:t>
            </a:r>
            <a:endParaRPr lang="en-US" sz="800" dirty="0"/>
          </a:p>
        </p:txBody>
      </p:sp>
      <p:sp>
        <p:nvSpPr>
          <p:cNvPr id="61" name="Text 52"/>
          <p:cNvSpPr/>
          <p:nvPr/>
        </p:nvSpPr>
        <p:spPr>
          <a:xfrm>
            <a:off x="6150769" y="1467259"/>
            <a:ext cx="2471738" cy="164592"/>
          </a:xfrm>
          <a:prstGeom prst="rect">
            <a:avLst/>
          </a:prstGeom>
          <a:noFill/>
          <a:ln/>
        </p:spPr>
        <p:txBody>
          <a:bodyPr wrap="square" lIns="0" tIns="0" rIns="0" bIns="0" rtlCol="0" anchor="t"/>
          <a:lstStyle/>
          <a:p>
            <a:pPr algn="l" indent="0" marL="0">
              <a:lnSpc>
                <a:spcPts val="1097"/>
              </a:lnSpc>
              <a:buNone/>
            </a:pPr>
            <a:r>
              <a:rPr lang="en-US" sz="731" i="1" dirty="0">
                <a:solidFill>
                  <a:srgbClr val="475569"/>
                </a:solidFill>
                <a:latin typeface="Carlito" pitchFamily="34" charset="0"/>
                <a:ea typeface="Carlito" pitchFamily="34" charset="-122"/>
                <a:cs typeface="Carlito" pitchFamily="34" charset="-120"/>
              </a:rPr>
              <a:t>What is the mess fee refund policy for PhD hostel students?</a:t>
            </a:r>
            <a:endParaRPr lang="en-US" sz="731" dirty="0"/>
          </a:p>
        </p:txBody>
      </p:sp>
      <p:pic>
        <p:nvPicPr>
          <p:cNvPr id="62" name="Image 7" descr="preencoded.png">    </p:cNvPr>
          <p:cNvPicPr>
            <a:picLocks noChangeAspect="1"/>
          </p:cNvPicPr>
          <p:nvPr/>
        </p:nvPicPr>
        <p:blipFill>
          <a:blip r:embed="rId8"/>
          <a:stretch>
            <a:fillRect/>
          </a:stretch>
        </p:blipFill>
        <p:spPr>
          <a:xfrm>
            <a:off x="6150769" y="1692287"/>
            <a:ext cx="2471738" cy="7144"/>
          </a:xfrm>
          <a:prstGeom prst="rect">
            <a:avLst/>
          </a:prstGeom>
        </p:spPr>
      </p:pic>
      <p:sp>
        <p:nvSpPr>
          <p:cNvPr id="63" name="Text 53"/>
          <p:cNvSpPr/>
          <p:nvPr/>
        </p:nvSpPr>
        <p:spPr>
          <a:xfrm>
            <a:off x="6150769" y="1770869"/>
            <a:ext cx="2471738" cy="104727"/>
          </a:xfrm>
          <a:prstGeom prst="rect">
            <a:avLst/>
          </a:prstGeom>
          <a:noFill/>
          <a:ln/>
        </p:spPr>
        <p:txBody>
          <a:bodyPr wrap="non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SYSTEM RESPONSE</a:t>
            </a:r>
            <a:endParaRPr lang="en-US" sz="800" dirty="0"/>
          </a:p>
        </p:txBody>
      </p:sp>
      <p:sp>
        <p:nvSpPr>
          <p:cNvPr id="64" name="Text 54"/>
          <p:cNvSpPr/>
          <p:nvPr/>
        </p:nvSpPr>
        <p:spPr>
          <a:xfrm>
            <a:off x="6150769" y="1903028"/>
            <a:ext cx="2471738" cy="329184"/>
          </a:xfrm>
          <a:prstGeom prst="rect">
            <a:avLst/>
          </a:prstGeom>
          <a:noFill/>
          <a:ln/>
        </p:spPr>
        <p:txBody>
          <a:bodyPr wrap="square" lIns="0" tIns="0" rIns="0" bIns="0" rtlCol="0" anchor="t"/>
          <a:lstStyle/>
          <a:p>
            <a:pPr algn="l" indent="0" marL="0">
              <a:lnSpc>
                <a:spcPts val="1097"/>
              </a:lnSpc>
              <a:buNone/>
            </a:pPr>
            <a:r>
              <a:rPr lang="en-US" sz="800" i="1" dirty="0">
                <a:solidFill>
                  <a:srgbClr val="475569"/>
                </a:solidFill>
                <a:latin typeface="Carlito" pitchFamily="34" charset="0"/>
                <a:ea typeface="Carlito" pitchFamily="34" charset="-122"/>
                <a:cs typeface="Carlito" pitchFamily="34" charset="-120"/>
              </a:rPr>
              <a:t>I could not find this information in the available official documents.</a:t>
            </a:r>
            <a:endParaRPr lang="en-US" sz="800" dirty="0"/>
          </a:p>
        </p:txBody>
      </p:sp>
      <p:sp>
        <p:nvSpPr>
          <p:cNvPr id="65" name="Text 55"/>
          <p:cNvSpPr/>
          <p:nvPr/>
        </p:nvSpPr>
        <p:spPr>
          <a:xfrm>
            <a:off x="6150769" y="2267359"/>
            <a:ext cx="2471738" cy="423714"/>
          </a:xfrm>
          <a:prstGeom prst="roundRect">
            <a:avLst>
              <a:gd name="adj" fmla="val 17984"/>
            </a:avLst>
          </a:prstGeom>
          <a:solidFill>
            <a:srgbClr val="0F1B33">
              <a:alpha val="60000"/>
            </a:srgbClr>
          </a:solidFill>
          <a:ln/>
        </p:spPr>
        <p:txBody>
          <a:bodyPr wrap="square" rtlCol="0" anchor="ctr"/>
          <a:lstStyle/>
          <a:p>
            <a:pPr indent="0" marL="0">
              <a:buNone/>
            </a:pPr>
            <a:endParaRPr lang="en-US" dirty="0"/>
          </a:p>
        </p:txBody>
      </p:sp>
      <p:sp>
        <p:nvSpPr>
          <p:cNvPr id="66" name="Shape 56"/>
          <p:cNvSpPr/>
          <p:nvPr/>
        </p:nvSpPr>
        <p:spPr>
          <a:xfrm>
            <a:off x="6150769" y="2270931"/>
            <a:ext cx="2471738" cy="0"/>
          </a:xfrm>
          <a:prstGeom prst="line">
            <a:avLst/>
          </a:prstGeom>
          <a:noFill/>
          <a:ln w="7144">
            <a:solidFill>
              <a:srgbClr val="94A3B8"/>
            </a:solidFill>
            <a:prstDash val="dash"/>
          </a:ln>
        </p:spPr>
      </p:sp>
      <p:sp>
        <p:nvSpPr>
          <p:cNvPr id="67" name="Shape 57"/>
          <p:cNvSpPr/>
          <p:nvPr/>
        </p:nvSpPr>
        <p:spPr>
          <a:xfrm>
            <a:off x="8618934" y="2267359"/>
            <a:ext cx="0" cy="423714"/>
          </a:xfrm>
          <a:prstGeom prst="line">
            <a:avLst/>
          </a:prstGeom>
          <a:noFill/>
          <a:ln w="7144">
            <a:solidFill>
              <a:srgbClr val="94A3B8"/>
            </a:solidFill>
            <a:prstDash val="dash"/>
          </a:ln>
        </p:spPr>
      </p:sp>
      <p:sp>
        <p:nvSpPr>
          <p:cNvPr id="68" name="Shape 58"/>
          <p:cNvSpPr/>
          <p:nvPr/>
        </p:nvSpPr>
        <p:spPr>
          <a:xfrm>
            <a:off x="6150769" y="2687501"/>
            <a:ext cx="2471738" cy="0"/>
          </a:xfrm>
          <a:prstGeom prst="line">
            <a:avLst/>
          </a:prstGeom>
          <a:noFill/>
          <a:ln w="7144">
            <a:solidFill>
              <a:srgbClr val="94A3B8"/>
            </a:solidFill>
            <a:prstDash val="dash"/>
          </a:ln>
        </p:spPr>
      </p:sp>
      <p:sp>
        <p:nvSpPr>
          <p:cNvPr id="69" name="Shape 59"/>
          <p:cNvSpPr/>
          <p:nvPr/>
        </p:nvSpPr>
        <p:spPr>
          <a:xfrm>
            <a:off x="6161484" y="2267359"/>
            <a:ext cx="0" cy="423714"/>
          </a:xfrm>
          <a:prstGeom prst="line">
            <a:avLst/>
          </a:prstGeom>
          <a:noFill/>
          <a:ln w="21431">
            <a:solidFill>
              <a:srgbClr val="94A3B8"/>
            </a:solidFill>
            <a:prstDash val="dash"/>
          </a:ln>
        </p:spPr>
      </p:sp>
      <p:sp>
        <p:nvSpPr>
          <p:cNvPr id="70" name="Text 60"/>
          <p:cNvSpPr/>
          <p:nvPr/>
        </p:nvSpPr>
        <p:spPr>
          <a:xfrm>
            <a:off x="6257925" y="2345941"/>
            <a:ext cx="2271712" cy="106290"/>
          </a:xfrm>
          <a:prstGeom prst="rect">
            <a:avLst/>
          </a:prstGeom>
          <a:noFill/>
          <a:ln/>
        </p:spPr>
        <p:txBody>
          <a:bodyPr wrap="none" lIns="0" tIns="0" rIns="0" bIns="0" rtlCol="0" anchor="t">
            <a:normAutofit/>
          </a:bodyPr>
          <a:lstStyle/>
          <a:p>
            <a:pPr algn="l" indent="0" marL="0">
              <a:lnSpc>
                <a:spcPts val="828"/>
              </a:lnSpc>
              <a:buNone/>
            </a:pPr>
            <a:r>
              <a:rPr lang="en-US" sz="800" spc="86" kern="0" dirty="0">
                <a:solidFill>
                  <a:srgbClr val="64748B"/>
                </a:solidFill>
                <a:latin typeface="Courier New" pitchFamily="34" charset="0"/>
                <a:ea typeface="Courier New" pitchFamily="34" charset="-122"/>
                <a:cs typeface="Courier New" pitchFamily="34" charset="-120"/>
              </a:rPr>
              <a:t>NO CITATION — REJECTED</a:t>
            </a:r>
            <a:endParaRPr lang="en-US" sz="800" dirty="0"/>
          </a:p>
        </p:txBody>
      </p:sp>
      <p:sp>
        <p:nvSpPr>
          <p:cNvPr id="71" name="Text 61"/>
          <p:cNvSpPr/>
          <p:nvPr/>
        </p:nvSpPr>
        <p:spPr>
          <a:xfrm>
            <a:off x="6257925" y="2479663"/>
            <a:ext cx="2381440" cy="132829"/>
          </a:xfrm>
          <a:prstGeom prst="rect">
            <a:avLst/>
          </a:prstGeom>
          <a:noFill/>
          <a:ln/>
        </p:spPr>
        <p:txBody>
          <a:bodyPr wrap="square" lIns="0" tIns="0" rIns="0" bIns="0" rtlCol="0" anchor="t"/>
          <a:lstStyle/>
          <a:p>
            <a:pPr algn="l" indent="0" marL="0">
              <a:lnSpc>
                <a:spcPts val="1046"/>
              </a:lnSpc>
              <a:buNone/>
            </a:pPr>
            <a:r>
              <a:rPr lang="en-US" sz="800" dirty="0">
                <a:solidFill>
                  <a:srgbClr val="64748B"/>
                </a:solidFill>
                <a:latin typeface="Courier New" pitchFamily="34" charset="0"/>
                <a:ea typeface="Courier New" pitchFamily="34" charset="-122"/>
                <a:cs typeface="Courier New" pitchFamily="34" charset="-120"/>
              </a:rPr>
              <a:t>No source passage matched the query.</a:t>
            </a:r>
            <a:endParaRPr lang="en-US" sz="800" dirty="0"/>
          </a:p>
        </p:txBody>
      </p:sp>
      <p:sp>
        <p:nvSpPr>
          <p:cNvPr id="72" name="Text 62"/>
          <p:cNvSpPr/>
          <p:nvPr/>
        </p:nvSpPr>
        <p:spPr>
          <a:xfrm>
            <a:off x="6154341" y="3937099"/>
            <a:ext cx="1742182" cy="194779"/>
          </a:xfrm>
          <a:prstGeom prst="roundRect">
            <a:avLst>
              <a:gd name="adj" fmla="val 4885267"/>
            </a:avLst>
          </a:prstGeom>
          <a:solidFill>
            <a:srgbClr val="10B981">
              <a:alpha val="16000"/>
            </a:srgbClr>
          </a:solidFill>
          <a:ln w="7144">
            <a:solidFill>
              <a:srgbClr val="10B981"/>
            </a:solidFill>
            <a:prstDash val="solid"/>
          </a:ln>
        </p:spPr>
        <p:txBody>
          <a:bodyPr wrap="square" rtlCol="0" anchor="ctr"/>
          <a:lstStyle/>
          <a:p>
            <a:pPr indent="0" marL="0">
              <a:buNone/>
            </a:pPr>
            <a:endParaRPr lang="en-US" dirty="0"/>
          </a:p>
        </p:txBody>
      </p:sp>
      <p:sp>
        <p:nvSpPr>
          <p:cNvPr id="73" name="Text 63"/>
          <p:cNvSpPr/>
          <p:nvPr/>
        </p:nvSpPr>
        <p:spPr>
          <a:xfrm>
            <a:off x="6386513" y="3983534"/>
            <a:ext cx="1420713" cy="135854"/>
          </a:xfrm>
          <a:prstGeom prst="rect">
            <a:avLst/>
          </a:prstGeom>
          <a:noFill/>
          <a:ln/>
        </p:spPr>
        <p:txBody>
          <a:bodyPr wrap="none" lIns="85725" tIns="35719" rIns="85725" bIns="35719" rtlCol="0" anchor="t"/>
          <a:lstStyle/>
          <a:p>
            <a:pPr algn="l" indent="0" marL="0">
              <a:lnSpc>
                <a:spcPts val="915"/>
              </a:lnSpc>
              <a:buNone/>
            </a:pPr>
            <a:r>
              <a:rPr lang="en-US" sz="600" spc="83" kern="0" dirty="0">
                <a:solidFill>
                  <a:srgbClr val="10B981"/>
                </a:solidFill>
                <a:latin typeface="Courier New" pitchFamily="34" charset="0"/>
                <a:ea typeface="Courier New" pitchFamily="34" charset="-122"/>
                <a:cs typeface="Courier New" pitchFamily="34" charset="-120"/>
              </a:rPr>
              <a:t>PASS · HALLUCINATION PREVENTED</a:t>
            </a:r>
            <a:endParaRPr lang="en-US" sz="600" dirty="0"/>
          </a:p>
        </p:txBody>
      </p:sp>
      <p:sp>
        <p:nvSpPr>
          <p:cNvPr id="74" name="Text 64"/>
          <p:cNvSpPr/>
          <p:nvPr/>
        </p:nvSpPr>
        <p:spPr>
          <a:xfrm>
            <a:off x="6243638" y="3984427"/>
            <a:ext cx="100013" cy="100013"/>
          </a:xfrm>
          <a:prstGeom prst="rect">
            <a:avLst/>
          </a:prstGeom>
          <a:noFill/>
          <a:ln/>
        </p:spPr>
        <p:txBody>
          <a:bodyPr wrap="none" lIns="0" tIns="0" rIns="0" bIns="0" rtlCol="0" anchor="ctr"/>
          <a:lstStyle/>
          <a:p>
            <a:pPr algn="ctr" indent="0" marL="0">
              <a:buNone/>
            </a:pPr>
            <a:r>
              <a:rPr lang="en-US" sz="984" dirty="0">
                <a:solidFill>
                  <a:srgbClr val="10B981"/>
                </a:solidFill>
                <a:latin typeface="Segoe UI Symbol" pitchFamily="34" charset="0"/>
                <a:ea typeface="Segoe UI Symbol" pitchFamily="34" charset="-122"/>
                <a:cs typeface="Segoe UI Symbol" pitchFamily="34" charset="-120"/>
              </a:rPr>
              <a:t>✓</a:t>
            </a:r>
            <a:endParaRPr lang="en-US" sz="984" dirty="0"/>
          </a:p>
        </p:txBody>
      </p:sp>
      <p:sp>
        <p:nvSpPr>
          <p:cNvPr id="75" name="Text 65"/>
          <p:cNvSpPr/>
          <p:nvPr/>
        </p:nvSpPr>
        <p:spPr>
          <a:xfrm>
            <a:off x="3044019" y="4331903"/>
            <a:ext cx="3055851" cy="220117"/>
          </a:xfrm>
          <a:prstGeom prst="roundRect">
            <a:avLst>
              <a:gd name="adj" fmla="val 4322917"/>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76" name="Text 66"/>
          <p:cNvSpPr/>
          <p:nvPr/>
        </p:nvSpPr>
        <p:spPr>
          <a:xfrm>
            <a:off x="3319053" y="4385481"/>
            <a:ext cx="5424897" cy="133582"/>
          </a:xfrm>
          <a:prstGeom prst="rect">
            <a:avLst/>
          </a:prstGeom>
          <a:noFill/>
          <a:ln/>
        </p:spPr>
        <p:txBody>
          <a:bodyPr wrap="none" lIns="128588" tIns="42863" rIns="128588" bIns="42863" rtlCol="0" anchor="t"/>
          <a:lstStyle/>
          <a:p>
            <a:pPr algn="l" indent="0" marL="0">
              <a:lnSpc>
                <a:spcPts val="1003"/>
              </a:lnSpc>
              <a:buNone/>
            </a:pPr>
            <a:r>
              <a:rPr lang="en-US" sz="800" spc="78" kern="0" dirty="0">
                <a:solidFill>
                  <a:srgbClr val="15803D"/>
                </a:solidFill>
                <a:latin typeface="Courier New" pitchFamily="34" charset="0"/>
                <a:ea typeface="Courier New" pitchFamily="34" charset="-122"/>
                <a:cs typeface="Courier New" pitchFamily="34" charset="-120"/>
              </a:rPr>
              <a:t>26 / 26 UNIT &amp; INTEGRATION TESTS PASSING — PYTEST -V</a:t>
            </a:r>
            <a:endParaRPr lang="en-US" sz="800" dirty="0"/>
          </a:p>
        </p:txBody>
      </p:sp>
      <p:sp>
        <p:nvSpPr>
          <p:cNvPr id="77" name="Text 67"/>
          <p:cNvSpPr/>
          <p:nvPr/>
        </p:nvSpPr>
        <p:spPr>
          <a:xfrm>
            <a:off x="3176178" y="4391955"/>
            <a:ext cx="100013" cy="100013"/>
          </a:xfrm>
          <a:prstGeom prst="rect">
            <a:avLst/>
          </a:prstGeom>
          <a:noFill/>
          <a:ln/>
        </p:spPr>
        <p:txBody>
          <a:bodyPr wrap="none" lIns="0" tIns="0" rIns="0" bIns="0" rtlCol="0" anchor="ctr"/>
          <a:lstStyle/>
          <a:p>
            <a:pPr algn="ctr" indent="0" marL="0">
              <a:buNone/>
            </a:pPr>
            <a:r>
              <a:rPr lang="en-US" sz="984" dirty="0">
                <a:solidFill>
                  <a:srgbClr val="15803D"/>
                </a:solidFill>
                <a:latin typeface="Segoe UI Symbol" pitchFamily="34" charset="0"/>
                <a:ea typeface="Segoe UI Symbol" pitchFamily="34" charset="-122"/>
                <a:cs typeface="Segoe UI Symbol" pitchFamily="34" charset="-120"/>
              </a:rPr>
              <a:t>✓</a:t>
            </a:r>
            <a:endParaRPr lang="en-US" sz="984" dirty="0"/>
          </a:p>
        </p:txBody>
      </p:sp>
      <p:sp>
        <p:nvSpPr>
          <p:cNvPr id="78" name="Shape 68"/>
          <p:cNvSpPr/>
          <p:nvPr/>
        </p:nvSpPr>
        <p:spPr>
          <a:xfrm>
            <a:off x="400050" y="4829175"/>
            <a:ext cx="8343900" cy="0"/>
          </a:xfrm>
          <a:prstGeom prst="line">
            <a:avLst/>
          </a:prstGeom>
          <a:noFill/>
          <a:ln w="7144">
            <a:solidFill>
              <a:srgbClr val="0F172A"/>
            </a:solidFill>
            <a:prstDash val="solid"/>
          </a:ln>
        </p:spPr>
      </p:sp>
      <p:sp>
        <p:nvSpPr>
          <p:cNvPr id="79" name="Text 69"/>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80" name="Text 70"/>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12 / 18</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6930889"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345226" y="157163"/>
            <a:ext cx="1550524" cy="170078"/>
          </a:xfrm>
          <a:prstGeom prst="rect">
            <a:avLst/>
          </a:prstGeom>
          <a:noFill/>
          <a:ln/>
        </p:spPr>
        <p:txBody>
          <a:bodyPr wrap="squar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12 / 16 · METRICS &amp; PERFORMANCE</a:t>
            </a:r>
            <a:endParaRPr lang="en-US" sz="600" dirty="0"/>
          </a:p>
        </p:txBody>
      </p:sp>
      <p:sp>
        <p:nvSpPr>
          <p:cNvPr id="6" name="Text 2"/>
          <p:cNvSpPr/>
          <p:nvPr/>
        </p:nvSpPr>
        <p:spPr>
          <a:xfrm>
            <a:off x="400050" y="342900"/>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QUANTITATIVE METRICS &amp; PERFORMANCE BENCHMARK</a:t>
            </a:r>
            <a:endParaRPr lang="en-US" sz="800" dirty="0"/>
          </a:p>
        </p:txBody>
      </p:sp>
      <p:sp>
        <p:nvSpPr>
          <p:cNvPr id="7" name="Text 3"/>
          <p:cNvSpPr/>
          <p:nvPr/>
        </p:nvSpPr>
        <p:spPr>
          <a:xfrm>
            <a:off x="400050" y="510778"/>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Real Production Numbers from KGP Gyankosh</a:t>
            </a:r>
            <a:endParaRPr lang="en-US" sz="1238" dirty="0"/>
          </a:p>
        </p:txBody>
      </p:sp>
      <p:sp>
        <p:nvSpPr>
          <p:cNvPr id="8" name="Text 4"/>
          <p:cNvSpPr/>
          <p:nvPr/>
        </p:nvSpPr>
        <p:spPr>
          <a:xfrm>
            <a:off x="403622" y="817178"/>
            <a:ext cx="1993106" cy="1278731"/>
          </a:xfrm>
          <a:prstGeom prst="roundRect">
            <a:avLst>
              <a:gd name="adj" fmla="val 10428"/>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9" name="Text 5"/>
          <p:cNvSpPr/>
          <p:nvPr/>
        </p:nvSpPr>
        <p:spPr>
          <a:xfrm>
            <a:off x="567928" y="967197"/>
            <a:ext cx="264319" cy="264319"/>
          </a:xfrm>
          <a:prstGeom prst="roundRect">
            <a:avLst>
              <a:gd name="adj" fmla="val 3243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0" name="Text 6"/>
          <p:cNvSpPr/>
          <p:nvPr/>
        </p:nvSpPr>
        <p:spPr>
          <a:xfrm>
            <a:off x="596503" y="995772"/>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11" name="Text 7"/>
          <p:cNvSpPr/>
          <p:nvPr/>
        </p:nvSpPr>
        <p:spPr>
          <a:xfrm>
            <a:off x="2111285" y="963625"/>
            <a:ext cx="142484" cy="170047"/>
          </a:xfrm>
          <a:prstGeom prst="rect">
            <a:avLst/>
          </a:prstGeom>
          <a:noFill/>
          <a:ln/>
        </p:spPr>
        <p:txBody>
          <a:bodyPr wrap="none" lIns="0" tIns="0" rIns="0" bIns="0" rtlCol="0" anchor="t"/>
          <a:lstStyle/>
          <a:p>
            <a:pPr algn="l" indent="0" marL="0">
              <a:lnSpc>
                <a:spcPts val="959"/>
              </a:lnSpc>
              <a:buNone/>
            </a:pPr>
            <a:r>
              <a:rPr lang="en-US" sz="619" spc="111" kern="0" dirty="0">
                <a:solidFill>
                  <a:srgbClr val="64748B"/>
                </a:solidFill>
                <a:latin typeface="Liberation Sans Narrow" pitchFamily="34" charset="0"/>
                <a:ea typeface="Liberation Sans Narrow" pitchFamily="34" charset="-122"/>
                <a:cs typeface="Liberation Sans Narrow" pitchFamily="34" charset="-120"/>
              </a:rPr>
              <a:t>01</a:t>
            </a:r>
            <a:endParaRPr lang="en-US" sz="619" dirty="0"/>
          </a:p>
        </p:txBody>
      </p:sp>
      <p:sp>
        <p:nvSpPr>
          <p:cNvPr id="12" name="Text 8"/>
          <p:cNvSpPr/>
          <p:nvPr/>
        </p:nvSpPr>
        <p:spPr>
          <a:xfrm>
            <a:off x="564356" y="1235087"/>
            <a:ext cx="1671638" cy="415481"/>
          </a:xfrm>
          <a:prstGeom prst="rect">
            <a:avLst/>
          </a:prstGeom>
          <a:noFill/>
          <a:ln/>
        </p:spPr>
        <p:txBody>
          <a:bodyPr wrap="none" lIns="0" tIns="0" rIns="0" bIns="0" rtlCol="0" anchor="t">
            <a:normAutofit/>
          </a:bodyPr>
          <a:lstStyle/>
          <a:p>
            <a:pPr algn="l" indent="0" marL="0">
              <a:lnSpc>
                <a:spcPts val="3038"/>
              </a:lnSpc>
              <a:buNone/>
            </a:pPr>
            <a:r>
              <a:rPr lang="en-US" sz="3038" b="1" spc="-61" kern="0" dirty="0">
                <a:solidFill>
                  <a:srgbClr val="0F172A"/>
                </a:solidFill>
                <a:latin typeface="Liberation Sans Narrow" pitchFamily="34" charset="0"/>
                <a:ea typeface="Liberation Sans Narrow" pitchFamily="34" charset="-122"/>
                <a:cs typeface="Liberation Sans Narrow" pitchFamily="34" charset="-120"/>
              </a:rPr>
              <a:t>1,158</a:t>
            </a:r>
            <a:endParaRPr lang="en-US" sz="3038" dirty="0"/>
          </a:p>
        </p:txBody>
      </p:sp>
      <p:sp>
        <p:nvSpPr>
          <p:cNvPr id="13" name="Text 9"/>
          <p:cNvSpPr/>
          <p:nvPr/>
        </p:nvSpPr>
        <p:spPr>
          <a:xfrm>
            <a:off x="564356" y="1678000"/>
            <a:ext cx="1671638" cy="266801"/>
          </a:xfrm>
          <a:prstGeom prst="rect">
            <a:avLst/>
          </a:prstGeom>
          <a:noFill/>
          <a:ln/>
        </p:spPr>
        <p:txBody>
          <a:bodyPr wrap="square" lIns="0" tIns="0" rIns="0" bIns="0" rtlCol="0" anchor="t">
            <a:normAutofit/>
          </a:bodyPr>
          <a:lstStyle/>
          <a:p>
            <a:pPr algn="l" indent="0" marL="0">
              <a:lnSpc>
                <a:spcPts val="1046"/>
              </a:lnSpc>
              <a:buNone/>
            </a:pPr>
            <a:r>
              <a:rPr lang="en-US" sz="800" spc="54" kern="0" dirty="0">
                <a:solidFill>
                  <a:srgbClr val="475569"/>
                </a:solidFill>
                <a:latin typeface="Carlito" pitchFamily="34" charset="0"/>
                <a:ea typeface="Carlito" pitchFamily="34" charset="-122"/>
                <a:cs typeface="Carlito" pitchFamily="34" charset="-120"/>
              </a:rPr>
              <a:t>OFFICIAL ADMIN DOCUMENTS INGESTED</a:t>
            </a:r>
            <a:endParaRPr lang="en-US" sz="800" dirty="0"/>
          </a:p>
        </p:txBody>
      </p:sp>
      <p:sp>
        <p:nvSpPr>
          <p:cNvPr id="14" name="Text 10"/>
          <p:cNvSpPr/>
          <p:nvPr/>
        </p:nvSpPr>
        <p:spPr>
          <a:xfrm>
            <a:off x="564356" y="1972233"/>
            <a:ext cx="1671638" cy="91440"/>
          </a:xfrm>
          <a:prstGeom prst="rect">
            <a:avLst/>
          </a:prstGeom>
          <a:noFill/>
          <a:ln/>
        </p:spPr>
        <p:txBody>
          <a:bodyPr wrap="none" lIns="0" tIns="0" rIns="0" bIns="0" rtlCol="0" anchor="t"/>
          <a:lstStyle/>
          <a:p>
            <a:pPr algn="l" indent="0" marL="0">
              <a:lnSpc>
                <a:spcPts val="872"/>
              </a:lnSpc>
              <a:buNone/>
            </a:pPr>
            <a:r>
              <a:rPr lang="en-US" sz="800" spc="68" kern="0" dirty="0">
                <a:solidFill>
                  <a:srgbClr val="0E7490"/>
                </a:solidFill>
                <a:latin typeface="Courier New" pitchFamily="34" charset="0"/>
                <a:ea typeface="Courier New" pitchFamily="34" charset="-122"/>
                <a:cs typeface="Courier New" pitchFamily="34" charset="-120"/>
              </a:rPr>
              <a:t>PDF · DOCX · TXT · IMG</a:t>
            </a:r>
            <a:endParaRPr lang="en-US" sz="800" dirty="0"/>
          </a:p>
        </p:txBody>
      </p:sp>
      <p:sp>
        <p:nvSpPr>
          <p:cNvPr id="15" name="Text 11"/>
          <p:cNvSpPr/>
          <p:nvPr/>
        </p:nvSpPr>
        <p:spPr>
          <a:xfrm>
            <a:off x="2518172" y="817178"/>
            <a:ext cx="1993106" cy="1278731"/>
          </a:xfrm>
          <a:prstGeom prst="roundRect">
            <a:avLst>
              <a:gd name="adj" fmla="val 10428"/>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16" name="Text 12"/>
          <p:cNvSpPr/>
          <p:nvPr/>
        </p:nvSpPr>
        <p:spPr>
          <a:xfrm>
            <a:off x="2682478" y="967197"/>
            <a:ext cx="264319" cy="264319"/>
          </a:xfrm>
          <a:prstGeom prst="roundRect">
            <a:avLst>
              <a:gd name="adj" fmla="val 32432"/>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7" name="Text 13"/>
          <p:cNvSpPr/>
          <p:nvPr/>
        </p:nvSpPr>
        <p:spPr>
          <a:xfrm>
            <a:off x="2711053" y="995772"/>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18" name="Text 14"/>
          <p:cNvSpPr/>
          <p:nvPr/>
        </p:nvSpPr>
        <p:spPr>
          <a:xfrm>
            <a:off x="4225835" y="963625"/>
            <a:ext cx="142484" cy="170047"/>
          </a:xfrm>
          <a:prstGeom prst="rect">
            <a:avLst/>
          </a:prstGeom>
          <a:noFill/>
          <a:ln/>
        </p:spPr>
        <p:txBody>
          <a:bodyPr wrap="none" lIns="0" tIns="0" rIns="0" bIns="0" rtlCol="0" anchor="t"/>
          <a:lstStyle/>
          <a:p>
            <a:pPr algn="l" indent="0" marL="0">
              <a:lnSpc>
                <a:spcPts val="959"/>
              </a:lnSpc>
              <a:buNone/>
            </a:pPr>
            <a:r>
              <a:rPr lang="en-US" sz="619" spc="111" kern="0" dirty="0">
                <a:solidFill>
                  <a:srgbClr val="64748B"/>
                </a:solidFill>
                <a:latin typeface="Liberation Sans Narrow" pitchFamily="34" charset="0"/>
                <a:ea typeface="Liberation Sans Narrow" pitchFamily="34" charset="-122"/>
                <a:cs typeface="Liberation Sans Narrow" pitchFamily="34" charset="-120"/>
              </a:rPr>
              <a:t>02</a:t>
            </a:r>
            <a:endParaRPr lang="en-US" sz="619" dirty="0"/>
          </a:p>
        </p:txBody>
      </p:sp>
      <p:sp>
        <p:nvSpPr>
          <p:cNvPr id="19" name="Text 15"/>
          <p:cNvSpPr/>
          <p:nvPr/>
        </p:nvSpPr>
        <p:spPr>
          <a:xfrm>
            <a:off x="2678906" y="1235087"/>
            <a:ext cx="1671638" cy="415481"/>
          </a:xfrm>
          <a:prstGeom prst="rect">
            <a:avLst/>
          </a:prstGeom>
          <a:noFill/>
          <a:ln/>
        </p:spPr>
        <p:txBody>
          <a:bodyPr wrap="none" lIns="0" tIns="0" rIns="0" bIns="0" rtlCol="0" anchor="t">
            <a:normAutofit/>
          </a:bodyPr>
          <a:lstStyle/>
          <a:p>
            <a:pPr algn="l" indent="0" marL="0">
              <a:lnSpc>
                <a:spcPts val="3038"/>
              </a:lnSpc>
              <a:buNone/>
            </a:pPr>
            <a:r>
              <a:rPr lang="en-US" sz="3038" b="1" spc="-61" kern="0" dirty="0">
                <a:solidFill>
                  <a:srgbClr val="0F172A"/>
                </a:solidFill>
                <a:latin typeface="Liberation Sans Narrow" pitchFamily="34" charset="0"/>
                <a:ea typeface="Liberation Sans Narrow" pitchFamily="34" charset="-122"/>
                <a:cs typeface="Liberation Sans Narrow" pitchFamily="34" charset="-120"/>
              </a:rPr>
              <a:t>8,166</a:t>
            </a:r>
            <a:endParaRPr lang="en-US" sz="3038" dirty="0"/>
          </a:p>
        </p:txBody>
      </p:sp>
      <p:sp>
        <p:nvSpPr>
          <p:cNvPr id="20" name="Text 16"/>
          <p:cNvSpPr/>
          <p:nvPr/>
        </p:nvSpPr>
        <p:spPr>
          <a:xfrm>
            <a:off x="2678906" y="1678000"/>
            <a:ext cx="1671638" cy="133972"/>
          </a:xfrm>
          <a:prstGeom prst="rect">
            <a:avLst/>
          </a:prstGeom>
          <a:noFill/>
          <a:ln/>
        </p:spPr>
        <p:txBody>
          <a:bodyPr wrap="none" lIns="0" tIns="0" rIns="0" bIns="0" rtlCol="0" anchor="t">
            <a:normAutofit/>
          </a:bodyPr>
          <a:lstStyle/>
          <a:p>
            <a:pPr algn="l" indent="0" marL="0">
              <a:lnSpc>
                <a:spcPts val="1046"/>
              </a:lnSpc>
              <a:buNone/>
            </a:pPr>
            <a:r>
              <a:rPr lang="en-US" sz="800" spc="54" kern="0" dirty="0">
                <a:solidFill>
                  <a:srgbClr val="475569"/>
                </a:solidFill>
                <a:latin typeface="Carlito" pitchFamily="34" charset="0"/>
                <a:ea typeface="Carlito" pitchFamily="34" charset="-122"/>
                <a:cs typeface="Carlito" pitchFamily="34" charset="-120"/>
              </a:rPr>
              <a:t>SEMANTIC CLAUSES INDEXED</a:t>
            </a:r>
            <a:endParaRPr lang="en-US" sz="800" dirty="0"/>
          </a:p>
        </p:txBody>
      </p:sp>
      <p:sp>
        <p:nvSpPr>
          <p:cNvPr id="21" name="Text 17"/>
          <p:cNvSpPr/>
          <p:nvPr/>
        </p:nvSpPr>
        <p:spPr>
          <a:xfrm>
            <a:off x="2678906" y="1839404"/>
            <a:ext cx="1671638" cy="110058"/>
          </a:xfrm>
          <a:prstGeom prst="rect">
            <a:avLst/>
          </a:prstGeom>
          <a:noFill/>
          <a:ln/>
        </p:spPr>
        <p:txBody>
          <a:bodyPr wrap="none" lIns="0" tIns="0" rIns="0" bIns="0" rtlCol="0" anchor="t"/>
          <a:lstStyle/>
          <a:p>
            <a:pPr algn="l" indent="0" marL="0">
              <a:lnSpc>
                <a:spcPts val="872"/>
              </a:lnSpc>
              <a:buNone/>
            </a:pPr>
            <a:r>
              <a:rPr lang="en-US" sz="800" spc="68" kern="0" dirty="0">
                <a:solidFill>
                  <a:srgbClr val="0E7490"/>
                </a:solidFill>
                <a:latin typeface="Liberation Sans Narrow" pitchFamily="34" charset="0"/>
                <a:ea typeface="Liberation Sans Narrow" pitchFamily="34" charset="-122"/>
                <a:cs typeface="Liberation Sans Narrow" pitchFamily="34" charset="-120"/>
              </a:rPr>
              <a:t>FAISS + BM25 STORES</a:t>
            </a:r>
            <a:endParaRPr lang="en-US" sz="800" dirty="0"/>
          </a:p>
        </p:txBody>
      </p:sp>
      <p:sp>
        <p:nvSpPr>
          <p:cNvPr id="22" name="Text 18"/>
          <p:cNvSpPr/>
          <p:nvPr/>
        </p:nvSpPr>
        <p:spPr>
          <a:xfrm>
            <a:off x="4632722" y="817178"/>
            <a:ext cx="1993106" cy="1278731"/>
          </a:xfrm>
          <a:prstGeom prst="roundRect">
            <a:avLst>
              <a:gd name="adj" fmla="val 10428"/>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23" name="Text 19"/>
          <p:cNvSpPr/>
          <p:nvPr/>
        </p:nvSpPr>
        <p:spPr>
          <a:xfrm>
            <a:off x="4797028" y="967197"/>
            <a:ext cx="264319" cy="264319"/>
          </a:xfrm>
          <a:prstGeom prst="roundRect">
            <a:avLst>
              <a:gd name="adj" fmla="val 32432"/>
            </a:avLst>
          </a:prstGeom>
          <a:solidFill>
            <a:srgbClr val="10B981">
              <a:alpha val="14000"/>
            </a:srgbClr>
          </a:solidFill>
          <a:ln w="7144">
            <a:solidFill>
              <a:srgbClr val="10B981"/>
            </a:solidFill>
            <a:prstDash val="solid"/>
          </a:ln>
        </p:spPr>
        <p:txBody>
          <a:bodyPr wrap="square" rtlCol="0" anchor="ctr"/>
          <a:lstStyle/>
          <a:p>
            <a:pPr indent="0" marL="0">
              <a:buNone/>
            </a:pPr>
            <a:endParaRPr lang="en-US" dirty="0"/>
          </a:p>
        </p:txBody>
      </p:sp>
      <p:sp>
        <p:nvSpPr>
          <p:cNvPr id="24" name="Text 20"/>
          <p:cNvSpPr/>
          <p:nvPr/>
        </p:nvSpPr>
        <p:spPr>
          <a:xfrm>
            <a:off x="4825603" y="995772"/>
            <a:ext cx="207169" cy="207169"/>
          </a:xfrm>
          <a:prstGeom prst="rect">
            <a:avLst/>
          </a:prstGeom>
          <a:noFill/>
          <a:ln/>
        </p:spPr>
        <p:txBody>
          <a:bodyPr wrap="none" lIns="0" tIns="0" rIns="0" bIns="0" rtlCol="0" anchor="ctr"/>
          <a:lstStyle/>
          <a:p>
            <a:pPr algn="ctr" indent="0" marL="0">
              <a:buNone/>
            </a:pPr>
            <a:r>
              <a:rPr lang="en-US" sz="1406" dirty="0">
                <a:solidFill>
                  <a:srgbClr val="15803D"/>
                </a:solidFill>
                <a:latin typeface="Segoe UI Symbol" pitchFamily="34" charset="0"/>
                <a:ea typeface="Segoe UI Symbol" pitchFamily="34" charset="-122"/>
                <a:cs typeface="Segoe UI Symbol" pitchFamily="34" charset="-120"/>
              </a:rPr>
              <a:t>✓</a:t>
            </a:r>
            <a:endParaRPr lang="en-US" sz="1406" dirty="0"/>
          </a:p>
        </p:txBody>
      </p:sp>
      <p:sp>
        <p:nvSpPr>
          <p:cNvPr id="25" name="Text 21"/>
          <p:cNvSpPr/>
          <p:nvPr/>
        </p:nvSpPr>
        <p:spPr>
          <a:xfrm>
            <a:off x="6340385" y="963625"/>
            <a:ext cx="142484" cy="170047"/>
          </a:xfrm>
          <a:prstGeom prst="rect">
            <a:avLst/>
          </a:prstGeom>
          <a:noFill/>
          <a:ln/>
        </p:spPr>
        <p:txBody>
          <a:bodyPr wrap="none" lIns="0" tIns="0" rIns="0" bIns="0" rtlCol="0" anchor="t"/>
          <a:lstStyle/>
          <a:p>
            <a:pPr algn="l" indent="0" marL="0">
              <a:lnSpc>
                <a:spcPts val="959"/>
              </a:lnSpc>
              <a:buNone/>
            </a:pPr>
            <a:r>
              <a:rPr lang="en-US" sz="619" spc="111" kern="0" dirty="0">
                <a:solidFill>
                  <a:srgbClr val="15803D"/>
                </a:solidFill>
                <a:latin typeface="Liberation Sans Narrow" pitchFamily="34" charset="0"/>
                <a:ea typeface="Liberation Sans Narrow" pitchFamily="34" charset="-122"/>
                <a:cs typeface="Liberation Sans Narrow" pitchFamily="34" charset="-120"/>
              </a:rPr>
              <a:t>03</a:t>
            </a:r>
            <a:endParaRPr lang="en-US" sz="619" dirty="0"/>
          </a:p>
        </p:txBody>
      </p:sp>
      <p:sp>
        <p:nvSpPr>
          <p:cNvPr id="26" name="Text 22"/>
          <p:cNvSpPr/>
          <p:nvPr/>
        </p:nvSpPr>
        <p:spPr>
          <a:xfrm>
            <a:off x="4793456" y="1235087"/>
            <a:ext cx="1671637" cy="415481"/>
          </a:xfrm>
          <a:prstGeom prst="rect">
            <a:avLst/>
          </a:prstGeom>
          <a:noFill/>
          <a:ln/>
        </p:spPr>
        <p:txBody>
          <a:bodyPr wrap="none" lIns="0" tIns="0" rIns="0" bIns="0" rtlCol="0" anchor="t">
            <a:normAutofit/>
          </a:bodyPr>
          <a:lstStyle/>
          <a:p>
            <a:pPr algn="l" indent="0" marL="0">
              <a:lnSpc>
                <a:spcPts val="3038"/>
              </a:lnSpc>
              <a:buNone/>
            </a:pPr>
            <a:r>
              <a:rPr lang="en-US" sz="3038" b="1" spc="-61" kern="0" dirty="0">
                <a:solidFill>
                  <a:srgbClr val="0F172A"/>
                </a:solidFill>
                <a:latin typeface="Liberation Sans Narrow" pitchFamily="34" charset="0"/>
                <a:ea typeface="Liberation Sans Narrow" pitchFamily="34" charset="-122"/>
                <a:cs typeface="Liberation Sans Narrow" pitchFamily="34" charset="-120"/>
              </a:rPr>
              <a:t>26/26</a:t>
            </a:r>
            <a:endParaRPr lang="en-US" sz="3038" dirty="0"/>
          </a:p>
        </p:txBody>
      </p:sp>
      <p:sp>
        <p:nvSpPr>
          <p:cNvPr id="27" name="Text 23"/>
          <p:cNvSpPr/>
          <p:nvPr/>
        </p:nvSpPr>
        <p:spPr>
          <a:xfrm>
            <a:off x="4793456" y="1678000"/>
            <a:ext cx="1671638" cy="133972"/>
          </a:xfrm>
          <a:prstGeom prst="rect">
            <a:avLst/>
          </a:prstGeom>
          <a:noFill/>
          <a:ln/>
        </p:spPr>
        <p:txBody>
          <a:bodyPr wrap="none" lIns="0" tIns="0" rIns="0" bIns="0" rtlCol="0" anchor="t">
            <a:normAutofit/>
          </a:bodyPr>
          <a:lstStyle/>
          <a:p>
            <a:pPr algn="l" indent="0" marL="0">
              <a:lnSpc>
                <a:spcPts val="1046"/>
              </a:lnSpc>
              <a:buNone/>
            </a:pPr>
            <a:r>
              <a:rPr lang="en-US" sz="800" spc="54" kern="0" dirty="0">
                <a:solidFill>
                  <a:srgbClr val="475569"/>
                </a:solidFill>
                <a:latin typeface="Carlito" pitchFamily="34" charset="0"/>
                <a:ea typeface="Carlito" pitchFamily="34" charset="-122"/>
                <a:cs typeface="Carlito" pitchFamily="34" charset="-120"/>
              </a:rPr>
              <a:t>UNIT &amp; INTEGRATION TESTS</a:t>
            </a:r>
            <a:endParaRPr lang="en-US" sz="800" dirty="0"/>
          </a:p>
        </p:txBody>
      </p:sp>
      <p:sp>
        <p:nvSpPr>
          <p:cNvPr id="28" name="Text 24"/>
          <p:cNvSpPr/>
          <p:nvPr/>
        </p:nvSpPr>
        <p:spPr>
          <a:xfrm>
            <a:off x="4793456" y="1839404"/>
            <a:ext cx="1671638" cy="110058"/>
          </a:xfrm>
          <a:prstGeom prst="rect">
            <a:avLst/>
          </a:prstGeom>
          <a:noFill/>
          <a:ln/>
        </p:spPr>
        <p:txBody>
          <a:bodyPr wrap="none" lIns="0" tIns="0" rIns="0" bIns="0" rtlCol="0" anchor="t"/>
          <a:lstStyle/>
          <a:p>
            <a:pPr algn="l" indent="0" marL="0">
              <a:lnSpc>
                <a:spcPts val="872"/>
              </a:lnSpc>
              <a:buNone/>
            </a:pPr>
            <a:r>
              <a:rPr lang="en-US" sz="800" spc="68" kern="0" dirty="0">
                <a:solidFill>
                  <a:srgbClr val="15803D"/>
                </a:solidFill>
                <a:latin typeface="Courier New" pitchFamily="34" charset="0"/>
                <a:ea typeface="Courier New" pitchFamily="34" charset="-122"/>
                <a:cs typeface="Courier New" pitchFamily="34" charset="-120"/>
              </a:rPr>
              <a:t>PYTEST -V · ALL PASSING</a:t>
            </a:r>
            <a:endParaRPr lang="en-US" sz="800" dirty="0"/>
          </a:p>
        </p:txBody>
      </p:sp>
      <p:sp>
        <p:nvSpPr>
          <p:cNvPr id="29" name="Text 25"/>
          <p:cNvSpPr/>
          <p:nvPr/>
        </p:nvSpPr>
        <p:spPr>
          <a:xfrm>
            <a:off x="6747272" y="817178"/>
            <a:ext cx="1993106" cy="1278731"/>
          </a:xfrm>
          <a:prstGeom prst="roundRect">
            <a:avLst>
              <a:gd name="adj" fmla="val 10428"/>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30" name="Text 26"/>
          <p:cNvSpPr/>
          <p:nvPr/>
        </p:nvSpPr>
        <p:spPr>
          <a:xfrm>
            <a:off x="6911578" y="967197"/>
            <a:ext cx="264319" cy="264319"/>
          </a:xfrm>
          <a:prstGeom prst="roundRect">
            <a:avLst>
              <a:gd name="adj" fmla="val 32432"/>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31" name="Text 27"/>
          <p:cNvSpPr/>
          <p:nvPr/>
        </p:nvSpPr>
        <p:spPr>
          <a:xfrm>
            <a:off x="6940153" y="995772"/>
            <a:ext cx="207169" cy="207169"/>
          </a:xfrm>
          <a:prstGeom prst="rect">
            <a:avLst/>
          </a:prstGeom>
          <a:noFill/>
          <a:ln/>
        </p:spPr>
        <p:txBody>
          <a:bodyPr wrap="none" lIns="0" tIns="0" rIns="0" bIns="0" rtlCol="0" anchor="ctr"/>
          <a:lstStyle/>
          <a:p>
            <a:pPr algn="ctr" indent="0" marL="0">
              <a:buNone/>
            </a:pPr>
            <a:r>
              <a:rPr lang="en-US" sz="1406" dirty="0">
                <a:solidFill>
                  <a:srgbClr val="B45309"/>
                </a:solidFill>
                <a:latin typeface="Segoe UI Symbol" pitchFamily="34" charset="0"/>
                <a:ea typeface="Segoe UI Symbol" pitchFamily="34" charset="-122"/>
                <a:cs typeface="Segoe UI Symbol" pitchFamily="34" charset="-120"/>
              </a:rPr>
              <a:t>⚡</a:t>
            </a:r>
            <a:endParaRPr lang="en-US" sz="1406" dirty="0"/>
          </a:p>
        </p:txBody>
      </p:sp>
      <p:sp>
        <p:nvSpPr>
          <p:cNvPr id="32" name="Text 28"/>
          <p:cNvSpPr/>
          <p:nvPr/>
        </p:nvSpPr>
        <p:spPr>
          <a:xfrm>
            <a:off x="8454935" y="963625"/>
            <a:ext cx="142484" cy="170047"/>
          </a:xfrm>
          <a:prstGeom prst="rect">
            <a:avLst/>
          </a:prstGeom>
          <a:noFill/>
          <a:ln/>
        </p:spPr>
        <p:txBody>
          <a:bodyPr wrap="none" lIns="0" tIns="0" rIns="0" bIns="0" rtlCol="0" anchor="t"/>
          <a:lstStyle/>
          <a:p>
            <a:pPr algn="l" indent="0" marL="0">
              <a:lnSpc>
                <a:spcPts val="959"/>
              </a:lnSpc>
              <a:buNone/>
            </a:pPr>
            <a:r>
              <a:rPr lang="en-US" sz="619" spc="111" kern="0" dirty="0">
                <a:solidFill>
                  <a:srgbClr val="B45309"/>
                </a:solidFill>
                <a:latin typeface="Liberation Sans Narrow" pitchFamily="34" charset="0"/>
                <a:ea typeface="Liberation Sans Narrow" pitchFamily="34" charset="-122"/>
                <a:cs typeface="Liberation Sans Narrow" pitchFamily="34" charset="-120"/>
              </a:rPr>
              <a:t>04</a:t>
            </a:r>
            <a:endParaRPr lang="en-US" sz="619" dirty="0"/>
          </a:p>
        </p:txBody>
      </p:sp>
      <p:sp>
        <p:nvSpPr>
          <p:cNvPr id="33" name="Text 29"/>
          <p:cNvSpPr/>
          <p:nvPr/>
        </p:nvSpPr>
        <p:spPr>
          <a:xfrm>
            <a:off x="6908006" y="1235087"/>
            <a:ext cx="1671638" cy="415481"/>
          </a:xfrm>
          <a:prstGeom prst="rect">
            <a:avLst/>
          </a:prstGeom>
          <a:noFill/>
          <a:ln/>
        </p:spPr>
        <p:txBody>
          <a:bodyPr wrap="none" lIns="0" tIns="0" rIns="0" bIns="0" rtlCol="0" anchor="t">
            <a:normAutofit/>
          </a:bodyPr>
          <a:lstStyle/>
          <a:p>
            <a:pPr algn="l" indent="0" marL="0">
              <a:lnSpc>
                <a:spcPts val="3038"/>
              </a:lnSpc>
              <a:buNone/>
            </a:pPr>
            <a:r>
              <a:rPr lang="en-US" sz="3038" b="1" spc="-61" kern="0" dirty="0">
                <a:solidFill>
                  <a:srgbClr val="0F172A"/>
                </a:solidFill>
                <a:latin typeface="Liberation Sans Narrow" pitchFamily="34" charset="0"/>
                <a:ea typeface="Liberation Sans Narrow" pitchFamily="34" charset="-122"/>
                <a:cs typeface="Liberation Sans Narrow" pitchFamily="34" charset="-120"/>
              </a:rPr>
              <a:t>~1.2s</a:t>
            </a:r>
            <a:endParaRPr lang="en-US" sz="3038" dirty="0"/>
          </a:p>
        </p:txBody>
      </p:sp>
      <p:sp>
        <p:nvSpPr>
          <p:cNvPr id="34" name="Text 30"/>
          <p:cNvSpPr/>
          <p:nvPr/>
        </p:nvSpPr>
        <p:spPr>
          <a:xfrm>
            <a:off x="6908006" y="1678000"/>
            <a:ext cx="1671638" cy="133972"/>
          </a:xfrm>
          <a:prstGeom prst="rect">
            <a:avLst/>
          </a:prstGeom>
          <a:noFill/>
          <a:ln/>
        </p:spPr>
        <p:txBody>
          <a:bodyPr wrap="none" lIns="0" tIns="0" rIns="0" bIns="0" rtlCol="0" anchor="t">
            <a:normAutofit/>
          </a:bodyPr>
          <a:lstStyle/>
          <a:p>
            <a:pPr algn="l" indent="0" marL="0">
              <a:lnSpc>
                <a:spcPts val="1046"/>
              </a:lnSpc>
              <a:buNone/>
            </a:pPr>
            <a:r>
              <a:rPr lang="en-US" sz="800" spc="54" kern="0" dirty="0">
                <a:solidFill>
                  <a:srgbClr val="475569"/>
                </a:solidFill>
                <a:latin typeface="Carlito" pitchFamily="34" charset="0"/>
                <a:ea typeface="Carlito" pitchFamily="34" charset="-122"/>
                <a:cs typeface="Carlito" pitchFamily="34" charset="-120"/>
              </a:rPr>
              <a:t>END-TO-END LLM LATENCY</a:t>
            </a:r>
            <a:endParaRPr lang="en-US" sz="800" dirty="0"/>
          </a:p>
        </p:txBody>
      </p:sp>
      <p:sp>
        <p:nvSpPr>
          <p:cNvPr id="35" name="Text 31"/>
          <p:cNvSpPr/>
          <p:nvPr/>
        </p:nvSpPr>
        <p:spPr>
          <a:xfrm>
            <a:off x="6908006" y="1839404"/>
            <a:ext cx="1671638" cy="110058"/>
          </a:xfrm>
          <a:prstGeom prst="rect">
            <a:avLst/>
          </a:prstGeom>
          <a:noFill/>
          <a:ln/>
        </p:spPr>
        <p:txBody>
          <a:bodyPr wrap="none" lIns="0" tIns="0" rIns="0" bIns="0" rtlCol="0" anchor="t"/>
          <a:lstStyle/>
          <a:p>
            <a:pPr algn="l" indent="0" marL="0">
              <a:lnSpc>
                <a:spcPts val="872"/>
              </a:lnSpc>
              <a:buNone/>
            </a:pPr>
            <a:r>
              <a:rPr lang="en-US" sz="800" spc="68" kern="0" dirty="0">
                <a:solidFill>
                  <a:srgbClr val="B45309"/>
                </a:solidFill>
                <a:latin typeface="Liberation Sans Narrow" pitchFamily="34" charset="0"/>
                <a:ea typeface="Liberation Sans Narrow" pitchFamily="34" charset="-122"/>
                <a:cs typeface="Liberation Sans Narrow" pitchFamily="34" charset="-120"/>
              </a:rPr>
              <a:t>GEMINI 3.5 FLASH-LITE</a:t>
            </a:r>
            <a:endParaRPr lang="en-US" sz="800" dirty="0"/>
          </a:p>
        </p:txBody>
      </p:sp>
      <p:sp>
        <p:nvSpPr>
          <p:cNvPr id="36" name="Text 32"/>
          <p:cNvSpPr/>
          <p:nvPr/>
        </p:nvSpPr>
        <p:spPr>
          <a:xfrm>
            <a:off x="400050" y="2213781"/>
            <a:ext cx="4114800" cy="2529669"/>
          </a:xfrm>
          <a:prstGeom prst="roundRect">
            <a:avLst>
              <a:gd name="adj" fmla="val 3765"/>
            </a:avLst>
          </a:prstGeom>
          <a:solidFill>
            <a:srgbClr val="FFFFFF"/>
          </a:solidFill>
          <a:ln/>
        </p:spPr>
        <p:txBody>
          <a:bodyPr wrap="square" rtlCol="0" anchor="ctr"/>
          <a:lstStyle/>
          <a:p>
            <a:pPr indent="0" marL="0">
              <a:buNone/>
            </a:pPr>
            <a:endParaRPr lang="en-US" dirty="0"/>
          </a:p>
        </p:txBody>
      </p:sp>
      <p:sp>
        <p:nvSpPr>
          <p:cNvPr id="37" name="Shape 33"/>
          <p:cNvSpPr/>
          <p:nvPr/>
        </p:nvSpPr>
        <p:spPr>
          <a:xfrm>
            <a:off x="400050" y="2217353"/>
            <a:ext cx="4114800" cy="0"/>
          </a:xfrm>
          <a:prstGeom prst="line">
            <a:avLst/>
          </a:prstGeom>
          <a:noFill/>
          <a:ln w="7144">
            <a:solidFill>
              <a:srgbClr val="0F172A"/>
            </a:solidFill>
            <a:prstDash val="solid"/>
          </a:ln>
        </p:spPr>
      </p:sp>
      <p:sp>
        <p:nvSpPr>
          <p:cNvPr id="38" name="Shape 34"/>
          <p:cNvSpPr/>
          <p:nvPr/>
        </p:nvSpPr>
        <p:spPr>
          <a:xfrm>
            <a:off x="4511278" y="2213781"/>
            <a:ext cx="0" cy="2529669"/>
          </a:xfrm>
          <a:prstGeom prst="line">
            <a:avLst/>
          </a:prstGeom>
          <a:noFill/>
          <a:ln w="7144">
            <a:solidFill>
              <a:srgbClr val="0F172A"/>
            </a:solidFill>
            <a:prstDash val="solid"/>
          </a:ln>
        </p:spPr>
      </p:sp>
      <p:sp>
        <p:nvSpPr>
          <p:cNvPr id="39" name="Shape 35"/>
          <p:cNvSpPr/>
          <p:nvPr/>
        </p:nvSpPr>
        <p:spPr>
          <a:xfrm>
            <a:off x="400050" y="4739878"/>
            <a:ext cx="4114800" cy="0"/>
          </a:xfrm>
          <a:prstGeom prst="line">
            <a:avLst/>
          </a:prstGeom>
          <a:noFill/>
          <a:ln w="7144">
            <a:solidFill>
              <a:srgbClr val="0F172A"/>
            </a:solidFill>
            <a:prstDash val="solid"/>
          </a:ln>
        </p:spPr>
      </p:sp>
      <p:sp>
        <p:nvSpPr>
          <p:cNvPr id="40" name="Shape 36"/>
          <p:cNvSpPr/>
          <p:nvPr/>
        </p:nvSpPr>
        <p:spPr>
          <a:xfrm>
            <a:off x="410766" y="2213781"/>
            <a:ext cx="0" cy="2529669"/>
          </a:xfrm>
          <a:prstGeom prst="line">
            <a:avLst/>
          </a:prstGeom>
          <a:noFill/>
          <a:ln w="21431">
            <a:solidFill>
              <a:srgbClr val="0E7490"/>
            </a:solidFill>
            <a:prstDash val="solid"/>
          </a:ln>
        </p:spPr>
      </p:sp>
      <p:sp>
        <p:nvSpPr>
          <p:cNvPr id="41" name="Text 37"/>
          <p:cNvSpPr/>
          <p:nvPr/>
        </p:nvSpPr>
        <p:spPr>
          <a:xfrm>
            <a:off x="550069" y="2335225"/>
            <a:ext cx="114300" cy="114300"/>
          </a:xfrm>
          <a:prstGeom prst="rect">
            <a:avLst/>
          </a:prstGeom>
          <a:noFill/>
          <a:ln/>
        </p:spPr>
        <p:txBody>
          <a:bodyPr wrap="none" lIns="0" tIns="0" rIns="0" bIns="0" rtlCol="0" anchor="ctr"/>
          <a:lstStyle/>
          <a:p>
            <a:pPr algn="ctr" indent="0" marL="0">
              <a:buNone/>
            </a:pPr>
            <a:r>
              <a:rPr lang="en-US" sz="1125" dirty="0">
                <a:solidFill>
                  <a:srgbClr val="0E7490"/>
                </a:solidFill>
                <a:latin typeface="Segoe UI Symbol" pitchFamily="34" charset="0"/>
                <a:ea typeface="Segoe UI Symbol" pitchFamily="34" charset="-122"/>
                <a:cs typeface="Segoe UI Symbol" pitchFamily="34" charset="-120"/>
              </a:rPr>
              <a:t>✦</a:t>
            </a:r>
            <a:endParaRPr lang="en-US" sz="1125" dirty="0"/>
          </a:p>
        </p:txBody>
      </p:sp>
      <p:sp>
        <p:nvSpPr>
          <p:cNvPr id="42" name="Text 38"/>
          <p:cNvSpPr/>
          <p:nvPr/>
        </p:nvSpPr>
        <p:spPr>
          <a:xfrm>
            <a:off x="721519" y="2337011"/>
            <a:ext cx="3657600" cy="170078"/>
          </a:xfrm>
          <a:prstGeom prst="rect">
            <a:avLst/>
          </a:prstGeom>
          <a:noFill/>
          <a:ln/>
        </p:spPr>
        <p:txBody>
          <a:bodyPr wrap="none" lIns="0" tIns="0" rIns="0" bIns="0" rtlCol="0" anchor="t"/>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LATENCY &amp; PERFORMANCE PROFILE</a:t>
            </a:r>
            <a:endParaRPr lang="en-US" sz="800" dirty="0"/>
          </a:p>
        </p:txBody>
      </p:sp>
      <p:sp>
        <p:nvSpPr>
          <p:cNvPr id="43" name="Shape 39"/>
          <p:cNvSpPr/>
          <p:nvPr/>
        </p:nvSpPr>
        <p:spPr>
          <a:xfrm>
            <a:off x="550069" y="2910743"/>
            <a:ext cx="3829050" cy="0"/>
          </a:xfrm>
          <a:prstGeom prst="line">
            <a:avLst/>
          </a:prstGeom>
          <a:noFill/>
          <a:ln w="7144">
            <a:solidFill>
              <a:srgbClr val="0F172A"/>
            </a:solidFill>
            <a:prstDash val="dash"/>
          </a:ln>
        </p:spPr>
      </p:sp>
      <p:sp>
        <p:nvSpPr>
          <p:cNvPr id="44" name="Text 40"/>
          <p:cNvSpPr/>
          <p:nvPr/>
        </p:nvSpPr>
        <p:spPr>
          <a:xfrm>
            <a:off x="550069" y="2711611"/>
            <a:ext cx="3633883" cy="138410"/>
          </a:xfrm>
          <a:prstGeom prst="rect">
            <a:avLst/>
          </a:prstGeom>
          <a:noFill/>
          <a:ln/>
        </p:spPr>
        <p:txBody>
          <a:bodyPr wrap="square" lIns="0" tIns="0" rIns="0" bIns="0" rtlCol="0" anchor="t"/>
          <a:lstStyle/>
          <a:p>
            <a:pPr algn="l" indent="0" marL="0">
              <a:lnSpc>
                <a:spcPts val="959"/>
              </a:lnSpc>
              <a:buNone/>
            </a:pPr>
            <a:r>
              <a:rPr lang="en-US" sz="800" spc="37" kern="0" dirty="0">
                <a:solidFill>
                  <a:srgbClr val="475569"/>
                </a:solidFill>
                <a:latin typeface="Courier New" pitchFamily="34" charset="0"/>
                <a:ea typeface="Courier New" pitchFamily="34" charset="-122"/>
                <a:cs typeface="Courier New" pitchFamily="34" charset="-120"/>
              </a:rPr>
              <a:t>RETRIEVAL LATENCY (FAISS + BM25 + RERANK)</a:t>
            </a:r>
            <a:endParaRPr lang="en-US" sz="800" dirty="0"/>
          </a:p>
        </p:txBody>
      </p:sp>
      <p:sp>
        <p:nvSpPr>
          <p:cNvPr id="45" name="Text 41"/>
          <p:cNvSpPr/>
          <p:nvPr/>
        </p:nvSpPr>
        <p:spPr>
          <a:xfrm>
            <a:off x="3972398" y="2695091"/>
            <a:ext cx="463398" cy="154930"/>
          </a:xfrm>
          <a:prstGeom prst="rect">
            <a:avLst/>
          </a:prstGeom>
          <a:noFill/>
          <a:ln/>
        </p:spPr>
        <p:txBody>
          <a:bodyPr wrap="none" lIns="0" tIns="0" rIns="0" bIns="0" rtlCol="0" anchor="t"/>
          <a:lstStyle/>
          <a:p>
            <a:pPr algn="l" indent="0" marL="0">
              <a:lnSpc>
                <a:spcPts val="1221"/>
              </a:lnSpc>
              <a:buNone/>
            </a:pPr>
            <a:r>
              <a:rPr lang="en-US" sz="788" dirty="0">
                <a:solidFill>
                  <a:srgbClr val="0E7490"/>
                </a:solidFill>
                <a:latin typeface="Liberation Sans Narrow" pitchFamily="34" charset="0"/>
                <a:ea typeface="Liberation Sans Narrow" pitchFamily="34" charset="-122"/>
                <a:cs typeface="Liberation Sans Narrow" pitchFamily="34" charset="-120"/>
              </a:rPr>
              <a:t>~120 ms</a:t>
            </a:r>
            <a:endParaRPr lang="en-US" sz="788" dirty="0"/>
          </a:p>
        </p:txBody>
      </p:sp>
      <p:sp>
        <p:nvSpPr>
          <p:cNvPr id="46" name="Shape 42"/>
          <p:cNvSpPr/>
          <p:nvPr/>
        </p:nvSpPr>
        <p:spPr>
          <a:xfrm>
            <a:off x="550069" y="3449650"/>
            <a:ext cx="3829050" cy="0"/>
          </a:xfrm>
          <a:prstGeom prst="line">
            <a:avLst/>
          </a:prstGeom>
          <a:noFill/>
          <a:ln w="7144">
            <a:solidFill>
              <a:srgbClr val="0F172A"/>
            </a:solidFill>
            <a:prstDash val="dash"/>
          </a:ln>
        </p:spPr>
      </p:sp>
      <p:sp>
        <p:nvSpPr>
          <p:cNvPr id="47" name="Text 43"/>
          <p:cNvSpPr/>
          <p:nvPr/>
        </p:nvSpPr>
        <p:spPr>
          <a:xfrm>
            <a:off x="550069" y="3250518"/>
            <a:ext cx="3687890" cy="138410"/>
          </a:xfrm>
          <a:prstGeom prst="rect">
            <a:avLst/>
          </a:prstGeom>
          <a:noFill/>
          <a:ln/>
        </p:spPr>
        <p:txBody>
          <a:bodyPr wrap="square" lIns="0" tIns="0" rIns="0" bIns="0" rtlCol="0" anchor="t"/>
          <a:lstStyle/>
          <a:p>
            <a:pPr algn="l" indent="0" marL="0">
              <a:lnSpc>
                <a:spcPts val="959"/>
              </a:lnSpc>
              <a:buNone/>
            </a:pPr>
            <a:r>
              <a:rPr lang="en-US" sz="800" spc="37" kern="0" dirty="0">
                <a:solidFill>
                  <a:srgbClr val="475569"/>
                </a:solidFill>
                <a:latin typeface="Courier New" pitchFamily="34" charset="0"/>
                <a:ea typeface="Courier New" pitchFamily="34" charset="-122"/>
                <a:cs typeface="Courier New" pitchFamily="34" charset="-120"/>
              </a:rPr>
              <a:t>E2E LLM GENERATION (GEMINI 3.5 FLASH-LITE)</a:t>
            </a:r>
            <a:endParaRPr lang="en-US" sz="800" dirty="0"/>
          </a:p>
        </p:txBody>
      </p:sp>
      <p:sp>
        <p:nvSpPr>
          <p:cNvPr id="48" name="Text 44"/>
          <p:cNvSpPr/>
          <p:nvPr/>
        </p:nvSpPr>
        <p:spPr>
          <a:xfrm>
            <a:off x="4038116" y="3233998"/>
            <a:ext cx="381968" cy="154930"/>
          </a:xfrm>
          <a:prstGeom prst="rect">
            <a:avLst/>
          </a:prstGeom>
          <a:noFill/>
          <a:ln/>
        </p:spPr>
        <p:txBody>
          <a:bodyPr wrap="none" lIns="0" tIns="0" rIns="0" bIns="0" rtlCol="0" anchor="t"/>
          <a:lstStyle/>
          <a:p>
            <a:pPr algn="l" indent="0" marL="0">
              <a:lnSpc>
                <a:spcPts val="1221"/>
              </a:lnSpc>
              <a:buNone/>
            </a:pPr>
            <a:r>
              <a:rPr lang="en-US" sz="788" dirty="0">
                <a:solidFill>
                  <a:srgbClr val="0E7490"/>
                </a:solidFill>
                <a:latin typeface="Liberation Sans Narrow" pitchFamily="34" charset="0"/>
                <a:ea typeface="Liberation Sans Narrow" pitchFamily="34" charset="-122"/>
                <a:cs typeface="Liberation Sans Narrow" pitchFamily="34" charset="-120"/>
              </a:rPr>
              <a:t>~1.2 s</a:t>
            </a:r>
            <a:endParaRPr lang="en-US" sz="788" dirty="0"/>
          </a:p>
        </p:txBody>
      </p:sp>
      <p:sp>
        <p:nvSpPr>
          <p:cNvPr id="49" name="Shape 45"/>
          <p:cNvSpPr/>
          <p:nvPr/>
        </p:nvSpPr>
        <p:spPr>
          <a:xfrm>
            <a:off x="550069" y="3988557"/>
            <a:ext cx="3829050" cy="0"/>
          </a:xfrm>
          <a:prstGeom prst="line">
            <a:avLst/>
          </a:prstGeom>
          <a:noFill/>
          <a:ln w="7144">
            <a:solidFill>
              <a:srgbClr val="0F172A"/>
            </a:solidFill>
            <a:prstDash val="dash"/>
          </a:ln>
        </p:spPr>
      </p:sp>
      <p:sp>
        <p:nvSpPr>
          <p:cNvPr id="50" name="Text 46"/>
          <p:cNvSpPr/>
          <p:nvPr/>
        </p:nvSpPr>
        <p:spPr>
          <a:xfrm>
            <a:off x="550069" y="3789425"/>
            <a:ext cx="3687890" cy="138410"/>
          </a:xfrm>
          <a:prstGeom prst="rect">
            <a:avLst/>
          </a:prstGeom>
          <a:noFill/>
          <a:ln/>
        </p:spPr>
        <p:txBody>
          <a:bodyPr wrap="square" lIns="0" tIns="0" rIns="0" bIns="0" rtlCol="0" anchor="t"/>
          <a:lstStyle/>
          <a:p>
            <a:pPr algn="l" indent="0" marL="0">
              <a:lnSpc>
                <a:spcPts val="959"/>
              </a:lnSpc>
              <a:buNone/>
            </a:pPr>
            <a:r>
              <a:rPr lang="en-US" sz="800" spc="37" kern="0" dirty="0">
                <a:solidFill>
                  <a:srgbClr val="475569"/>
                </a:solidFill>
                <a:latin typeface="Courier New" pitchFamily="34" charset="0"/>
                <a:ea typeface="Courier New" pitchFamily="34" charset="-122"/>
                <a:cs typeface="Courier New" pitchFamily="34" charset="-120"/>
              </a:rPr>
              <a:t>LOCAL AIR-GAPPED GENERATION (OLLAMA LLAMA 3.1)</a:t>
            </a:r>
            <a:endParaRPr lang="en-US" sz="800" dirty="0"/>
          </a:p>
        </p:txBody>
      </p:sp>
      <p:sp>
        <p:nvSpPr>
          <p:cNvPr id="51" name="Text 47"/>
          <p:cNvSpPr/>
          <p:nvPr/>
        </p:nvSpPr>
        <p:spPr>
          <a:xfrm>
            <a:off x="4038116" y="3772905"/>
            <a:ext cx="381968" cy="154930"/>
          </a:xfrm>
          <a:prstGeom prst="rect">
            <a:avLst/>
          </a:prstGeom>
          <a:noFill/>
          <a:ln/>
        </p:spPr>
        <p:txBody>
          <a:bodyPr wrap="none" lIns="0" tIns="0" rIns="0" bIns="0" rtlCol="0" anchor="t"/>
          <a:lstStyle/>
          <a:p>
            <a:pPr algn="l" indent="0" marL="0">
              <a:lnSpc>
                <a:spcPts val="1221"/>
              </a:lnSpc>
              <a:buNone/>
            </a:pPr>
            <a:r>
              <a:rPr lang="en-US" sz="788" dirty="0">
                <a:solidFill>
                  <a:srgbClr val="0E7490"/>
                </a:solidFill>
                <a:latin typeface="Liberation Sans Narrow" pitchFamily="34" charset="0"/>
                <a:ea typeface="Liberation Sans Narrow" pitchFamily="34" charset="-122"/>
                <a:cs typeface="Liberation Sans Narrow" pitchFamily="34" charset="-120"/>
              </a:rPr>
              <a:t>~3.5 s</a:t>
            </a:r>
            <a:endParaRPr lang="en-US" sz="788" dirty="0"/>
          </a:p>
        </p:txBody>
      </p:sp>
      <p:sp>
        <p:nvSpPr>
          <p:cNvPr id="52" name="Text 48"/>
          <p:cNvSpPr/>
          <p:nvPr/>
        </p:nvSpPr>
        <p:spPr>
          <a:xfrm>
            <a:off x="550069" y="4311811"/>
            <a:ext cx="2370631" cy="170047"/>
          </a:xfrm>
          <a:prstGeom prst="rect">
            <a:avLst/>
          </a:prstGeom>
          <a:noFill/>
          <a:ln/>
        </p:spPr>
        <p:txBody>
          <a:bodyPr wrap="square" lIns="0" tIns="0" rIns="0" bIns="0" rtlCol="0" anchor="t"/>
          <a:lstStyle/>
          <a:p>
            <a:pPr algn="l" indent="0" marL="0">
              <a:lnSpc>
                <a:spcPts val="959"/>
              </a:lnSpc>
              <a:buNone/>
            </a:pPr>
            <a:r>
              <a:rPr lang="en-US" sz="800" spc="37" kern="0" dirty="0">
                <a:solidFill>
                  <a:srgbClr val="475569"/>
                </a:solidFill>
                <a:latin typeface="Courier New" pitchFamily="34" charset="0"/>
                <a:ea typeface="Courier New" pitchFamily="34" charset="-122"/>
                <a:cs typeface="Courier New" pitchFamily="34" charset="-120"/>
              </a:rPr>
              <a:t>INCREMENTAL INDEXING OVERHEAD</a:t>
            </a:r>
            <a:endParaRPr lang="en-US" sz="800" dirty="0"/>
          </a:p>
        </p:txBody>
      </p:sp>
      <p:sp>
        <p:nvSpPr>
          <p:cNvPr id="53" name="Text 49"/>
          <p:cNvSpPr/>
          <p:nvPr/>
        </p:nvSpPr>
        <p:spPr>
          <a:xfrm>
            <a:off x="2859398" y="4314602"/>
            <a:ext cx="1641299" cy="169980"/>
          </a:xfrm>
          <a:prstGeom prst="rect">
            <a:avLst/>
          </a:prstGeom>
          <a:noFill/>
          <a:ln/>
        </p:spPr>
        <p:txBody>
          <a:bodyPr wrap="none" lIns="0" tIns="0" rIns="0" bIns="0" rtlCol="0" anchor="t"/>
          <a:lstStyle/>
          <a:p>
            <a:pPr algn="l" indent="0" marL="0">
              <a:lnSpc>
                <a:spcPts val="915"/>
              </a:lnSpc>
              <a:buNone/>
            </a:pPr>
            <a:r>
              <a:rPr lang="en-US" sz="600" spc="24" kern="0" dirty="0">
                <a:solidFill>
                  <a:srgbClr val="0E7490"/>
                </a:solidFill>
                <a:latin typeface="Courier New" pitchFamily="34" charset="0"/>
                <a:ea typeface="Courier New" pitchFamily="34" charset="-122"/>
                <a:cs typeface="Courier New" pitchFamily="34" charset="-120"/>
              </a:rPr>
              <a:t>Modified files only · MD5 hash compare</a:t>
            </a:r>
            <a:endParaRPr lang="en-US" sz="600" dirty="0"/>
          </a:p>
        </p:txBody>
      </p:sp>
      <p:sp>
        <p:nvSpPr>
          <p:cNvPr id="54" name="Text 50"/>
          <p:cNvSpPr/>
          <p:nvPr/>
        </p:nvSpPr>
        <p:spPr>
          <a:xfrm>
            <a:off x="4629150" y="2213781"/>
            <a:ext cx="4114800" cy="2529669"/>
          </a:xfrm>
          <a:prstGeom prst="roundRect">
            <a:avLst>
              <a:gd name="adj" fmla="val 3765"/>
            </a:avLst>
          </a:prstGeom>
          <a:solidFill>
            <a:srgbClr val="FFFFFF"/>
          </a:solidFill>
          <a:ln/>
        </p:spPr>
        <p:txBody>
          <a:bodyPr wrap="square" rtlCol="0" anchor="ctr"/>
          <a:lstStyle/>
          <a:p>
            <a:pPr indent="0" marL="0">
              <a:buNone/>
            </a:pPr>
            <a:endParaRPr lang="en-US" dirty="0"/>
          </a:p>
        </p:txBody>
      </p:sp>
      <p:sp>
        <p:nvSpPr>
          <p:cNvPr id="55" name="Shape 51"/>
          <p:cNvSpPr/>
          <p:nvPr/>
        </p:nvSpPr>
        <p:spPr>
          <a:xfrm>
            <a:off x="4629150" y="2217353"/>
            <a:ext cx="4114800" cy="0"/>
          </a:xfrm>
          <a:prstGeom prst="line">
            <a:avLst/>
          </a:prstGeom>
          <a:noFill/>
          <a:ln w="7144">
            <a:solidFill>
              <a:srgbClr val="0F172A"/>
            </a:solidFill>
            <a:prstDash val="solid"/>
          </a:ln>
        </p:spPr>
      </p:sp>
      <p:sp>
        <p:nvSpPr>
          <p:cNvPr id="56" name="Shape 52"/>
          <p:cNvSpPr/>
          <p:nvPr/>
        </p:nvSpPr>
        <p:spPr>
          <a:xfrm>
            <a:off x="8740378" y="2213781"/>
            <a:ext cx="0" cy="2529669"/>
          </a:xfrm>
          <a:prstGeom prst="line">
            <a:avLst/>
          </a:prstGeom>
          <a:noFill/>
          <a:ln w="7144">
            <a:solidFill>
              <a:srgbClr val="0F172A"/>
            </a:solidFill>
            <a:prstDash val="solid"/>
          </a:ln>
        </p:spPr>
      </p:sp>
      <p:sp>
        <p:nvSpPr>
          <p:cNvPr id="57" name="Shape 53"/>
          <p:cNvSpPr/>
          <p:nvPr/>
        </p:nvSpPr>
        <p:spPr>
          <a:xfrm>
            <a:off x="4629150" y="4739878"/>
            <a:ext cx="4114800" cy="0"/>
          </a:xfrm>
          <a:prstGeom prst="line">
            <a:avLst/>
          </a:prstGeom>
          <a:noFill/>
          <a:ln w="7144">
            <a:solidFill>
              <a:srgbClr val="0F172A"/>
            </a:solidFill>
            <a:prstDash val="solid"/>
          </a:ln>
        </p:spPr>
      </p:sp>
      <p:sp>
        <p:nvSpPr>
          <p:cNvPr id="58" name="Shape 54"/>
          <p:cNvSpPr/>
          <p:nvPr/>
        </p:nvSpPr>
        <p:spPr>
          <a:xfrm>
            <a:off x="4639866" y="2213781"/>
            <a:ext cx="0" cy="2529669"/>
          </a:xfrm>
          <a:prstGeom prst="line">
            <a:avLst/>
          </a:prstGeom>
          <a:noFill/>
          <a:ln w="21431">
            <a:solidFill>
              <a:srgbClr val="0E7490"/>
            </a:solidFill>
            <a:prstDash val="solid"/>
          </a:ln>
        </p:spPr>
      </p:sp>
      <p:sp>
        <p:nvSpPr>
          <p:cNvPr id="59" name="Text 55"/>
          <p:cNvSpPr/>
          <p:nvPr/>
        </p:nvSpPr>
        <p:spPr>
          <a:xfrm>
            <a:off x="4779169" y="2335225"/>
            <a:ext cx="114300" cy="114300"/>
          </a:xfrm>
          <a:prstGeom prst="rect">
            <a:avLst/>
          </a:prstGeom>
          <a:noFill/>
          <a:ln/>
        </p:spPr>
        <p:txBody>
          <a:bodyPr wrap="none" lIns="0" tIns="0" rIns="0" bIns="0" rtlCol="0" anchor="ctr"/>
          <a:lstStyle/>
          <a:p>
            <a:pPr algn="ctr" indent="0" marL="0">
              <a:buNone/>
            </a:pPr>
            <a:r>
              <a:rPr lang="en-US" sz="1125" dirty="0">
                <a:solidFill>
                  <a:srgbClr val="0E7490"/>
                </a:solidFill>
                <a:latin typeface="Segoe UI Symbol" pitchFamily="34" charset="0"/>
                <a:ea typeface="Segoe UI Symbol" pitchFamily="34" charset="-122"/>
                <a:cs typeface="Segoe UI Symbol" pitchFamily="34" charset="-120"/>
              </a:rPr>
              <a:t>◫</a:t>
            </a:r>
            <a:endParaRPr lang="en-US" sz="1125" dirty="0"/>
          </a:p>
        </p:txBody>
      </p:sp>
      <p:sp>
        <p:nvSpPr>
          <p:cNvPr id="60" name="Text 56"/>
          <p:cNvSpPr/>
          <p:nvPr/>
        </p:nvSpPr>
        <p:spPr>
          <a:xfrm>
            <a:off x="4950619" y="2337011"/>
            <a:ext cx="3657600" cy="170078"/>
          </a:xfrm>
          <a:prstGeom prst="rect">
            <a:avLst/>
          </a:prstGeom>
          <a:noFill/>
          <a:ln/>
        </p:spPr>
        <p:txBody>
          <a:bodyPr wrap="none" lIns="0" tIns="0" rIns="0" bIns="0" rtlCol="0" anchor="t"/>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PYTORCH OPTIMIZATION</a:t>
            </a:r>
            <a:endParaRPr lang="en-US" sz="800" dirty="0"/>
          </a:p>
        </p:txBody>
      </p:sp>
      <p:sp>
        <p:nvSpPr>
          <p:cNvPr id="61" name="Text 57"/>
          <p:cNvSpPr/>
          <p:nvPr/>
        </p:nvSpPr>
        <p:spPr>
          <a:xfrm>
            <a:off x="4779169" y="2506675"/>
            <a:ext cx="3829050" cy="489932"/>
          </a:xfrm>
          <a:prstGeom prst="rect">
            <a:avLst/>
          </a:prstGeom>
          <a:noFill/>
          <a:ln/>
        </p:spPr>
        <p:txBody>
          <a:bodyPr wrap="square" lIns="0" tIns="0" rIns="0" bIns="0" rtlCol="0" anchor="t">
            <a:normAutofit/>
          </a:bodyPr>
          <a:lstStyle/>
          <a:p>
            <a:pPr algn="l" indent="0" marL="0">
              <a:lnSpc>
                <a:spcPts val="1133"/>
              </a:lnSpc>
              <a:buNone/>
            </a:pPr>
            <a:r>
              <a:rPr lang="en-US" sz="800" dirty="0">
                <a:solidFill>
                  <a:srgbClr val="475569"/>
                </a:solidFill>
                <a:latin typeface="Carlito" pitchFamily="34" charset="0"/>
                <a:ea typeface="Carlito" pitchFamily="34" charset="-122"/>
                <a:cs typeface="Carlito" pitchFamily="34" charset="-120"/>
              </a:rPr>
              <a:t>CPU-only PyTorch wheel (~180 MB vs ~3 GB CUDA) enables seamless deployment on lightweight cloud tiers — Streamlit Community Cloud free tier runs the full pipeline without GPU.</a:t>
            </a:r>
            <a:endParaRPr lang="en-US" sz="800" dirty="0"/>
          </a:p>
        </p:txBody>
      </p:sp>
      <p:sp>
        <p:nvSpPr>
          <p:cNvPr id="62" name="Text 58"/>
          <p:cNvSpPr/>
          <p:nvPr/>
        </p:nvSpPr>
        <p:spPr>
          <a:xfrm>
            <a:off x="4779169" y="3029508"/>
            <a:ext cx="3461147" cy="17007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CUDA WHEEL</a:t>
            </a:r>
            <a:endParaRPr lang="en-US" sz="800" dirty="0"/>
          </a:p>
        </p:txBody>
      </p:sp>
      <p:sp>
        <p:nvSpPr>
          <p:cNvPr id="63" name="Text 59"/>
          <p:cNvSpPr/>
          <p:nvPr/>
        </p:nvSpPr>
        <p:spPr>
          <a:xfrm>
            <a:off x="8190481" y="3024039"/>
            <a:ext cx="481860" cy="170047"/>
          </a:xfrm>
          <a:prstGeom prst="rect">
            <a:avLst/>
          </a:prstGeom>
          <a:noFill/>
          <a:ln/>
        </p:spPr>
        <p:txBody>
          <a:bodyPr wrap="none" lIns="0" tIns="0" rIns="0" bIns="0" rtlCol="0" anchor="t"/>
          <a:lstStyle/>
          <a:p>
            <a:pPr algn="l" indent="0" marL="0">
              <a:lnSpc>
                <a:spcPts val="959"/>
              </a:lnSpc>
              <a:buNone/>
            </a:pPr>
            <a:r>
              <a:rPr lang="en-US" sz="619" dirty="0">
                <a:solidFill>
                  <a:srgbClr val="B91C1C"/>
                </a:solidFill>
                <a:latin typeface="Liberation Sans Narrow" pitchFamily="34" charset="0"/>
                <a:ea typeface="Liberation Sans Narrow" pitchFamily="34" charset="-122"/>
                <a:cs typeface="Liberation Sans Narrow" pitchFamily="34" charset="-120"/>
              </a:rPr>
              <a:t>~3,000 MB</a:t>
            </a:r>
            <a:endParaRPr lang="en-US" sz="619" dirty="0"/>
          </a:p>
        </p:txBody>
      </p:sp>
      <p:sp>
        <p:nvSpPr>
          <p:cNvPr id="64" name="Text 60"/>
          <p:cNvSpPr/>
          <p:nvPr/>
        </p:nvSpPr>
        <p:spPr>
          <a:xfrm>
            <a:off x="4782741" y="3177964"/>
            <a:ext cx="3821906" cy="50006"/>
          </a:xfrm>
          <a:prstGeom prst="roundRect">
            <a:avLst>
              <a:gd name="adj" fmla="val 19028667"/>
            </a:avLst>
          </a:prstGeom>
          <a:solidFill>
            <a:srgbClr val="F87171">
              <a:alpha val="16000"/>
            </a:srgbClr>
          </a:solidFill>
          <a:ln w="7144">
            <a:solidFill>
              <a:srgbClr val="F87171"/>
            </a:solidFill>
            <a:prstDash val="solid"/>
          </a:ln>
        </p:spPr>
        <p:txBody>
          <a:bodyPr wrap="square" rtlCol="0" anchor="ctr"/>
          <a:lstStyle/>
          <a:p>
            <a:pPr indent="0" marL="0">
              <a:buNone/>
            </a:pPr>
            <a:endParaRPr lang="en-US" dirty="0"/>
          </a:p>
        </p:txBody>
      </p:sp>
      <p:pic>
        <p:nvPicPr>
          <p:cNvPr id="65" name="Image 2" descr="preencoded.png">    </p:cNvPr>
          <p:cNvPicPr>
            <a:picLocks noChangeAspect="1"/>
          </p:cNvPicPr>
          <p:nvPr/>
        </p:nvPicPr>
        <p:blipFill>
          <a:blip r:embed="rId3"/>
          <a:stretch>
            <a:fillRect/>
          </a:stretch>
        </p:blipFill>
        <p:spPr>
          <a:xfrm>
            <a:off x="4786313" y="3181536"/>
            <a:ext cx="3814763" cy="42863"/>
          </a:xfrm>
          <a:prstGeom prst="rect">
            <a:avLst/>
          </a:prstGeom>
        </p:spPr>
      </p:pic>
      <p:sp>
        <p:nvSpPr>
          <p:cNvPr id="66" name="Text 61"/>
          <p:cNvSpPr/>
          <p:nvPr/>
        </p:nvSpPr>
        <p:spPr>
          <a:xfrm>
            <a:off x="4779169" y="3308449"/>
            <a:ext cx="3539728" cy="17007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CPU-ONLY WHEEL</a:t>
            </a:r>
            <a:endParaRPr lang="en-US" sz="800" dirty="0"/>
          </a:p>
        </p:txBody>
      </p:sp>
      <p:sp>
        <p:nvSpPr>
          <p:cNvPr id="67" name="Text 62"/>
          <p:cNvSpPr/>
          <p:nvPr/>
        </p:nvSpPr>
        <p:spPr>
          <a:xfrm>
            <a:off x="8279380" y="3302980"/>
            <a:ext cx="382644" cy="170047"/>
          </a:xfrm>
          <a:prstGeom prst="rect">
            <a:avLst/>
          </a:prstGeom>
          <a:noFill/>
          <a:ln/>
        </p:spPr>
        <p:txBody>
          <a:bodyPr wrap="none" lIns="0" tIns="0" rIns="0" bIns="0" rtlCol="0" anchor="t"/>
          <a:lstStyle/>
          <a:p>
            <a:pPr algn="l" indent="0" marL="0">
              <a:lnSpc>
                <a:spcPts val="959"/>
              </a:lnSpc>
              <a:buNone/>
            </a:pPr>
            <a:r>
              <a:rPr lang="en-US" sz="619" dirty="0">
                <a:solidFill>
                  <a:srgbClr val="15803D"/>
                </a:solidFill>
                <a:latin typeface="Liberation Sans Narrow" pitchFamily="34" charset="0"/>
                <a:ea typeface="Liberation Sans Narrow" pitchFamily="34" charset="-122"/>
                <a:cs typeface="Liberation Sans Narrow" pitchFamily="34" charset="-120"/>
              </a:rPr>
              <a:t>~180 MB</a:t>
            </a:r>
            <a:endParaRPr lang="en-US" sz="619" dirty="0"/>
          </a:p>
        </p:txBody>
      </p:sp>
      <p:sp>
        <p:nvSpPr>
          <p:cNvPr id="68" name="Text 63"/>
          <p:cNvSpPr/>
          <p:nvPr/>
        </p:nvSpPr>
        <p:spPr>
          <a:xfrm>
            <a:off x="4782741" y="3456905"/>
            <a:ext cx="3821906" cy="50006"/>
          </a:xfrm>
          <a:prstGeom prst="roundRect">
            <a:avLst>
              <a:gd name="adj" fmla="val 19028667"/>
            </a:avLst>
          </a:prstGeom>
          <a:solidFill>
            <a:srgbClr val="10B981">
              <a:alpha val="16000"/>
            </a:srgbClr>
          </a:solidFill>
          <a:ln w="7144">
            <a:solidFill>
              <a:srgbClr val="10B981"/>
            </a:solidFill>
            <a:prstDash val="solid"/>
          </a:ln>
        </p:spPr>
        <p:txBody>
          <a:bodyPr wrap="square" rtlCol="0" anchor="ctr"/>
          <a:lstStyle/>
          <a:p>
            <a:pPr indent="0" marL="0">
              <a:buNone/>
            </a:pPr>
            <a:endParaRPr lang="en-US" dirty="0"/>
          </a:p>
        </p:txBody>
      </p:sp>
      <p:pic>
        <p:nvPicPr>
          <p:cNvPr id="69" name="Image 3" descr="preencoded.png">    </p:cNvPr>
          <p:cNvPicPr>
            <a:picLocks noChangeAspect="1"/>
          </p:cNvPicPr>
          <p:nvPr/>
        </p:nvPicPr>
        <p:blipFill>
          <a:blip r:embed="rId4"/>
          <a:stretch>
            <a:fillRect/>
          </a:stretch>
        </p:blipFill>
        <p:spPr>
          <a:xfrm>
            <a:off x="4786313" y="3460477"/>
            <a:ext cx="228823" cy="42863"/>
          </a:xfrm>
          <a:prstGeom prst="rect">
            <a:avLst/>
          </a:prstGeom>
        </p:spPr>
      </p:pic>
      <p:sp>
        <p:nvSpPr>
          <p:cNvPr id="70" name="Text 64"/>
          <p:cNvSpPr/>
          <p:nvPr/>
        </p:nvSpPr>
        <p:spPr>
          <a:xfrm>
            <a:off x="4779169" y="3584615"/>
            <a:ext cx="459767" cy="216402"/>
          </a:xfrm>
          <a:prstGeom prst="roundRect">
            <a:avLst>
              <a:gd name="adj" fmla="val 4397129"/>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71" name="Text 65"/>
          <p:cNvSpPr/>
          <p:nvPr/>
        </p:nvSpPr>
        <p:spPr>
          <a:xfrm>
            <a:off x="4761687" y="3596208"/>
            <a:ext cx="494731" cy="193216"/>
          </a:xfrm>
          <a:prstGeom prst="rect">
            <a:avLst/>
          </a:prstGeom>
          <a:noFill/>
          <a:ln/>
        </p:spPr>
        <p:txBody>
          <a:bodyPr wrap="none" lIns="0" tIns="0" rIns="0" bIns="0" rtlCol="0" anchor="ctr"/>
          <a:lstStyle/>
          <a:p>
            <a:pPr algn="ctr" indent="0" marL="0">
              <a:lnSpc>
                <a:spcPts val="959"/>
              </a:lnSpc>
              <a:buNone/>
            </a:pPr>
            <a:r>
              <a:rPr lang="en-US" sz="800" spc="31" kern="0" dirty="0">
                <a:solidFill>
                  <a:srgbClr val="0E7490"/>
                </a:solidFill>
                <a:latin typeface="Liberation Sans Narrow" pitchFamily="34" charset="0"/>
                <a:ea typeface="Liberation Sans Narrow" pitchFamily="34" charset="-122"/>
                <a:cs typeface="Liberation Sans Narrow" pitchFamily="34" charset="-120"/>
              </a:rPr>
              <a:t>~180 MB</a:t>
            </a:r>
            <a:endParaRPr lang="en-US" sz="800" dirty="0"/>
          </a:p>
        </p:txBody>
      </p:sp>
      <p:sp>
        <p:nvSpPr>
          <p:cNvPr id="72" name="Text 66"/>
          <p:cNvSpPr/>
          <p:nvPr/>
        </p:nvSpPr>
        <p:spPr>
          <a:xfrm>
            <a:off x="5296086" y="3584615"/>
            <a:ext cx="243669" cy="216402"/>
          </a:xfrm>
          <a:prstGeom prst="roundRect">
            <a:avLst>
              <a:gd name="adj" fmla="val 4397129"/>
            </a:avLst>
          </a:prstGeom>
          <a:noFill/>
          <a:ln w="7144">
            <a:solidFill>
              <a:srgbClr val="0F172A"/>
            </a:solidFill>
            <a:prstDash val="solid"/>
          </a:ln>
        </p:spPr>
        <p:txBody>
          <a:bodyPr wrap="square" rtlCol="0" anchor="ctr"/>
          <a:lstStyle/>
          <a:p>
            <a:pPr indent="0" marL="0">
              <a:buNone/>
            </a:pPr>
            <a:endParaRPr lang="en-US" dirty="0"/>
          </a:p>
        </p:txBody>
      </p:sp>
      <p:sp>
        <p:nvSpPr>
          <p:cNvPr id="73" name="Text 67"/>
          <p:cNvSpPr/>
          <p:nvPr/>
        </p:nvSpPr>
        <p:spPr>
          <a:xfrm>
            <a:off x="5296086" y="3596208"/>
            <a:ext cx="243669" cy="193216"/>
          </a:xfrm>
          <a:prstGeom prst="rect">
            <a:avLst/>
          </a:prstGeom>
          <a:noFill/>
          <a:ln/>
        </p:spPr>
        <p:txBody>
          <a:bodyPr wrap="none" lIns="0" tIns="0" rIns="0" bIns="0" rtlCol="0" anchor="ctr"/>
          <a:lstStyle/>
          <a:p>
            <a:pPr algn="ctr" indent="0" marL="0">
              <a:lnSpc>
                <a:spcPts val="959"/>
              </a:lnSpc>
              <a:buNone/>
            </a:pPr>
            <a:r>
              <a:rPr lang="en-US" sz="800" spc="31" kern="0" dirty="0">
                <a:solidFill>
                  <a:srgbClr val="64748B"/>
                </a:solidFill>
                <a:latin typeface="Courier New" pitchFamily="34" charset="0"/>
                <a:ea typeface="Courier New" pitchFamily="34" charset="-122"/>
                <a:cs typeface="Courier New" pitchFamily="34" charset="-120"/>
              </a:rPr>
              <a:t>vs</a:t>
            </a:r>
            <a:endParaRPr lang="en-US" sz="800" dirty="0"/>
          </a:p>
        </p:txBody>
      </p:sp>
      <p:sp>
        <p:nvSpPr>
          <p:cNvPr id="74" name="Text 68"/>
          <p:cNvSpPr/>
          <p:nvPr/>
        </p:nvSpPr>
        <p:spPr>
          <a:xfrm>
            <a:off x="5596905" y="3584615"/>
            <a:ext cx="589359" cy="216402"/>
          </a:xfrm>
          <a:prstGeom prst="roundRect">
            <a:avLst>
              <a:gd name="adj" fmla="val 4397129"/>
            </a:avLst>
          </a:prstGeom>
          <a:solidFill>
            <a:srgbClr val="F87171">
              <a:alpha val="10000"/>
            </a:srgbClr>
          </a:solidFill>
          <a:ln w="7144">
            <a:solidFill>
              <a:srgbClr val="F87171"/>
            </a:solidFill>
            <a:prstDash val="solid"/>
          </a:ln>
        </p:spPr>
        <p:txBody>
          <a:bodyPr wrap="square" rtlCol="0" anchor="ctr"/>
          <a:lstStyle/>
          <a:p>
            <a:pPr indent="0" marL="0">
              <a:buNone/>
            </a:pPr>
            <a:endParaRPr lang="en-US" dirty="0"/>
          </a:p>
        </p:txBody>
      </p:sp>
      <p:sp>
        <p:nvSpPr>
          <p:cNvPr id="75" name="Text 69"/>
          <p:cNvSpPr/>
          <p:nvPr/>
        </p:nvSpPr>
        <p:spPr>
          <a:xfrm>
            <a:off x="5553104" y="3596208"/>
            <a:ext cx="676961" cy="193216"/>
          </a:xfrm>
          <a:prstGeom prst="rect">
            <a:avLst/>
          </a:prstGeom>
          <a:noFill/>
          <a:ln/>
        </p:spPr>
        <p:txBody>
          <a:bodyPr wrap="none" lIns="0" tIns="0" rIns="0" bIns="0" rtlCol="0" anchor="ctr"/>
          <a:lstStyle/>
          <a:p>
            <a:pPr algn="ctr" indent="0" marL="0">
              <a:lnSpc>
                <a:spcPts val="959"/>
              </a:lnSpc>
              <a:buNone/>
            </a:pPr>
            <a:r>
              <a:rPr lang="en-US" sz="800" spc="31" kern="0" dirty="0">
                <a:solidFill>
                  <a:srgbClr val="B91C1C"/>
                </a:solidFill>
                <a:latin typeface="Liberation Sans Narrow" pitchFamily="34" charset="0"/>
                <a:ea typeface="Liberation Sans Narrow" pitchFamily="34" charset="-122"/>
                <a:cs typeface="Liberation Sans Narrow" pitchFamily="34" charset="-120"/>
              </a:rPr>
              <a:t>~3 GB CUDA</a:t>
            </a:r>
            <a:endParaRPr lang="en-US" sz="800" dirty="0"/>
          </a:p>
        </p:txBody>
      </p:sp>
      <p:sp>
        <p:nvSpPr>
          <p:cNvPr id="76" name="Text 70"/>
          <p:cNvSpPr/>
          <p:nvPr/>
        </p:nvSpPr>
        <p:spPr>
          <a:xfrm>
            <a:off x="6243414" y="3584615"/>
            <a:ext cx="767283" cy="216402"/>
          </a:xfrm>
          <a:prstGeom prst="roundRect">
            <a:avLst>
              <a:gd name="adj" fmla="val 4397129"/>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77" name="Text 71"/>
          <p:cNvSpPr/>
          <p:nvPr/>
        </p:nvSpPr>
        <p:spPr>
          <a:xfrm>
            <a:off x="6243414" y="3596208"/>
            <a:ext cx="767283" cy="193216"/>
          </a:xfrm>
          <a:prstGeom prst="rect">
            <a:avLst/>
          </a:prstGeom>
          <a:noFill/>
          <a:ln/>
        </p:spPr>
        <p:txBody>
          <a:bodyPr wrap="none" lIns="0" tIns="0" rIns="0" bIns="0" rtlCol="0" anchor="ctr"/>
          <a:lstStyle/>
          <a:p>
            <a:pPr algn="ctr" indent="0" marL="0">
              <a:lnSpc>
                <a:spcPts val="959"/>
              </a:lnSpc>
              <a:buNone/>
            </a:pPr>
            <a:r>
              <a:rPr lang="en-US" sz="800" spc="31" kern="0" dirty="0">
                <a:solidFill>
                  <a:srgbClr val="B45309"/>
                </a:solidFill>
                <a:latin typeface="Liberation Sans Narrow" pitchFamily="34" charset="0"/>
                <a:ea typeface="Liberation Sans Narrow" pitchFamily="34" charset="-122"/>
                <a:cs typeface="Liberation Sans Narrow" pitchFamily="34" charset="-120"/>
              </a:rPr>
              <a:t>−94% FOOTPRINT</a:t>
            </a:r>
            <a:endParaRPr lang="en-US" sz="800" dirty="0"/>
          </a:p>
        </p:txBody>
      </p:sp>
      <p:sp>
        <p:nvSpPr>
          <p:cNvPr id="78" name="Shape 72"/>
          <p:cNvSpPr/>
          <p:nvPr/>
        </p:nvSpPr>
        <p:spPr>
          <a:xfrm>
            <a:off x="400050" y="4829175"/>
            <a:ext cx="8343900" cy="0"/>
          </a:xfrm>
          <a:prstGeom prst="line">
            <a:avLst/>
          </a:prstGeom>
          <a:noFill/>
          <a:ln w="7144">
            <a:solidFill>
              <a:srgbClr val="0F172A"/>
            </a:solidFill>
            <a:prstDash val="solid"/>
          </a:ln>
        </p:spPr>
      </p:sp>
      <p:sp>
        <p:nvSpPr>
          <p:cNvPr id="79" name="Text 73"/>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80" name="Text 74"/>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13 / 18</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570924"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970462" y="157163"/>
            <a:ext cx="993465"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64748B"/>
                </a:solidFill>
                <a:latin typeface="Liberation Sans Narrow" pitchFamily="34" charset="0"/>
                <a:ea typeface="Liberation Sans Narrow" pitchFamily="34" charset="-122"/>
                <a:cs typeface="Liberation Sans Narrow" pitchFamily="34" charset="-120"/>
              </a:rPr>
              <a:t>13 / 16 · UI / UX</a:t>
            </a:r>
            <a:endParaRPr lang="en-US" sz="800" dirty="0"/>
          </a:p>
        </p:txBody>
      </p:sp>
      <p:sp>
        <p:nvSpPr>
          <p:cNvPr id="6" name="Text 2"/>
          <p:cNvSpPr/>
          <p:nvPr/>
        </p:nvSpPr>
        <p:spPr>
          <a:xfrm>
            <a:off x="400050" y="342900"/>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UI / UX DESIGN &amp; USER EXPERIENCE</a:t>
            </a:r>
            <a:endParaRPr lang="en-US" sz="800" dirty="0"/>
          </a:p>
        </p:txBody>
      </p:sp>
      <p:sp>
        <p:nvSpPr>
          <p:cNvPr id="7" name="Text 3"/>
          <p:cNvSpPr/>
          <p:nvPr/>
        </p:nvSpPr>
        <p:spPr>
          <a:xfrm>
            <a:off x="400050" y="510778"/>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Modern Enterprise Dark Glassmorphism Interface</a:t>
            </a:r>
            <a:endParaRPr lang="en-US" sz="1238" dirty="0"/>
          </a:p>
        </p:txBody>
      </p:sp>
      <p:sp>
        <p:nvSpPr>
          <p:cNvPr id="8" name="Text 4"/>
          <p:cNvSpPr/>
          <p:nvPr/>
        </p:nvSpPr>
        <p:spPr>
          <a:xfrm>
            <a:off x="400050" y="813606"/>
            <a:ext cx="4526235" cy="1476635"/>
          </a:xfrm>
          <a:prstGeom prst="roundRect">
            <a:avLst>
              <a:gd name="adj" fmla="val 6450"/>
            </a:avLst>
          </a:prstGeom>
          <a:solidFill>
            <a:srgbClr val="FFFFFF"/>
          </a:solidFill>
          <a:ln/>
        </p:spPr>
        <p:txBody>
          <a:bodyPr wrap="square" rtlCol="0" anchor="ctr"/>
          <a:lstStyle/>
          <a:p>
            <a:pPr indent="0" marL="0">
              <a:buNone/>
            </a:pPr>
            <a:endParaRPr lang="en-US" dirty="0"/>
          </a:p>
        </p:txBody>
      </p:sp>
      <p:sp>
        <p:nvSpPr>
          <p:cNvPr id="9" name="Shape 5"/>
          <p:cNvSpPr/>
          <p:nvPr/>
        </p:nvSpPr>
        <p:spPr>
          <a:xfrm>
            <a:off x="400050" y="817178"/>
            <a:ext cx="4526235" cy="0"/>
          </a:xfrm>
          <a:prstGeom prst="line">
            <a:avLst/>
          </a:prstGeom>
          <a:noFill/>
          <a:ln w="7144">
            <a:solidFill>
              <a:srgbClr val="0F172A"/>
            </a:solidFill>
            <a:prstDash val="solid"/>
          </a:ln>
        </p:spPr>
      </p:sp>
      <p:sp>
        <p:nvSpPr>
          <p:cNvPr id="10" name="Shape 6"/>
          <p:cNvSpPr/>
          <p:nvPr/>
        </p:nvSpPr>
        <p:spPr>
          <a:xfrm>
            <a:off x="4922713" y="813606"/>
            <a:ext cx="0" cy="1476635"/>
          </a:xfrm>
          <a:prstGeom prst="line">
            <a:avLst/>
          </a:prstGeom>
          <a:noFill/>
          <a:ln w="7144">
            <a:solidFill>
              <a:srgbClr val="0F172A"/>
            </a:solidFill>
            <a:prstDash val="solid"/>
          </a:ln>
        </p:spPr>
      </p:sp>
      <p:sp>
        <p:nvSpPr>
          <p:cNvPr id="11" name="Shape 7"/>
          <p:cNvSpPr/>
          <p:nvPr/>
        </p:nvSpPr>
        <p:spPr>
          <a:xfrm>
            <a:off x="400050" y="2286670"/>
            <a:ext cx="4526235" cy="0"/>
          </a:xfrm>
          <a:prstGeom prst="line">
            <a:avLst/>
          </a:prstGeom>
          <a:noFill/>
          <a:ln w="7144">
            <a:solidFill>
              <a:srgbClr val="0F172A"/>
            </a:solidFill>
            <a:prstDash val="solid"/>
          </a:ln>
        </p:spPr>
      </p:sp>
      <p:sp>
        <p:nvSpPr>
          <p:cNvPr id="12" name="Shape 8"/>
          <p:cNvSpPr/>
          <p:nvPr/>
        </p:nvSpPr>
        <p:spPr>
          <a:xfrm>
            <a:off x="410766" y="813606"/>
            <a:ext cx="0" cy="1476635"/>
          </a:xfrm>
          <a:prstGeom prst="line">
            <a:avLst/>
          </a:prstGeom>
          <a:noFill/>
          <a:ln w="21431">
            <a:solidFill>
              <a:srgbClr val="0E7490"/>
            </a:solidFill>
            <a:prstDash val="solid"/>
          </a:ln>
        </p:spPr>
      </p:sp>
      <p:sp>
        <p:nvSpPr>
          <p:cNvPr id="13" name="Text 9"/>
          <p:cNvSpPr/>
          <p:nvPr/>
        </p:nvSpPr>
        <p:spPr>
          <a:xfrm>
            <a:off x="553641" y="938622"/>
            <a:ext cx="250031" cy="250031"/>
          </a:xfrm>
          <a:prstGeom prst="roundRect">
            <a:avLst>
              <a:gd name="adj" fmla="val 30476"/>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4" name="Text 10"/>
          <p:cNvSpPr/>
          <p:nvPr/>
        </p:nvSpPr>
        <p:spPr>
          <a:xfrm>
            <a:off x="585430" y="970411"/>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15" name="Text 11"/>
          <p:cNvSpPr/>
          <p:nvPr/>
        </p:nvSpPr>
        <p:spPr>
          <a:xfrm>
            <a:off x="864394" y="986172"/>
            <a:ext cx="3926160" cy="169980"/>
          </a:xfrm>
          <a:prstGeom prst="rect">
            <a:avLst/>
          </a:prstGeom>
          <a:noFill/>
          <a:ln/>
        </p:spPr>
        <p:txBody>
          <a:bodyPr wrap="none" lIns="0" tIns="0" rIns="0" bIns="0" rtlCol="0" anchor="t"/>
          <a:lstStyle/>
          <a:p>
            <a:pPr algn="l" indent="0" marL="0">
              <a:lnSpc>
                <a:spcPts val="1221"/>
              </a:lnSpc>
              <a:buNone/>
            </a:pPr>
            <a:r>
              <a:rPr lang="en-US" sz="800" spc="47" kern="0" dirty="0">
                <a:solidFill>
                  <a:srgbClr val="0F172A"/>
                </a:solidFill>
                <a:latin typeface="Carlito" pitchFamily="34" charset="0"/>
                <a:ea typeface="Carlito" pitchFamily="34" charset="-122"/>
                <a:cs typeface="Carlito" pitchFamily="34" charset="-120"/>
              </a:rPr>
              <a:t>VISUAL DESIGN SYSTEM</a:t>
            </a:r>
            <a:endParaRPr lang="en-US" sz="800" dirty="0"/>
          </a:p>
        </p:txBody>
      </p:sp>
      <p:sp>
        <p:nvSpPr>
          <p:cNvPr id="16" name="Text 12"/>
          <p:cNvSpPr/>
          <p:nvPr/>
        </p:nvSpPr>
        <p:spPr>
          <a:xfrm>
            <a:off x="550069" y="1277950"/>
            <a:ext cx="4240485" cy="944299"/>
          </a:xfrm>
          <a:prstGeom prst="rect">
            <a:avLst/>
          </a:prstGeom>
          <a:noFill/>
          <a:ln/>
        </p:spPr>
        <p:txBody>
          <a:bodyPr wrap="square" lIns="0" tIns="0" rIns="0" bIns="0" rtlCol="0" anchor="t"/>
          <a:lstStyle/>
          <a:p>
            <a:pPr algn="l" marL="342900" indent="-342900">
              <a:lnSpc>
                <a:spcPts val="1133"/>
              </a:lnSpc>
              <a:buSzPct val="100000"/>
              <a:buChar char="•"/>
            </a:pPr>
            <a:r>
              <a:rPr lang="en-US" sz="800" dirty="0">
                <a:solidFill>
                  <a:srgbClr val="475569"/>
                </a:solidFill>
                <a:latin typeface="Carlito" pitchFamily="34" charset="0"/>
                <a:ea typeface="Carlito" pitchFamily="34" charset="-122"/>
                <a:cs typeface="Carlito" pitchFamily="34" charset="-120"/>
              </a:rPr>
              <a:t>Tailored CSS (static/style.css) with institutional J&amp;K Government color palettes and Polytechnic branding</a:t>
            </a:r>
            <a:endParaRPr lang="en-US" sz="800" dirty="0"/>
          </a:p>
          <a:p>
            <a:pPr algn="l" marL="342900" indent="-342900">
              <a:lnSpc>
                <a:spcPts val="1133"/>
              </a:lnSpc>
              <a:buSzPct val="100000"/>
              <a:buChar char="•"/>
            </a:pPr>
            <a:r>
              <a:rPr lang="en-US" sz="800" dirty="0">
                <a:solidFill>
                  <a:srgbClr val="475569"/>
                </a:solidFill>
                <a:latin typeface="Carlito" pitchFamily="34" charset="0"/>
                <a:ea typeface="Carlito" pitchFamily="34" charset="-122"/>
                <a:cs typeface="Carlito" pitchFamily="34" charset="-120"/>
              </a:rPr>
              <a:t>Subtle blur backdrops and glowing status badges</a:t>
            </a:r>
            <a:endParaRPr lang="en-US" sz="800" dirty="0"/>
          </a:p>
          <a:p>
            <a:pPr algn="l" marL="342900" indent="-342900">
              <a:lnSpc>
                <a:spcPts val="1133"/>
              </a:lnSpc>
              <a:buSzPct val="100000"/>
              <a:buChar char="•"/>
            </a:pPr>
            <a:r>
              <a:rPr lang="en-US" sz="800" dirty="0">
                <a:solidFill>
                  <a:srgbClr val="475569"/>
                </a:solidFill>
                <a:latin typeface="Carlito" pitchFamily="34" charset="0"/>
                <a:ea typeface="Carlito" pitchFamily="34" charset="-122"/>
                <a:cs typeface="Carlito" pitchFamily="34" charset="-120"/>
              </a:rPr>
              <a:t>Responsive modern typography (Inter + Space Grotesk)</a:t>
            </a:r>
            <a:endParaRPr lang="en-US" sz="800" dirty="0"/>
          </a:p>
          <a:p>
            <a:pPr algn="l" marL="342900" indent="-342900">
              <a:lnSpc>
                <a:spcPts val="1133"/>
              </a:lnSpc>
              <a:buSzPct val="100000"/>
              <a:buChar char="•"/>
            </a:pPr>
            <a:r>
              <a:rPr lang="en-US" sz="800" dirty="0">
                <a:solidFill>
                  <a:srgbClr val="475569"/>
                </a:solidFill>
                <a:latin typeface="Carlito" pitchFamily="34" charset="0"/>
                <a:ea typeface="Carlito" pitchFamily="34" charset="-122"/>
                <a:cs typeface="Carlito" pitchFamily="34" charset="-120"/>
              </a:rPr>
              <a:t>Dark glassmorphism matches enterprise SaaS aesthetic</a:t>
            </a:r>
            <a:endParaRPr lang="en-US" sz="800" dirty="0"/>
          </a:p>
        </p:txBody>
      </p:sp>
      <p:sp>
        <p:nvSpPr>
          <p:cNvPr id="17" name="Text 13"/>
          <p:cNvSpPr/>
          <p:nvPr/>
        </p:nvSpPr>
        <p:spPr>
          <a:xfrm>
            <a:off x="400050" y="2404542"/>
            <a:ext cx="4526235" cy="2338908"/>
          </a:xfrm>
          <a:prstGeom prst="roundRect">
            <a:avLst>
              <a:gd name="adj" fmla="val 4072"/>
            </a:avLst>
          </a:prstGeom>
          <a:solidFill>
            <a:srgbClr val="FFFFFF"/>
          </a:solidFill>
          <a:ln/>
        </p:spPr>
        <p:txBody>
          <a:bodyPr wrap="square" rtlCol="0" anchor="ctr"/>
          <a:lstStyle/>
          <a:p>
            <a:pPr indent="0" marL="0">
              <a:buNone/>
            </a:pPr>
            <a:endParaRPr lang="en-US" dirty="0"/>
          </a:p>
        </p:txBody>
      </p:sp>
      <p:sp>
        <p:nvSpPr>
          <p:cNvPr id="18" name="Shape 14"/>
          <p:cNvSpPr/>
          <p:nvPr/>
        </p:nvSpPr>
        <p:spPr>
          <a:xfrm>
            <a:off x="400050" y="2408113"/>
            <a:ext cx="4526235" cy="0"/>
          </a:xfrm>
          <a:prstGeom prst="line">
            <a:avLst/>
          </a:prstGeom>
          <a:noFill/>
          <a:ln w="7144">
            <a:solidFill>
              <a:srgbClr val="0F172A"/>
            </a:solidFill>
            <a:prstDash val="solid"/>
          </a:ln>
        </p:spPr>
      </p:sp>
      <p:sp>
        <p:nvSpPr>
          <p:cNvPr id="19" name="Shape 15"/>
          <p:cNvSpPr/>
          <p:nvPr/>
        </p:nvSpPr>
        <p:spPr>
          <a:xfrm>
            <a:off x="4922713" y="2404542"/>
            <a:ext cx="0" cy="2338908"/>
          </a:xfrm>
          <a:prstGeom prst="line">
            <a:avLst/>
          </a:prstGeom>
          <a:noFill/>
          <a:ln w="7144">
            <a:solidFill>
              <a:srgbClr val="0F172A"/>
            </a:solidFill>
            <a:prstDash val="solid"/>
          </a:ln>
        </p:spPr>
      </p:sp>
      <p:sp>
        <p:nvSpPr>
          <p:cNvPr id="20" name="Shape 16"/>
          <p:cNvSpPr/>
          <p:nvPr/>
        </p:nvSpPr>
        <p:spPr>
          <a:xfrm>
            <a:off x="400050" y="4739878"/>
            <a:ext cx="4526235" cy="0"/>
          </a:xfrm>
          <a:prstGeom prst="line">
            <a:avLst/>
          </a:prstGeom>
          <a:noFill/>
          <a:ln w="7144">
            <a:solidFill>
              <a:srgbClr val="0F172A"/>
            </a:solidFill>
            <a:prstDash val="solid"/>
          </a:ln>
        </p:spPr>
      </p:sp>
      <p:sp>
        <p:nvSpPr>
          <p:cNvPr id="21" name="Shape 17"/>
          <p:cNvSpPr/>
          <p:nvPr/>
        </p:nvSpPr>
        <p:spPr>
          <a:xfrm>
            <a:off x="410766" y="2404542"/>
            <a:ext cx="0" cy="2338908"/>
          </a:xfrm>
          <a:prstGeom prst="line">
            <a:avLst/>
          </a:prstGeom>
          <a:noFill/>
          <a:ln w="21431">
            <a:solidFill>
              <a:srgbClr val="0E7490"/>
            </a:solidFill>
            <a:prstDash val="solid"/>
          </a:ln>
        </p:spPr>
      </p:sp>
      <p:sp>
        <p:nvSpPr>
          <p:cNvPr id="22" name="Text 18"/>
          <p:cNvSpPr/>
          <p:nvPr/>
        </p:nvSpPr>
        <p:spPr>
          <a:xfrm>
            <a:off x="553641" y="2529557"/>
            <a:ext cx="250031" cy="250031"/>
          </a:xfrm>
          <a:prstGeom prst="roundRect">
            <a:avLst>
              <a:gd name="adj" fmla="val 30476"/>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3" name="Text 19"/>
          <p:cNvSpPr/>
          <p:nvPr/>
        </p:nvSpPr>
        <p:spPr>
          <a:xfrm>
            <a:off x="585430" y="2561347"/>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24" name="Text 20"/>
          <p:cNvSpPr/>
          <p:nvPr/>
        </p:nvSpPr>
        <p:spPr>
          <a:xfrm>
            <a:off x="864394" y="2577108"/>
            <a:ext cx="3926160" cy="169980"/>
          </a:xfrm>
          <a:prstGeom prst="rect">
            <a:avLst/>
          </a:prstGeom>
          <a:noFill/>
          <a:ln/>
        </p:spPr>
        <p:txBody>
          <a:bodyPr wrap="none" lIns="0" tIns="0" rIns="0" bIns="0" rtlCol="0" anchor="t"/>
          <a:lstStyle/>
          <a:p>
            <a:pPr algn="l" indent="0" marL="0">
              <a:lnSpc>
                <a:spcPts val="1221"/>
              </a:lnSpc>
              <a:buNone/>
            </a:pPr>
            <a:r>
              <a:rPr lang="en-US" sz="800" spc="47" kern="0" dirty="0">
                <a:solidFill>
                  <a:srgbClr val="0F172A"/>
                </a:solidFill>
                <a:latin typeface="Carlito" pitchFamily="34" charset="0"/>
                <a:ea typeface="Carlito" pitchFamily="34" charset="-122"/>
                <a:cs typeface="Carlito" pitchFamily="34" charset="-120"/>
              </a:rPr>
              <a:t>PRODUCTIVITY &amp; ACCESSIBILITY FEATURES</a:t>
            </a:r>
            <a:endParaRPr lang="en-US" sz="800" dirty="0"/>
          </a:p>
        </p:txBody>
      </p:sp>
      <p:sp>
        <p:nvSpPr>
          <p:cNvPr id="25" name="Shape 21"/>
          <p:cNvSpPr/>
          <p:nvPr/>
        </p:nvSpPr>
        <p:spPr>
          <a:xfrm>
            <a:off x="550069" y="3258889"/>
            <a:ext cx="4240485" cy="0"/>
          </a:xfrm>
          <a:prstGeom prst="line">
            <a:avLst/>
          </a:prstGeom>
          <a:noFill/>
          <a:ln w="7144">
            <a:solidFill>
              <a:srgbClr val="0F172A"/>
            </a:solidFill>
            <a:prstDash val="dash"/>
          </a:ln>
        </p:spPr>
      </p:sp>
      <p:sp>
        <p:nvSpPr>
          <p:cNvPr id="26" name="Text 22"/>
          <p:cNvSpPr/>
          <p:nvPr/>
        </p:nvSpPr>
        <p:spPr>
          <a:xfrm>
            <a:off x="553641" y="2926035"/>
            <a:ext cx="250031" cy="250031"/>
          </a:xfrm>
          <a:prstGeom prst="roundRect">
            <a:avLst>
              <a:gd name="adj" fmla="val 30476"/>
            </a:avLst>
          </a:prstGeom>
          <a:noFill/>
          <a:ln w="7144">
            <a:solidFill>
              <a:srgbClr val="0E7490"/>
            </a:solidFill>
            <a:prstDash val="solid"/>
          </a:ln>
        </p:spPr>
        <p:txBody>
          <a:bodyPr wrap="square" rtlCol="0" anchor="ctr"/>
          <a:lstStyle/>
          <a:p>
            <a:pPr indent="0" marL="0">
              <a:buNone/>
            </a:pPr>
            <a:endParaRPr lang="en-US" dirty="0"/>
          </a:p>
        </p:txBody>
      </p:sp>
      <p:sp>
        <p:nvSpPr>
          <p:cNvPr id="27" name="Text 23"/>
          <p:cNvSpPr/>
          <p:nvPr/>
        </p:nvSpPr>
        <p:spPr>
          <a:xfrm>
            <a:off x="585430" y="2957825"/>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28" name="Text 24"/>
          <p:cNvSpPr/>
          <p:nvPr/>
        </p:nvSpPr>
        <p:spPr>
          <a:xfrm>
            <a:off x="892969" y="2922463"/>
            <a:ext cx="3897585" cy="119685"/>
          </a:xfrm>
          <a:prstGeom prst="rect">
            <a:avLst/>
          </a:prstGeom>
          <a:noFill/>
          <a:ln/>
        </p:spPr>
        <p:txBody>
          <a:bodyPr wrap="none" lIns="0" tIns="0" rIns="0" bIns="0" rtlCol="0" anchor="t">
            <a:normAutofit/>
          </a:bodyPr>
          <a:lstStyle/>
          <a:p>
            <a:pPr algn="l" indent="0" marL="0">
              <a:lnSpc>
                <a:spcPts val="1046"/>
              </a:lnSpc>
              <a:buNone/>
            </a:pPr>
            <a:r>
              <a:rPr lang="en-US" sz="800" b="1" spc="27" kern="0" dirty="0">
                <a:solidFill>
                  <a:srgbClr val="0F172A"/>
                </a:solidFill>
                <a:latin typeface="Carlito" pitchFamily="34" charset="0"/>
                <a:ea typeface="Carlito" pitchFamily="34" charset="-122"/>
                <a:cs typeface="Carlito" pitchFamily="34" charset="-120"/>
              </a:rPr>
              <a:t>SUGGESTION CHIPS</a:t>
            </a:r>
            <a:endParaRPr lang="en-US" sz="800" dirty="0"/>
          </a:p>
        </p:txBody>
      </p:sp>
      <p:sp>
        <p:nvSpPr>
          <p:cNvPr id="29" name="Text 25"/>
          <p:cNvSpPr/>
          <p:nvPr/>
        </p:nvSpPr>
        <p:spPr>
          <a:xfrm>
            <a:off x="892969" y="3069580"/>
            <a:ext cx="3897585" cy="128588"/>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Instant one-click queries for common administrative searches.</a:t>
            </a:r>
            <a:endParaRPr lang="en-US" sz="800" dirty="0"/>
          </a:p>
        </p:txBody>
      </p:sp>
      <p:sp>
        <p:nvSpPr>
          <p:cNvPr id="30" name="Shape 26"/>
          <p:cNvSpPr/>
          <p:nvPr/>
        </p:nvSpPr>
        <p:spPr>
          <a:xfrm>
            <a:off x="550069" y="3706155"/>
            <a:ext cx="4240485" cy="0"/>
          </a:xfrm>
          <a:prstGeom prst="line">
            <a:avLst/>
          </a:prstGeom>
          <a:noFill/>
          <a:ln w="7144">
            <a:solidFill>
              <a:srgbClr val="0F172A"/>
            </a:solidFill>
            <a:prstDash val="dash"/>
          </a:ln>
        </p:spPr>
      </p:sp>
      <p:sp>
        <p:nvSpPr>
          <p:cNvPr id="31" name="Text 27"/>
          <p:cNvSpPr/>
          <p:nvPr/>
        </p:nvSpPr>
        <p:spPr>
          <a:xfrm>
            <a:off x="553641" y="3373301"/>
            <a:ext cx="250031" cy="250031"/>
          </a:xfrm>
          <a:prstGeom prst="roundRect">
            <a:avLst>
              <a:gd name="adj" fmla="val 30476"/>
            </a:avLst>
          </a:prstGeom>
          <a:noFill/>
          <a:ln w="7144">
            <a:solidFill>
              <a:srgbClr val="0E7490"/>
            </a:solidFill>
            <a:prstDash val="solid"/>
          </a:ln>
        </p:spPr>
        <p:txBody>
          <a:bodyPr wrap="square" rtlCol="0" anchor="ctr"/>
          <a:lstStyle/>
          <a:p>
            <a:pPr indent="0" marL="0">
              <a:buNone/>
            </a:pPr>
            <a:endParaRPr lang="en-US" dirty="0"/>
          </a:p>
        </p:txBody>
      </p:sp>
      <p:sp>
        <p:nvSpPr>
          <p:cNvPr id="32" name="Text 28"/>
          <p:cNvSpPr/>
          <p:nvPr/>
        </p:nvSpPr>
        <p:spPr>
          <a:xfrm>
            <a:off x="585430" y="3405091"/>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33" name="Text 29"/>
          <p:cNvSpPr/>
          <p:nvPr/>
        </p:nvSpPr>
        <p:spPr>
          <a:xfrm>
            <a:off x="892969" y="3369729"/>
            <a:ext cx="3897585" cy="119685"/>
          </a:xfrm>
          <a:prstGeom prst="rect">
            <a:avLst/>
          </a:prstGeom>
          <a:noFill/>
          <a:ln/>
        </p:spPr>
        <p:txBody>
          <a:bodyPr wrap="none" lIns="0" tIns="0" rIns="0" bIns="0" rtlCol="0" anchor="t">
            <a:normAutofit/>
          </a:bodyPr>
          <a:lstStyle/>
          <a:p>
            <a:pPr algn="l" indent="0" marL="0">
              <a:lnSpc>
                <a:spcPts val="1046"/>
              </a:lnSpc>
              <a:buNone/>
            </a:pPr>
            <a:r>
              <a:rPr lang="en-US" sz="800" b="1" spc="27" kern="0" dirty="0">
                <a:solidFill>
                  <a:srgbClr val="0F172A"/>
                </a:solidFill>
                <a:latin typeface="Carlito" pitchFamily="34" charset="0"/>
                <a:ea typeface="Carlito" pitchFamily="34" charset="-122"/>
                <a:cs typeface="Carlito" pitchFamily="34" charset="-120"/>
              </a:rPr>
              <a:t>SYSTEM HEALTH PILL</a:t>
            </a:r>
            <a:endParaRPr lang="en-US" sz="800" dirty="0"/>
          </a:p>
        </p:txBody>
      </p:sp>
      <p:sp>
        <p:nvSpPr>
          <p:cNvPr id="34" name="Text 30"/>
          <p:cNvSpPr/>
          <p:nvPr/>
        </p:nvSpPr>
        <p:spPr>
          <a:xfrm>
            <a:off x="892969" y="3516846"/>
            <a:ext cx="3897585" cy="128588"/>
          </a:xfrm>
          <a:prstGeom prst="rect">
            <a:avLst/>
          </a:prstGeom>
          <a:noFill/>
          <a:ln/>
        </p:spPr>
        <p:txBody>
          <a:bodyPr wrap="square" lIns="0" tIns="0" rIns="0" bIns="0" rtlCol="0" anchor="t"/>
          <a:lstStyle/>
          <a:p>
            <a:pPr algn="l" indent="0" marL="0">
              <a:lnSpc>
                <a:spcPts val="1013"/>
              </a:lnSpc>
              <a:buNone/>
            </a:pPr>
            <a:r>
              <a:rPr lang="en-US" sz="675" dirty="0">
                <a:solidFill>
                  <a:srgbClr val="475569"/>
                </a:solidFill>
                <a:latin typeface="Carlito" pitchFamily="34" charset="0"/>
                <a:ea typeface="Carlito" pitchFamily="34" charset="-122"/>
                <a:cs typeface="Carlito" pitchFamily="34" charset="-120"/>
              </a:rPr>
              <a:t>Real-time visibility into active LLM backend, total indexed clauses, cache status.</a:t>
            </a:r>
            <a:endParaRPr lang="en-US" sz="675" dirty="0"/>
          </a:p>
        </p:txBody>
      </p:sp>
      <p:sp>
        <p:nvSpPr>
          <p:cNvPr id="35" name="Shape 31"/>
          <p:cNvSpPr/>
          <p:nvPr/>
        </p:nvSpPr>
        <p:spPr>
          <a:xfrm>
            <a:off x="550069" y="4153309"/>
            <a:ext cx="4240485" cy="0"/>
          </a:xfrm>
          <a:prstGeom prst="line">
            <a:avLst/>
          </a:prstGeom>
          <a:noFill/>
          <a:ln w="7144">
            <a:solidFill>
              <a:srgbClr val="0F172A"/>
            </a:solidFill>
            <a:prstDash val="dash"/>
          </a:ln>
        </p:spPr>
      </p:sp>
      <p:sp>
        <p:nvSpPr>
          <p:cNvPr id="36" name="Text 32"/>
          <p:cNvSpPr/>
          <p:nvPr/>
        </p:nvSpPr>
        <p:spPr>
          <a:xfrm>
            <a:off x="553641" y="3820455"/>
            <a:ext cx="250031" cy="250031"/>
          </a:xfrm>
          <a:prstGeom prst="roundRect">
            <a:avLst>
              <a:gd name="adj" fmla="val 30476"/>
            </a:avLst>
          </a:prstGeom>
          <a:noFill/>
          <a:ln w="7144">
            <a:solidFill>
              <a:srgbClr val="0E7490"/>
            </a:solidFill>
            <a:prstDash val="solid"/>
          </a:ln>
        </p:spPr>
        <p:txBody>
          <a:bodyPr wrap="square" rtlCol="0" anchor="ctr"/>
          <a:lstStyle/>
          <a:p>
            <a:pPr indent="0" marL="0">
              <a:buNone/>
            </a:pPr>
            <a:endParaRPr lang="en-US" dirty="0"/>
          </a:p>
        </p:txBody>
      </p:sp>
      <p:sp>
        <p:nvSpPr>
          <p:cNvPr id="37" name="Text 33"/>
          <p:cNvSpPr/>
          <p:nvPr/>
        </p:nvSpPr>
        <p:spPr>
          <a:xfrm>
            <a:off x="585430" y="3852245"/>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38" name="Text 34"/>
          <p:cNvSpPr/>
          <p:nvPr/>
        </p:nvSpPr>
        <p:spPr>
          <a:xfrm>
            <a:off x="892969" y="3816883"/>
            <a:ext cx="4007313" cy="119685"/>
          </a:xfrm>
          <a:prstGeom prst="rect">
            <a:avLst/>
          </a:prstGeom>
          <a:noFill/>
          <a:ln/>
        </p:spPr>
        <p:txBody>
          <a:bodyPr wrap="square" lIns="0" tIns="0" rIns="0" bIns="0" rtlCol="0" anchor="t">
            <a:normAutofit/>
          </a:bodyPr>
          <a:lstStyle/>
          <a:p>
            <a:pPr algn="l" indent="0" marL="0">
              <a:lnSpc>
                <a:spcPts val="1046"/>
              </a:lnSpc>
              <a:buNone/>
            </a:pPr>
            <a:r>
              <a:rPr lang="en-US" sz="800" b="1" spc="27" kern="0" dirty="0">
                <a:solidFill>
                  <a:srgbClr val="0F172A"/>
                </a:solidFill>
                <a:latin typeface="Carlito" pitchFamily="34" charset="0"/>
                <a:ea typeface="Carlito" pitchFamily="34" charset="-122"/>
                <a:cs typeface="Carlito" pitchFamily="34" charset="-120"/>
              </a:rPr>
              <a:t>COLLAPSIBLE SOURCE DRAWER</a:t>
            </a:r>
            <a:endParaRPr lang="en-US" sz="800" dirty="0"/>
          </a:p>
        </p:txBody>
      </p:sp>
      <p:sp>
        <p:nvSpPr>
          <p:cNvPr id="39" name="Text 35"/>
          <p:cNvSpPr/>
          <p:nvPr/>
        </p:nvSpPr>
        <p:spPr>
          <a:xfrm>
            <a:off x="892969" y="3964000"/>
            <a:ext cx="3897585" cy="128588"/>
          </a:xfrm>
          <a:prstGeom prst="rect">
            <a:avLst/>
          </a:prstGeom>
          <a:noFill/>
          <a:ln/>
        </p:spPr>
        <p:txBody>
          <a:bodyPr wrap="square" lIns="0" tIns="0" rIns="0" bIns="0" rtlCol="0" anchor="t"/>
          <a:lstStyle/>
          <a:p>
            <a:pPr algn="l" indent="0" marL="0">
              <a:lnSpc>
                <a:spcPts val="1013"/>
              </a:lnSpc>
              <a:buNone/>
            </a:pPr>
            <a:r>
              <a:rPr lang="en-US" sz="675" dirty="0">
                <a:solidFill>
                  <a:srgbClr val="475569"/>
                </a:solidFill>
                <a:latin typeface="Carlito" pitchFamily="34" charset="0"/>
                <a:ea typeface="Carlito" pitchFamily="34" charset="-122"/>
                <a:cs typeface="Carlito" pitchFamily="34" charset="-120"/>
              </a:rPr>
              <a:t>Displays chunk text, exact page numbers, Cross-Encoder relevance scores.</a:t>
            </a:r>
            <a:endParaRPr lang="en-US" sz="675" dirty="0"/>
          </a:p>
        </p:txBody>
      </p:sp>
      <p:sp>
        <p:nvSpPr>
          <p:cNvPr id="40" name="Text 36"/>
          <p:cNvSpPr/>
          <p:nvPr/>
        </p:nvSpPr>
        <p:spPr>
          <a:xfrm>
            <a:off x="553641" y="4267721"/>
            <a:ext cx="250031" cy="250031"/>
          </a:xfrm>
          <a:prstGeom prst="roundRect">
            <a:avLst>
              <a:gd name="adj" fmla="val 30476"/>
            </a:avLst>
          </a:prstGeom>
          <a:noFill/>
          <a:ln w="7144">
            <a:solidFill>
              <a:srgbClr val="0E7490"/>
            </a:solidFill>
            <a:prstDash val="solid"/>
          </a:ln>
        </p:spPr>
        <p:txBody>
          <a:bodyPr wrap="square" rtlCol="0" anchor="ctr"/>
          <a:lstStyle/>
          <a:p>
            <a:pPr indent="0" marL="0">
              <a:buNone/>
            </a:pPr>
            <a:endParaRPr lang="en-US" dirty="0"/>
          </a:p>
        </p:txBody>
      </p:sp>
      <p:sp>
        <p:nvSpPr>
          <p:cNvPr id="41" name="Text 37"/>
          <p:cNvSpPr/>
          <p:nvPr/>
        </p:nvSpPr>
        <p:spPr>
          <a:xfrm>
            <a:off x="585430" y="4299511"/>
            <a:ext cx="186452" cy="186452"/>
          </a:xfrm>
          <a:prstGeom prst="rect">
            <a:avLst/>
          </a:prstGeom>
          <a:noFill/>
          <a:ln/>
        </p:spPr>
        <p:txBody>
          <a:bodyPr wrap="none" lIns="0" tIns="0" rIns="0" bIns="0" rtlCol="0" anchor="ctr"/>
          <a:lstStyle/>
          <a:p>
            <a:pPr algn="ctr" indent="0" marL="0">
              <a:buNone/>
            </a:pPr>
            <a:r>
              <a:rPr lang="en-US" sz="1266" dirty="0">
                <a:solidFill>
                  <a:srgbClr val="0E7490"/>
                </a:solidFill>
                <a:latin typeface="Segoe UI Symbol" pitchFamily="34" charset="0"/>
                <a:ea typeface="Segoe UI Symbol" pitchFamily="34" charset="-122"/>
                <a:cs typeface="Segoe UI Symbol" pitchFamily="34" charset="-120"/>
              </a:rPr>
              <a:t>↓</a:t>
            </a:r>
            <a:endParaRPr lang="en-US" sz="1266" dirty="0"/>
          </a:p>
        </p:txBody>
      </p:sp>
      <p:sp>
        <p:nvSpPr>
          <p:cNvPr id="42" name="Text 38"/>
          <p:cNvSpPr/>
          <p:nvPr/>
        </p:nvSpPr>
        <p:spPr>
          <a:xfrm>
            <a:off x="892969" y="4264149"/>
            <a:ext cx="4007313" cy="119685"/>
          </a:xfrm>
          <a:prstGeom prst="rect">
            <a:avLst/>
          </a:prstGeom>
          <a:noFill/>
          <a:ln/>
        </p:spPr>
        <p:txBody>
          <a:bodyPr wrap="square" lIns="0" tIns="0" rIns="0" bIns="0" rtlCol="0" anchor="t">
            <a:normAutofit/>
          </a:bodyPr>
          <a:lstStyle/>
          <a:p>
            <a:pPr algn="l" indent="0" marL="0">
              <a:lnSpc>
                <a:spcPts val="1046"/>
              </a:lnSpc>
              <a:buNone/>
            </a:pPr>
            <a:r>
              <a:rPr lang="en-US" sz="800" b="1" spc="27" kern="0" dirty="0">
                <a:solidFill>
                  <a:srgbClr val="0F172A"/>
                </a:solidFill>
                <a:latin typeface="Carlito" pitchFamily="34" charset="0"/>
                <a:ea typeface="Carlito" pitchFamily="34" charset="-122"/>
                <a:cs typeface="Carlito" pitchFamily="34" charset="-120"/>
              </a:rPr>
              <a:t>DIRECT DOCUMENT DOWNLOAD CARDS</a:t>
            </a:r>
            <a:endParaRPr lang="en-US" sz="800" dirty="0"/>
          </a:p>
        </p:txBody>
      </p:sp>
      <p:sp>
        <p:nvSpPr>
          <p:cNvPr id="43" name="Text 39"/>
          <p:cNvSpPr/>
          <p:nvPr/>
        </p:nvSpPr>
        <p:spPr>
          <a:xfrm>
            <a:off x="892969" y="4411266"/>
            <a:ext cx="4007313" cy="164592"/>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Direct instant access to verified PDF documents.</a:t>
            </a:r>
            <a:endParaRPr lang="en-US" sz="800" dirty="0"/>
          </a:p>
        </p:txBody>
      </p:sp>
      <p:sp>
        <p:nvSpPr>
          <p:cNvPr id="44" name="Text 40"/>
          <p:cNvSpPr/>
          <p:nvPr/>
        </p:nvSpPr>
        <p:spPr>
          <a:xfrm>
            <a:off x="5044157" y="817178"/>
            <a:ext cx="3696221" cy="3922700"/>
          </a:xfrm>
          <a:prstGeom prst="roundRect">
            <a:avLst>
              <a:gd name="adj" fmla="val 3608"/>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45" name="Text 41"/>
          <p:cNvSpPr/>
          <p:nvPr/>
        </p:nvSpPr>
        <p:spPr>
          <a:xfrm>
            <a:off x="5204892" y="992200"/>
            <a:ext cx="2877480" cy="170078"/>
          </a:xfrm>
          <a:prstGeom prst="rect">
            <a:avLst/>
          </a:prstGeom>
          <a:noFill/>
          <a:ln/>
        </p:spPr>
        <p:txBody>
          <a:bodyPr wrap="none" lIns="0" tIns="0" rIns="0" bIns="0" rtlCol="0" anchor="t"/>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LIVE APPLICATION PREVIEW</a:t>
            </a:r>
            <a:endParaRPr lang="en-US" sz="800" dirty="0"/>
          </a:p>
        </p:txBody>
      </p:sp>
      <p:sp>
        <p:nvSpPr>
          <p:cNvPr id="46" name="Text 42"/>
          <p:cNvSpPr/>
          <p:nvPr/>
        </p:nvSpPr>
        <p:spPr>
          <a:xfrm>
            <a:off x="8077340" y="953552"/>
            <a:ext cx="521623" cy="188024"/>
          </a:xfrm>
          <a:prstGeom prst="roundRect">
            <a:avLst>
              <a:gd name="adj" fmla="val 5060777"/>
            </a:avLst>
          </a:prstGeom>
          <a:solidFill>
            <a:srgbClr val="10B981">
              <a:alpha val="14000"/>
            </a:srgbClr>
          </a:solidFill>
          <a:ln w="7144">
            <a:solidFill>
              <a:srgbClr val="10B981"/>
            </a:solidFill>
            <a:prstDash val="solid"/>
          </a:ln>
        </p:spPr>
        <p:txBody>
          <a:bodyPr wrap="square" rtlCol="0" anchor="ctr"/>
          <a:lstStyle/>
          <a:p>
            <a:pPr indent="0" marL="0">
              <a:buNone/>
            </a:pPr>
            <a:endParaRPr lang="en-US" dirty="0"/>
          </a:p>
        </p:txBody>
      </p:sp>
      <p:sp>
        <p:nvSpPr>
          <p:cNvPr id="47" name="Text 43"/>
          <p:cNvSpPr/>
          <p:nvPr/>
        </p:nvSpPr>
        <p:spPr>
          <a:xfrm>
            <a:off x="8175241" y="1026133"/>
            <a:ext cx="42863" cy="42863"/>
          </a:xfrm>
          <a:prstGeom prst="roundRect">
            <a:avLst>
              <a:gd name="adj" fmla="val 66666"/>
            </a:avLst>
          </a:prstGeom>
          <a:solidFill>
            <a:srgbClr val="15803D"/>
          </a:solidFill>
          <a:ln/>
        </p:spPr>
        <p:txBody>
          <a:bodyPr wrap="square" rtlCol="0" anchor="ctr"/>
          <a:lstStyle/>
          <a:p>
            <a:pPr indent="0" marL="0">
              <a:buNone/>
            </a:pPr>
            <a:endParaRPr lang="en-US" dirty="0"/>
          </a:p>
        </p:txBody>
      </p:sp>
      <p:sp>
        <p:nvSpPr>
          <p:cNvPr id="48" name="Text 44"/>
          <p:cNvSpPr/>
          <p:nvPr/>
        </p:nvSpPr>
        <p:spPr>
          <a:xfrm>
            <a:off x="8096659" y="963625"/>
            <a:ext cx="482984" cy="167878"/>
          </a:xfrm>
          <a:prstGeom prst="rect">
            <a:avLst/>
          </a:prstGeom>
          <a:noFill/>
          <a:ln/>
        </p:spPr>
        <p:txBody>
          <a:bodyPr wrap="none" lIns="0" tIns="0" rIns="0" bIns="0" rtlCol="0" anchor="ctr"/>
          <a:lstStyle/>
          <a:p>
            <a:pPr algn="ctr" indent="0" marL="0">
              <a:lnSpc>
                <a:spcPts val="872"/>
              </a:lnSpc>
              <a:buNone/>
            </a:pPr>
            <a:r>
              <a:rPr lang="en-US" sz="800" spc="34" kern="0" dirty="0">
                <a:solidFill>
                  <a:srgbClr val="15803D"/>
                </a:solidFill>
                <a:latin typeface="Courier New" pitchFamily="34" charset="0"/>
                <a:ea typeface="Courier New" pitchFamily="34" charset="-122"/>
                <a:cs typeface="Courier New" pitchFamily="34" charset="-120"/>
              </a:rPr>
              <a:t>ONLINE</a:t>
            </a:r>
            <a:endParaRPr lang="en-US" sz="800" dirty="0"/>
          </a:p>
        </p:txBody>
      </p:sp>
      <p:sp>
        <p:nvSpPr>
          <p:cNvPr id="49" name="Text 45"/>
          <p:cNvSpPr/>
          <p:nvPr/>
        </p:nvSpPr>
        <p:spPr>
          <a:xfrm>
            <a:off x="5212035" y="1224372"/>
            <a:ext cx="3360465" cy="3079738"/>
          </a:xfrm>
          <a:prstGeom prst="roundRect">
            <a:avLst>
              <a:gd name="adj" fmla="val 3711"/>
            </a:avLst>
          </a:prstGeom>
          <a:solidFill>
            <a:srgbClr val="06B6D4">
              <a:alpha val="4000"/>
            </a:srgbClr>
          </a:solidFill>
          <a:ln w="14288">
            <a:solidFill>
              <a:srgbClr val="0E7490"/>
            </a:solidFill>
            <a:prstDash val="dash"/>
          </a:ln>
        </p:spPr>
        <p:txBody>
          <a:bodyPr wrap="square" rtlCol="0" anchor="ctr"/>
          <a:lstStyle/>
          <a:p>
            <a:pPr indent="0" marL="0">
              <a:buNone/>
            </a:pPr>
            <a:endParaRPr lang="en-US" dirty="0"/>
          </a:p>
        </p:txBody>
      </p:sp>
      <p:sp>
        <p:nvSpPr>
          <p:cNvPr id="50" name="Text 46"/>
          <p:cNvSpPr/>
          <p:nvPr/>
        </p:nvSpPr>
        <p:spPr>
          <a:xfrm>
            <a:off x="6692243" y="2181076"/>
            <a:ext cx="400050" cy="400050"/>
          </a:xfrm>
          <a:prstGeom prst="rect">
            <a:avLst/>
          </a:prstGeom>
          <a:noFill/>
          <a:ln/>
        </p:spPr>
        <p:txBody>
          <a:bodyPr wrap="none" lIns="0" tIns="0" rIns="0" bIns="0" rtlCol="0" anchor="ctr"/>
          <a:lstStyle/>
          <a:p>
            <a:pPr algn="ctr" indent="0" marL="0">
              <a:buNone/>
            </a:pPr>
            <a:r>
              <a:rPr lang="en-US" sz="3938" dirty="0">
                <a:solidFill>
                  <a:srgbClr val="0E7490"/>
                </a:solidFill>
                <a:latin typeface="Segoe UI Symbol" pitchFamily="34" charset="0"/>
                <a:ea typeface="Segoe UI Symbol" pitchFamily="34" charset="-122"/>
                <a:cs typeface="Segoe UI Symbol" pitchFamily="34" charset="-120"/>
              </a:rPr>
              <a:t>✦</a:t>
            </a:r>
            <a:endParaRPr lang="en-US" sz="3938" dirty="0"/>
          </a:p>
        </p:txBody>
      </p:sp>
      <p:sp>
        <p:nvSpPr>
          <p:cNvPr id="51" name="Text 47"/>
          <p:cNvSpPr/>
          <p:nvPr/>
        </p:nvSpPr>
        <p:spPr>
          <a:xfrm>
            <a:off x="6279245" y="2652564"/>
            <a:ext cx="1225934" cy="331765"/>
          </a:xfrm>
          <a:prstGeom prst="rect">
            <a:avLst/>
          </a:prstGeom>
          <a:noFill/>
          <a:ln/>
        </p:spPr>
        <p:txBody>
          <a:bodyPr wrap="square" lIns="0" tIns="0" rIns="0" bIns="0" rtlCol="0" anchor="t">
            <a:normAutofit/>
          </a:bodyPr>
          <a:lstStyle/>
          <a:p>
            <a:pPr algn="ctr" indent="0" marL="0">
              <a:lnSpc>
                <a:spcPts val="1133"/>
              </a:lnSpc>
              <a:buNone/>
            </a:pPr>
            <a:r>
              <a:rPr lang="en-US" sz="800" spc="117" kern="0" dirty="0">
                <a:solidFill>
                  <a:srgbClr val="0E7490"/>
                </a:solidFill>
                <a:latin typeface="Courier New" pitchFamily="34" charset="0"/>
                <a:ea typeface="Courier New" pitchFamily="34" charset="-122"/>
                <a:cs typeface="Courier New" pitchFamily="34" charset="-120"/>
              </a:rPr>
              <a:t>INSERT STREAMLIT APP</a:t>
            </a:r>
            <a:endParaRPr lang="en-US" sz="800" dirty="0"/>
          </a:p>
          <a:p>
            <a:pPr algn="ctr" indent="0" marL="0">
              <a:lnSpc>
                <a:spcPts val="1133"/>
              </a:lnSpc>
              <a:buNone/>
            </a:pPr>
            <a:r>
              <a:rPr lang="en-US" sz="800" spc="117" kern="0" dirty="0">
                <a:solidFill>
                  <a:srgbClr val="0E7490"/>
                </a:solidFill>
                <a:latin typeface="Courier New" pitchFamily="34" charset="0"/>
                <a:ea typeface="Courier New" pitchFamily="34" charset="-122"/>
                <a:cs typeface="Courier New" pitchFamily="34" charset="-120"/>
              </a:rPr>
              <a:t>SCREENSHOT HERE</a:t>
            </a:r>
            <a:endParaRPr lang="en-US" sz="800" dirty="0"/>
          </a:p>
        </p:txBody>
      </p:sp>
      <p:sp>
        <p:nvSpPr>
          <p:cNvPr id="52" name="Text 48"/>
          <p:cNvSpPr/>
          <p:nvPr/>
        </p:nvSpPr>
        <p:spPr>
          <a:xfrm>
            <a:off x="6381490" y="3011760"/>
            <a:ext cx="1103281" cy="170047"/>
          </a:xfrm>
          <a:prstGeom prst="rect">
            <a:avLst/>
          </a:prstGeom>
          <a:noFill/>
          <a:ln/>
        </p:spPr>
        <p:txBody>
          <a:bodyPr wrap="square" lIns="0" tIns="0" rIns="0" bIns="0" rtlCol="0" anchor="t"/>
          <a:lstStyle/>
          <a:p>
            <a:pPr algn="l" indent="0" marL="0">
              <a:lnSpc>
                <a:spcPts val="959"/>
              </a:lnSpc>
              <a:buNone/>
            </a:pPr>
            <a:r>
              <a:rPr lang="en-US" sz="619" dirty="0">
                <a:solidFill>
                  <a:srgbClr val="64748B"/>
                </a:solidFill>
                <a:latin typeface="Courier New" pitchFamily="34" charset="0"/>
                <a:ea typeface="Courier New" pitchFamily="34" charset="-122"/>
                <a:cs typeface="Courier New" pitchFamily="34" charset="-120"/>
              </a:rPr>
              <a:t>kgp-gyankosh.streamlit.app</a:t>
            </a:r>
            <a:endParaRPr lang="en-US" sz="619" dirty="0"/>
          </a:p>
        </p:txBody>
      </p:sp>
      <p:sp>
        <p:nvSpPr>
          <p:cNvPr id="53" name="Text 49"/>
          <p:cNvSpPr/>
          <p:nvPr/>
        </p:nvSpPr>
        <p:spPr>
          <a:xfrm>
            <a:off x="6498692" y="3247839"/>
            <a:ext cx="1012060" cy="169926"/>
          </a:xfrm>
          <a:prstGeom prst="rect">
            <a:avLst/>
          </a:prstGeom>
          <a:noFill/>
          <a:ln/>
        </p:spPr>
        <p:txBody>
          <a:bodyPr wrap="none" lIns="0" tIns="0" rIns="0" bIns="0" rtlCol="0" anchor="t"/>
          <a:lstStyle/>
          <a:p>
            <a:pPr algn="l" indent="0" marL="0">
              <a:lnSpc>
                <a:spcPts val="785"/>
              </a:lnSpc>
              <a:buNone/>
            </a:pPr>
            <a:r>
              <a:rPr lang="en-US" sz="600" spc="91" kern="0" dirty="0">
                <a:solidFill>
                  <a:srgbClr val="64748B"/>
                </a:solidFill>
                <a:latin typeface="Courier New" pitchFamily="34" charset="0"/>
                <a:ea typeface="Courier New" pitchFamily="34" charset="-122"/>
                <a:cs typeface="Courier New" pitchFamily="34" charset="-120"/>
              </a:rPr>
              <a:t>[ USER-FILL SLOT ]</a:t>
            </a:r>
            <a:endParaRPr lang="en-US" sz="600" dirty="0"/>
          </a:p>
        </p:txBody>
      </p:sp>
      <p:sp>
        <p:nvSpPr>
          <p:cNvPr id="54" name="Text 50"/>
          <p:cNvSpPr/>
          <p:nvPr/>
        </p:nvSpPr>
        <p:spPr>
          <a:xfrm>
            <a:off x="5733417" y="4385191"/>
            <a:ext cx="597284" cy="220028"/>
          </a:xfrm>
          <a:prstGeom prst="roundRect">
            <a:avLst>
              <a:gd name="adj" fmla="val 4324665"/>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5" name="Text 51"/>
          <p:cNvSpPr/>
          <p:nvPr/>
        </p:nvSpPr>
        <p:spPr>
          <a:xfrm>
            <a:off x="5679792" y="4396978"/>
            <a:ext cx="704535" cy="196453"/>
          </a:xfrm>
          <a:prstGeom prst="rect">
            <a:avLst/>
          </a:prstGeom>
          <a:noFill/>
          <a:ln/>
        </p:spPr>
        <p:txBody>
          <a:bodyPr wrap="none" lIns="0" tIns="0" rIns="0" bIns="0" rtlCol="0" anchor="ctr"/>
          <a:lstStyle/>
          <a:p>
            <a:pPr algn="ctr"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DASHBOARD</a:t>
            </a:r>
            <a:endParaRPr lang="en-US" sz="800" dirty="0"/>
          </a:p>
        </p:txBody>
      </p:sp>
      <p:sp>
        <p:nvSpPr>
          <p:cNvPr id="56" name="Text 52"/>
          <p:cNvSpPr/>
          <p:nvPr/>
        </p:nvSpPr>
        <p:spPr>
          <a:xfrm>
            <a:off x="6387852" y="4385191"/>
            <a:ext cx="825884" cy="220028"/>
          </a:xfrm>
          <a:prstGeom prst="roundRect">
            <a:avLst>
              <a:gd name="adj" fmla="val 4324665"/>
            </a:avLst>
          </a:prstGeom>
          <a:solidFill>
            <a:srgbClr val="FFFFFF"/>
          </a:solidFill>
          <a:ln w="7144">
            <a:solidFill>
              <a:srgbClr val="0F172A"/>
            </a:solidFill>
            <a:prstDash val="solid"/>
          </a:ln>
        </p:spPr>
        <p:txBody>
          <a:bodyPr wrap="square" rtlCol="0" anchor="ctr"/>
          <a:lstStyle/>
          <a:p>
            <a:pPr indent="0" marL="0">
              <a:buNone/>
            </a:pPr>
            <a:endParaRPr lang="en-US" dirty="0"/>
          </a:p>
        </p:txBody>
      </p:sp>
      <p:sp>
        <p:nvSpPr>
          <p:cNvPr id="57" name="Text 53"/>
          <p:cNvSpPr/>
          <p:nvPr/>
        </p:nvSpPr>
        <p:spPr>
          <a:xfrm>
            <a:off x="6387852" y="4396978"/>
            <a:ext cx="825884" cy="196453"/>
          </a:xfrm>
          <a:prstGeom prst="rect">
            <a:avLst/>
          </a:prstGeom>
          <a:noFill/>
          <a:ln/>
        </p:spPr>
        <p:txBody>
          <a:bodyPr wrap="none" lIns="0" tIns="0" rIns="0" bIns="0" rtlCol="0" anchor="ctr"/>
          <a:lstStyle/>
          <a:p>
            <a:pPr algn="ctr" indent="0" marL="0">
              <a:lnSpc>
                <a:spcPts val="872"/>
              </a:lnSpc>
              <a:buNone/>
            </a:pPr>
            <a:r>
              <a:rPr lang="en-US" sz="800" spc="79" kern="0" dirty="0">
                <a:solidFill>
                  <a:srgbClr val="64748B"/>
                </a:solidFill>
                <a:latin typeface="Courier New" pitchFamily="34" charset="0"/>
                <a:ea typeface="Courier New" pitchFamily="34" charset="-122"/>
                <a:cs typeface="Courier New" pitchFamily="34" charset="-120"/>
              </a:rPr>
              <a:t>CITATION CARDS</a:t>
            </a:r>
            <a:endParaRPr lang="en-US" sz="800" dirty="0"/>
          </a:p>
        </p:txBody>
      </p:sp>
      <p:sp>
        <p:nvSpPr>
          <p:cNvPr id="58" name="Text 54"/>
          <p:cNvSpPr/>
          <p:nvPr/>
        </p:nvSpPr>
        <p:spPr>
          <a:xfrm>
            <a:off x="7270886" y="4385191"/>
            <a:ext cx="780120" cy="220028"/>
          </a:xfrm>
          <a:prstGeom prst="roundRect">
            <a:avLst>
              <a:gd name="adj" fmla="val 4324665"/>
            </a:avLst>
          </a:prstGeom>
          <a:solidFill>
            <a:srgbClr val="FFFFFF"/>
          </a:solidFill>
          <a:ln w="7144">
            <a:solidFill>
              <a:srgbClr val="0F172A"/>
            </a:solidFill>
            <a:prstDash val="solid"/>
          </a:ln>
        </p:spPr>
        <p:txBody>
          <a:bodyPr wrap="square" rtlCol="0" anchor="ctr"/>
          <a:lstStyle/>
          <a:p>
            <a:pPr indent="0" marL="0">
              <a:buNone/>
            </a:pPr>
            <a:endParaRPr lang="en-US" dirty="0"/>
          </a:p>
        </p:txBody>
      </p:sp>
      <p:sp>
        <p:nvSpPr>
          <p:cNvPr id="59" name="Text 55"/>
          <p:cNvSpPr/>
          <p:nvPr/>
        </p:nvSpPr>
        <p:spPr>
          <a:xfrm>
            <a:off x="7180399" y="4396978"/>
            <a:ext cx="961095" cy="196453"/>
          </a:xfrm>
          <a:prstGeom prst="rect">
            <a:avLst/>
          </a:prstGeom>
          <a:noFill/>
          <a:ln/>
        </p:spPr>
        <p:txBody>
          <a:bodyPr wrap="none" lIns="0" tIns="0" rIns="0" bIns="0" rtlCol="0" anchor="ctr"/>
          <a:lstStyle/>
          <a:p>
            <a:pPr algn="ctr" indent="0" marL="0">
              <a:lnSpc>
                <a:spcPts val="872"/>
              </a:lnSpc>
              <a:buNone/>
            </a:pPr>
            <a:r>
              <a:rPr lang="en-US" sz="800" spc="79" kern="0" dirty="0">
                <a:solidFill>
                  <a:srgbClr val="64748B"/>
                </a:solidFill>
                <a:latin typeface="Courier New" pitchFamily="34" charset="0"/>
                <a:ea typeface="Courier New" pitchFamily="34" charset="-122"/>
                <a:cs typeface="Courier New" pitchFamily="34" charset="-120"/>
              </a:rPr>
              <a:t>SOURCE DRAWER</a:t>
            </a:r>
            <a:endParaRPr lang="en-US" sz="800" dirty="0"/>
          </a:p>
        </p:txBody>
      </p:sp>
      <p:sp>
        <p:nvSpPr>
          <p:cNvPr id="60" name="Shape 56"/>
          <p:cNvSpPr/>
          <p:nvPr/>
        </p:nvSpPr>
        <p:spPr>
          <a:xfrm>
            <a:off x="400050" y="4829175"/>
            <a:ext cx="8343900" cy="0"/>
          </a:xfrm>
          <a:prstGeom prst="line">
            <a:avLst/>
          </a:prstGeom>
          <a:noFill/>
          <a:ln w="7144">
            <a:solidFill>
              <a:srgbClr val="0F172A"/>
            </a:solidFill>
            <a:prstDash val="solid"/>
          </a:ln>
        </p:spPr>
      </p:sp>
      <p:sp>
        <p:nvSpPr>
          <p:cNvPr id="61" name="Text 57"/>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62" name="Text 58"/>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14 / 18</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022306"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436644" y="157163"/>
            <a:ext cx="1446289" cy="170078"/>
          </a:xfrm>
          <a:prstGeom prst="rect">
            <a:avLst/>
          </a:prstGeom>
          <a:noFill/>
          <a:ln/>
        </p:spPr>
        <p:txBody>
          <a:bodyPr wrap="squar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14 / 16 · CHALLENGES OVERCOME</a:t>
            </a:r>
            <a:endParaRPr lang="en-US" sz="600" dirty="0"/>
          </a:p>
        </p:txBody>
      </p:sp>
      <p:sp>
        <p:nvSpPr>
          <p:cNvPr id="6" name="Text 2"/>
          <p:cNvSpPr/>
          <p:nvPr/>
        </p:nvSpPr>
        <p:spPr>
          <a:xfrm>
            <a:off x="400050" y="342900"/>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CHALLENGES OVERCOME &amp; ENGINEERING DECISIONS</a:t>
            </a:r>
            <a:endParaRPr lang="en-US" sz="800" dirty="0"/>
          </a:p>
        </p:txBody>
      </p:sp>
      <p:sp>
        <p:nvSpPr>
          <p:cNvPr id="7" name="Text 3"/>
          <p:cNvSpPr/>
          <p:nvPr/>
        </p:nvSpPr>
        <p:spPr>
          <a:xfrm>
            <a:off x="400050" y="510778"/>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Technical Hurdle vs. Solution Matrix</a:t>
            </a:r>
            <a:endParaRPr lang="en-US" sz="1238" dirty="0"/>
          </a:p>
        </p:txBody>
      </p:sp>
      <p:sp>
        <p:nvSpPr>
          <p:cNvPr id="8" name="Text 4"/>
          <p:cNvSpPr/>
          <p:nvPr/>
        </p:nvSpPr>
        <p:spPr>
          <a:xfrm>
            <a:off x="400050" y="756456"/>
            <a:ext cx="5429250" cy="164592"/>
          </a:xfrm>
          <a:prstGeom prst="rect">
            <a:avLst/>
          </a:prstGeom>
          <a:noFill/>
          <a:ln/>
        </p:spPr>
        <p:txBody>
          <a:bodyPr wrap="square" lIns="0" tIns="0" rIns="0" bIns="0" rtlCol="0" anchor="t"/>
          <a:lstStyle/>
          <a:p>
            <a:pPr algn="l" indent="0" marL="0">
              <a:lnSpc>
                <a:spcPts val="1097"/>
              </a:lnSpc>
              <a:buNone/>
            </a:pPr>
            <a:r>
              <a:rPr lang="en-US" sz="731" dirty="0">
                <a:solidFill>
                  <a:srgbClr val="475569"/>
                </a:solidFill>
                <a:latin typeface="Carlito" pitchFamily="34" charset="0"/>
                <a:ea typeface="Carlito" pitchFamily="34" charset="-122"/>
                <a:cs typeface="Carlito" pitchFamily="34" charset="-120"/>
              </a:rPr>
              <a:t>Each engineering decision directly addresses a concrete production obstacle encountered during deployment.</a:t>
            </a:r>
            <a:endParaRPr lang="en-US" sz="731" dirty="0"/>
          </a:p>
        </p:txBody>
      </p:sp>
      <p:pic>
        <p:nvPicPr>
          <p:cNvPr id="9" name="Image 2" descr="preencoded.png">    </p:cNvPr>
          <p:cNvPicPr>
            <a:picLocks noChangeAspect="1"/>
          </p:cNvPicPr>
          <p:nvPr/>
        </p:nvPicPr>
        <p:blipFill>
          <a:blip r:embed="rId3"/>
          <a:stretch>
            <a:fillRect/>
          </a:stretch>
        </p:blipFill>
        <p:spPr>
          <a:xfrm>
            <a:off x="400050" y="981484"/>
            <a:ext cx="8343900" cy="886830"/>
          </a:xfrm>
          <a:prstGeom prst="rect">
            <a:avLst/>
          </a:prstGeom>
        </p:spPr>
      </p:pic>
      <p:sp>
        <p:nvSpPr>
          <p:cNvPr id="10" name="Text 5"/>
          <p:cNvSpPr/>
          <p:nvPr/>
        </p:nvSpPr>
        <p:spPr>
          <a:xfrm>
            <a:off x="403622" y="985056"/>
            <a:ext cx="8336756" cy="879686"/>
          </a:xfrm>
          <a:prstGeom prst="roundRect">
            <a:avLst>
              <a:gd name="adj" fmla="val 12993"/>
            </a:avLst>
          </a:prstGeom>
          <a:noFill/>
          <a:ln w="7144">
            <a:solidFill>
              <a:srgbClr val="0F172A"/>
            </a:solidFill>
            <a:prstDash val="solid"/>
          </a:ln>
        </p:spPr>
        <p:txBody>
          <a:bodyPr wrap="square" rtlCol="0" anchor="ctr"/>
          <a:lstStyle/>
          <a:p>
            <a:pPr indent="0" marL="0">
              <a:buNone/>
            </a:pPr>
            <a:endParaRPr lang="en-US" dirty="0"/>
          </a:p>
        </p:txBody>
      </p:sp>
      <p:sp>
        <p:nvSpPr>
          <p:cNvPr id="11" name="Text 6"/>
          <p:cNvSpPr/>
          <p:nvPr/>
        </p:nvSpPr>
        <p:spPr>
          <a:xfrm>
            <a:off x="4102206" y="1031491"/>
            <a:ext cx="362685" cy="216027"/>
          </a:xfrm>
          <a:prstGeom prst="rect">
            <a:avLst/>
          </a:prstGeom>
          <a:noFill/>
          <a:ln/>
        </p:spPr>
        <p:txBody>
          <a:bodyPr wrap="square" lIns="0" tIns="0" rIns="0" bIns="0" rtlCol="0" anchor="t"/>
          <a:lstStyle/>
          <a:p>
            <a:pPr algn="l" indent="0" marL="0">
              <a:lnSpc>
                <a:spcPts val="1575"/>
              </a:lnSpc>
              <a:buNone/>
            </a:pPr>
            <a:r>
              <a:rPr lang="en-US" sz="1575" b="1" spc="-32" kern="0" dirty="0">
                <a:solidFill>
                  <a:srgbClr val="94A3B8">
                    <a:alpha val="18000"/>
                  </a:srgbClr>
                </a:solidFill>
                <a:latin typeface="Liberation Sans Narrow" pitchFamily="34" charset="0"/>
                <a:ea typeface="Liberation Sans Narrow" pitchFamily="34" charset="-122"/>
                <a:cs typeface="Liberation Sans Narrow" pitchFamily="34" charset="-120"/>
              </a:rPr>
              <a:t>01</a:t>
            </a:r>
            <a:endParaRPr lang="en-US" sz="1575" dirty="0"/>
          </a:p>
        </p:txBody>
      </p:sp>
      <p:sp>
        <p:nvSpPr>
          <p:cNvPr id="12" name="Text 7"/>
          <p:cNvSpPr/>
          <p:nvPr/>
        </p:nvSpPr>
        <p:spPr>
          <a:xfrm>
            <a:off x="507206" y="1088641"/>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13" name="Text 8"/>
          <p:cNvSpPr/>
          <p:nvPr/>
        </p:nvSpPr>
        <p:spPr>
          <a:xfrm>
            <a:off x="864394" y="1102928"/>
            <a:ext cx="677540" cy="121444"/>
          </a:xfrm>
          <a:prstGeom prst="rect">
            <a:avLst/>
          </a:prstGeom>
          <a:solidFill>
            <a:srgbClr val="B91C1C">
              <a:alpha val="10000"/>
            </a:srgbClr>
          </a:solidFill>
          <a:ln/>
        </p:spPr>
        <p:txBody>
          <a:bodyPr wrap="square" rtlCol="0" anchor="ctr"/>
          <a:lstStyle/>
          <a:p>
            <a:pPr indent="0" marL="0">
              <a:buNone/>
            </a:pPr>
            <a:endParaRPr lang="en-US" dirty="0"/>
          </a:p>
        </p:txBody>
      </p:sp>
      <p:sp>
        <p:nvSpPr>
          <p:cNvPr id="14" name="Text 9"/>
          <p:cNvSpPr/>
          <p:nvPr/>
        </p:nvSpPr>
        <p:spPr>
          <a:xfrm>
            <a:off x="824978" y="1102928"/>
            <a:ext cx="872909" cy="133241"/>
          </a:xfrm>
          <a:prstGeom prst="rect">
            <a:avLst/>
          </a:prstGeom>
          <a:noFill/>
          <a:ln/>
        </p:spPr>
        <p:txBody>
          <a:bodyPr wrap="none" lIns="0" tIns="0" rIns="0" bIns="0" rtlCol="0" anchor="t"/>
          <a:lstStyle/>
          <a:p>
            <a:pPr algn="l" indent="0" marL="0">
              <a:lnSpc>
                <a:spcPts val="1221"/>
              </a:lnSpc>
              <a:buNone/>
            </a:pPr>
            <a:r>
              <a:rPr lang="en-US" sz="788" dirty="0">
                <a:solidFill>
                  <a:srgbClr val="B91C1C"/>
                </a:solidFill>
                <a:latin typeface="Liberation Sans Narrow" pitchFamily="34" charset="0"/>
                <a:ea typeface="Liberation Sans Narrow" pitchFamily="34" charset="-122"/>
                <a:cs typeface="Liberation Sans Narrow" pitchFamily="34" charset="-120"/>
              </a:rPr>
              <a:t>CHALLENGE 01</a:t>
            </a:r>
            <a:endParaRPr lang="en-US" sz="788" dirty="0"/>
          </a:p>
        </p:txBody>
      </p:sp>
      <p:sp>
        <p:nvSpPr>
          <p:cNvPr id="15" name="Text 10"/>
          <p:cNvSpPr/>
          <p:nvPr/>
        </p:nvSpPr>
        <p:spPr>
          <a:xfrm>
            <a:off x="864394" y="1272146"/>
            <a:ext cx="3718750"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Scanned &amp; Degraded Photocopies</a:t>
            </a:r>
            <a:endParaRPr lang="en-US" sz="900" dirty="0"/>
          </a:p>
        </p:txBody>
      </p:sp>
      <p:sp>
        <p:nvSpPr>
          <p:cNvPr id="16" name="Text 11"/>
          <p:cNvSpPr/>
          <p:nvPr/>
        </p:nvSpPr>
        <p:spPr>
          <a:xfrm>
            <a:off x="864394" y="1443596"/>
            <a:ext cx="3443288" cy="164592"/>
          </a:xfrm>
          <a:prstGeom prst="rect">
            <a:avLst/>
          </a:prstGeom>
          <a:noFill/>
          <a:ln/>
        </p:spPr>
        <p:txBody>
          <a:bodyPr wrap="square" lIns="0" tIns="0" rIns="0" bIns="0" rtlCol="0" anchor="t"/>
          <a:lstStyle/>
          <a:p>
            <a:pPr algn="l" indent="0" marL="0">
              <a:lnSpc>
                <a:spcPts val="1013"/>
              </a:lnSpc>
              <a:buNone/>
            </a:pPr>
            <a:r>
              <a:rPr lang="en-US" sz="675" dirty="0">
                <a:solidFill>
                  <a:srgbClr val="475569"/>
                </a:solidFill>
                <a:latin typeface="Carlito" pitchFamily="34" charset="0"/>
                <a:ea typeface="Carlito" pitchFamily="34" charset="-122"/>
                <a:cs typeface="Carlito" pitchFamily="34" charset="-120"/>
              </a:rPr>
              <a:t>Multi-page scanned government orders in poor image quality crash naive OCR pipelines.</a:t>
            </a:r>
            <a:endParaRPr lang="en-US" sz="675" dirty="0"/>
          </a:p>
        </p:txBody>
      </p:sp>
      <p:pic>
        <p:nvPicPr>
          <p:cNvPr id="17" name="Image 3" descr="preencoded.png">    </p:cNvPr>
          <p:cNvPicPr>
            <a:picLocks noChangeAspect="1"/>
          </p:cNvPicPr>
          <p:nvPr/>
        </p:nvPicPr>
        <p:blipFill>
          <a:blip r:embed="rId4"/>
          <a:stretch>
            <a:fillRect/>
          </a:stretch>
        </p:blipFill>
        <p:spPr>
          <a:xfrm>
            <a:off x="4407694" y="988628"/>
            <a:ext cx="328613" cy="872542"/>
          </a:xfrm>
          <a:prstGeom prst="rect">
            <a:avLst/>
          </a:prstGeom>
        </p:spPr>
      </p:pic>
      <p:sp>
        <p:nvSpPr>
          <p:cNvPr id="18" name="Text 12"/>
          <p:cNvSpPr/>
          <p:nvPr/>
        </p:nvSpPr>
        <p:spPr>
          <a:xfrm>
            <a:off x="4468416" y="1321259"/>
            <a:ext cx="207169" cy="207169"/>
          </a:xfrm>
          <a:prstGeom prst="ellipse">
            <a:avLst/>
          </a:prstGeom>
          <a:solidFill>
            <a:srgbClr val="F5EFE3"/>
          </a:solidFill>
          <a:ln w="7144">
            <a:solidFill>
              <a:srgbClr val="0E7490"/>
            </a:solidFill>
            <a:prstDash val="solid"/>
          </a:ln>
          <a:effectLst>
            <a:outerShdw sx="100000" sy="100000" kx="0" ky="0" algn="bl" rotWithShape="0" blurRad="114300" dist="50800" dir="16200000">
              <a:srgbClr val="06B6D4">
                <a:alpha val="18000"/>
              </a:srgbClr>
            </a:outerShdw>
          </a:effectLst>
        </p:spPr>
        <p:txBody>
          <a:bodyPr wrap="square" rtlCol="0" anchor="ctr"/>
          <a:lstStyle/>
          <a:p>
            <a:pPr indent="0" marL="0">
              <a:buNone/>
            </a:pPr>
            <a:endParaRPr lang="en-US" dirty="0"/>
          </a:p>
        </p:txBody>
      </p:sp>
      <p:sp>
        <p:nvSpPr>
          <p:cNvPr id="19" name="Text 13"/>
          <p:cNvSpPr/>
          <p:nvPr/>
        </p:nvSpPr>
        <p:spPr>
          <a:xfrm>
            <a:off x="4483418" y="1336261"/>
            <a:ext cx="177165" cy="177165"/>
          </a:xfrm>
          <a:prstGeom prst="rect">
            <a:avLst/>
          </a:prstGeom>
          <a:noFill/>
          <a:ln/>
        </p:spPr>
        <p:txBody>
          <a:bodyPr wrap="none" lIns="0" tIns="0" rIns="0" bIns="0" rtlCol="0" anchor="ctr"/>
          <a:lstStyle/>
          <a:p>
            <a:pPr algn="ctr" indent="0" marL="0">
              <a:buNone/>
            </a:pPr>
            <a:r>
              <a:rPr lang="en-US" sz="900" b="1" dirty="0">
                <a:solidFill>
                  <a:srgbClr val="0E7490"/>
                </a:solidFill>
                <a:latin typeface="Segoe UI Symbol" pitchFamily="34" charset="0"/>
                <a:ea typeface="Segoe UI Symbol" pitchFamily="34" charset="-122"/>
                <a:cs typeface="Segoe UI Symbol" pitchFamily="34" charset="-120"/>
              </a:rPr>
              <a:t>→</a:t>
            </a:r>
            <a:endParaRPr lang="en-US" sz="900" dirty="0"/>
          </a:p>
        </p:txBody>
      </p:sp>
      <p:sp>
        <p:nvSpPr>
          <p:cNvPr id="20" name="Text 14"/>
          <p:cNvSpPr/>
          <p:nvPr/>
        </p:nvSpPr>
        <p:spPr>
          <a:xfrm>
            <a:off x="4836319" y="1088641"/>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21" name="Text 15"/>
          <p:cNvSpPr/>
          <p:nvPr/>
        </p:nvSpPr>
        <p:spPr>
          <a:xfrm>
            <a:off x="5193506" y="1102928"/>
            <a:ext cx="449721" cy="121444"/>
          </a:xfrm>
          <a:prstGeom prst="rect">
            <a:avLst/>
          </a:prstGeom>
          <a:solidFill>
            <a:srgbClr val="15803D">
              <a:alpha val="10000"/>
            </a:srgbClr>
          </a:solidFill>
          <a:ln/>
        </p:spPr>
        <p:txBody>
          <a:bodyPr wrap="square" rtlCol="0" anchor="ctr"/>
          <a:lstStyle/>
          <a:p>
            <a:pPr indent="0" marL="0">
              <a:buNone/>
            </a:pPr>
            <a:endParaRPr lang="en-US" dirty="0"/>
          </a:p>
        </p:txBody>
      </p:sp>
      <p:sp>
        <p:nvSpPr>
          <p:cNvPr id="22" name="Text 16"/>
          <p:cNvSpPr/>
          <p:nvPr/>
        </p:nvSpPr>
        <p:spPr>
          <a:xfrm>
            <a:off x="5166226" y="1102928"/>
            <a:ext cx="630204" cy="133241"/>
          </a:xfrm>
          <a:prstGeom prst="rect">
            <a:avLst/>
          </a:prstGeom>
          <a:noFill/>
          <a:ln/>
        </p:spPr>
        <p:txBody>
          <a:bodyPr wrap="none" lIns="0" tIns="0" rIns="0" bIns="0" rtlCol="0" anchor="t"/>
          <a:lstStyle/>
          <a:p>
            <a:pPr algn="l" indent="0" marL="0">
              <a:lnSpc>
                <a:spcPts val="1221"/>
              </a:lnSpc>
              <a:buNone/>
            </a:pPr>
            <a:r>
              <a:rPr lang="en-US" sz="800" dirty="0">
                <a:solidFill>
                  <a:srgbClr val="15803D"/>
                </a:solidFill>
                <a:latin typeface="Carlito" pitchFamily="34" charset="0"/>
                <a:ea typeface="Carlito" pitchFamily="34" charset="-122"/>
                <a:cs typeface="Carlito" pitchFamily="34" charset="-120"/>
              </a:rPr>
              <a:t>SOLUTION</a:t>
            </a:r>
            <a:endParaRPr lang="en-US" sz="800" dirty="0"/>
          </a:p>
        </p:txBody>
      </p:sp>
      <p:sp>
        <p:nvSpPr>
          <p:cNvPr id="23" name="Text 17"/>
          <p:cNvSpPr/>
          <p:nvPr/>
        </p:nvSpPr>
        <p:spPr>
          <a:xfrm>
            <a:off x="5193506" y="1272146"/>
            <a:ext cx="3653028"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RapidOCR ONNX Pipeline + Disk Caching</a:t>
            </a:r>
            <a:endParaRPr lang="en-US" sz="900" dirty="0"/>
          </a:p>
        </p:txBody>
      </p:sp>
      <p:sp>
        <p:nvSpPr>
          <p:cNvPr id="24" name="Text 18"/>
          <p:cNvSpPr/>
          <p:nvPr/>
        </p:nvSpPr>
        <p:spPr>
          <a:xfrm>
            <a:off x="5193506" y="1443596"/>
            <a:ext cx="3443288" cy="329184"/>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Integrated </a:t>
            </a:r>
            <a:pPr algn="l" indent="0" marL="0">
              <a:lnSpc>
                <a:spcPts val="1013"/>
              </a:lnSpc>
              <a:buNone/>
            </a:pPr>
            <a:r>
              <a:rPr lang="en-US" sz="800" dirty="0">
                <a:solidFill>
                  <a:srgbClr val="0E7490"/>
                </a:solidFill>
                <a:latin typeface="Courier New" pitchFamily="34" charset="0"/>
                <a:ea typeface="Courier New" pitchFamily="34" charset="-122"/>
                <a:cs typeface="Courier New" pitchFamily="34" charset="-120"/>
              </a:rPr>
              <a:t>rapidocr-onnxruntime</a:t>
            </a:r>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 with disk-based page-level OCR cache — works natively without external system packages.</a:t>
            </a:r>
            <a:endParaRPr lang="en-US" sz="800" dirty="0"/>
          </a:p>
        </p:txBody>
      </p:sp>
      <p:pic>
        <p:nvPicPr>
          <p:cNvPr id="25" name="Image 4" descr="preencoded.png">    </p:cNvPr>
          <p:cNvPicPr>
            <a:picLocks noChangeAspect="1"/>
          </p:cNvPicPr>
          <p:nvPr/>
        </p:nvPicPr>
        <p:blipFill>
          <a:blip r:embed="rId5"/>
          <a:stretch>
            <a:fillRect/>
          </a:stretch>
        </p:blipFill>
        <p:spPr>
          <a:xfrm>
            <a:off x="400050" y="1939751"/>
            <a:ext cx="8343900" cy="886941"/>
          </a:xfrm>
          <a:prstGeom prst="rect">
            <a:avLst/>
          </a:prstGeom>
        </p:spPr>
      </p:pic>
      <p:sp>
        <p:nvSpPr>
          <p:cNvPr id="26" name="Text 19"/>
          <p:cNvSpPr/>
          <p:nvPr/>
        </p:nvSpPr>
        <p:spPr>
          <a:xfrm>
            <a:off x="403622" y="1943323"/>
            <a:ext cx="8336756" cy="879797"/>
          </a:xfrm>
          <a:prstGeom prst="roundRect">
            <a:avLst>
              <a:gd name="adj" fmla="val 12992"/>
            </a:avLst>
          </a:prstGeom>
          <a:noFill/>
          <a:ln w="7144">
            <a:solidFill>
              <a:srgbClr val="0F172A"/>
            </a:solidFill>
            <a:prstDash val="solid"/>
          </a:ln>
        </p:spPr>
        <p:txBody>
          <a:bodyPr wrap="square" rtlCol="0" anchor="ctr"/>
          <a:lstStyle/>
          <a:p>
            <a:pPr indent="0" marL="0">
              <a:buNone/>
            </a:pPr>
            <a:endParaRPr lang="en-US" dirty="0"/>
          </a:p>
        </p:txBody>
      </p:sp>
      <p:sp>
        <p:nvSpPr>
          <p:cNvPr id="27" name="Text 20"/>
          <p:cNvSpPr/>
          <p:nvPr/>
        </p:nvSpPr>
        <p:spPr>
          <a:xfrm>
            <a:off x="4102206" y="1989758"/>
            <a:ext cx="362685" cy="216027"/>
          </a:xfrm>
          <a:prstGeom prst="rect">
            <a:avLst/>
          </a:prstGeom>
          <a:noFill/>
          <a:ln/>
        </p:spPr>
        <p:txBody>
          <a:bodyPr wrap="square" lIns="0" tIns="0" rIns="0" bIns="0" rtlCol="0" anchor="t"/>
          <a:lstStyle/>
          <a:p>
            <a:pPr algn="l" indent="0" marL="0">
              <a:lnSpc>
                <a:spcPts val="1575"/>
              </a:lnSpc>
              <a:buNone/>
            </a:pPr>
            <a:r>
              <a:rPr lang="en-US" sz="1575" b="1" spc="-32" kern="0" dirty="0">
                <a:solidFill>
                  <a:srgbClr val="94A3B8">
                    <a:alpha val="18000"/>
                  </a:srgbClr>
                </a:solidFill>
                <a:latin typeface="Liberation Sans Narrow" pitchFamily="34" charset="0"/>
                <a:ea typeface="Liberation Sans Narrow" pitchFamily="34" charset="-122"/>
                <a:cs typeface="Liberation Sans Narrow" pitchFamily="34" charset="-120"/>
              </a:rPr>
              <a:t>02</a:t>
            </a:r>
            <a:endParaRPr lang="en-US" sz="1575" dirty="0"/>
          </a:p>
        </p:txBody>
      </p:sp>
      <p:sp>
        <p:nvSpPr>
          <p:cNvPr id="28" name="Text 21"/>
          <p:cNvSpPr/>
          <p:nvPr/>
        </p:nvSpPr>
        <p:spPr>
          <a:xfrm>
            <a:off x="507206" y="2046908"/>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29" name="Text 22"/>
          <p:cNvSpPr/>
          <p:nvPr/>
        </p:nvSpPr>
        <p:spPr>
          <a:xfrm>
            <a:off x="864394" y="2061195"/>
            <a:ext cx="677540" cy="121444"/>
          </a:xfrm>
          <a:prstGeom prst="rect">
            <a:avLst/>
          </a:prstGeom>
          <a:solidFill>
            <a:srgbClr val="B91C1C">
              <a:alpha val="10000"/>
            </a:srgbClr>
          </a:solidFill>
          <a:ln/>
        </p:spPr>
        <p:txBody>
          <a:bodyPr wrap="square" rtlCol="0" anchor="ctr"/>
          <a:lstStyle/>
          <a:p>
            <a:pPr indent="0" marL="0">
              <a:buNone/>
            </a:pPr>
            <a:endParaRPr lang="en-US" dirty="0"/>
          </a:p>
        </p:txBody>
      </p:sp>
      <p:sp>
        <p:nvSpPr>
          <p:cNvPr id="30" name="Text 23"/>
          <p:cNvSpPr/>
          <p:nvPr/>
        </p:nvSpPr>
        <p:spPr>
          <a:xfrm>
            <a:off x="824978" y="2061195"/>
            <a:ext cx="872909" cy="133241"/>
          </a:xfrm>
          <a:prstGeom prst="rect">
            <a:avLst/>
          </a:prstGeom>
          <a:noFill/>
          <a:ln/>
        </p:spPr>
        <p:txBody>
          <a:bodyPr wrap="none" lIns="0" tIns="0" rIns="0" bIns="0" rtlCol="0" anchor="t"/>
          <a:lstStyle/>
          <a:p>
            <a:pPr algn="l" indent="0" marL="0">
              <a:lnSpc>
                <a:spcPts val="1221"/>
              </a:lnSpc>
              <a:buNone/>
            </a:pPr>
            <a:r>
              <a:rPr lang="en-US" sz="788" dirty="0">
                <a:solidFill>
                  <a:srgbClr val="B91C1C"/>
                </a:solidFill>
                <a:latin typeface="Liberation Sans Narrow" pitchFamily="34" charset="0"/>
                <a:ea typeface="Liberation Sans Narrow" pitchFamily="34" charset="-122"/>
                <a:cs typeface="Liberation Sans Narrow" pitchFamily="34" charset="-120"/>
              </a:rPr>
              <a:t>CHALLENGE 02</a:t>
            </a:r>
            <a:endParaRPr lang="en-US" sz="788" dirty="0"/>
          </a:p>
        </p:txBody>
      </p:sp>
      <p:sp>
        <p:nvSpPr>
          <p:cNvPr id="31" name="Text 24"/>
          <p:cNvSpPr/>
          <p:nvPr/>
        </p:nvSpPr>
        <p:spPr>
          <a:xfrm>
            <a:off x="864394" y="2230413"/>
            <a:ext cx="3718750"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Losing Acronyms &amp; Order Reference Numbers</a:t>
            </a:r>
            <a:endParaRPr lang="en-US" sz="900" dirty="0"/>
          </a:p>
        </p:txBody>
      </p:sp>
      <p:sp>
        <p:nvSpPr>
          <p:cNvPr id="32" name="Text 25"/>
          <p:cNvSpPr/>
          <p:nvPr/>
        </p:nvSpPr>
        <p:spPr>
          <a:xfrm>
            <a:off x="864394" y="2401863"/>
            <a:ext cx="3443288" cy="164592"/>
          </a:xfrm>
          <a:prstGeom prst="rect">
            <a:avLst/>
          </a:prstGeom>
          <a:noFill/>
          <a:ln/>
        </p:spPr>
        <p:txBody>
          <a:bodyPr wrap="square" lIns="0" tIns="0" rIns="0" bIns="0" rtlCol="0" anchor="t"/>
          <a:lstStyle/>
          <a:p>
            <a:pPr algn="l" indent="0" marL="0">
              <a:lnSpc>
                <a:spcPts val="1013"/>
              </a:lnSpc>
              <a:buNone/>
            </a:pPr>
            <a:r>
              <a:rPr lang="en-US" sz="675" dirty="0">
                <a:solidFill>
                  <a:srgbClr val="475569"/>
                </a:solidFill>
                <a:latin typeface="Carlito" pitchFamily="34" charset="0"/>
                <a:ea typeface="Carlito" pitchFamily="34" charset="-122"/>
                <a:cs typeface="Carlito" pitchFamily="34" charset="-120"/>
              </a:rPr>
              <a:t>Pure semantic vector search drops exact-match tokens like </a:t>
            </a:r>
            <a:pPr algn="l" indent="0" marL="0">
              <a:lnSpc>
                <a:spcPts val="1013"/>
              </a:lnSpc>
              <a:buNone/>
            </a:pPr>
            <a:r>
              <a:rPr lang="en-US" sz="675" dirty="0">
                <a:solidFill>
                  <a:srgbClr val="0E7490"/>
                </a:solidFill>
                <a:latin typeface="Liberation Sans Narrow" pitchFamily="34" charset="0"/>
                <a:ea typeface="Liberation Sans Narrow" pitchFamily="34" charset="-122"/>
                <a:cs typeface="Liberation Sans Narrow" pitchFamily="34" charset="-120"/>
              </a:rPr>
              <a:t>KGP/EXAM/2026/89</a:t>
            </a:r>
            <a:pPr algn="l" indent="0" marL="0">
              <a:lnSpc>
                <a:spcPts val="1013"/>
              </a:lnSpc>
              <a:buNone/>
            </a:pPr>
            <a:r>
              <a:rPr lang="en-US" sz="675" dirty="0">
                <a:solidFill>
                  <a:srgbClr val="475569"/>
                </a:solidFill>
                <a:latin typeface="Carlito" pitchFamily="34" charset="0"/>
                <a:ea typeface="Carlito" pitchFamily="34" charset="-122"/>
                <a:cs typeface="Carlito" pitchFamily="34" charset="-120"/>
              </a:rPr>
              <a:t>.</a:t>
            </a:r>
            <a:endParaRPr lang="en-US" sz="675" dirty="0"/>
          </a:p>
        </p:txBody>
      </p:sp>
      <p:pic>
        <p:nvPicPr>
          <p:cNvPr id="33" name="Image 5" descr="preencoded.png">    </p:cNvPr>
          <p:cNvPicPr>
            <a:picLocks noChangeAspect="1"/>
          </p:cNvPicPr>
          <p:nvPr/>
        </p:nvPicPr>
        <p:blipFill>
          <a:blip r:embed="rId6"/>
          <a:stretch>
            <a:fillRect/>
          </a:stretch>
        </p:blipFill>
        <p:spPr>
          <a:xfrm>
            <a:off x="4407694" y="1946895"/>
            <a:ext cx="328613" cy="872654"/>
          </a:xfrm>
          <a:prstGeom prst="rect">
            <a:avLst/>
          </a:prstGeom>
        </p:spPr>
      </p:pic>
      <p:sp>
        <p:nvSpPr>
          <p:cNvPr id="34" name="Text 26"/>
          <p:cNvSpPr/>
          <p:nvPr/>
        </p:nvSpPr>
        <p:spPr>
          <a:xfrm>
            <a:off x="4468416" y="2279638"/>
            <a:ext cx="207169" cy="207169"/>
          </a:xfrm>
          <a:prstGeom prst="ellipse">
            <a:avLst/>
          </a:prstGeom>
          <a:solidFill>
            <a:srgbClr val="F5EFE3"/>
          </a:solidFill>
          <a:ln w="7144">
            <a:solidFill>
              <a:srgbClr val="0E7490"/>
            </a:solidFill>
            <a:prstDash val="solid"/>
          </a:ln>
          <a:effectLst>
            <a:outerShdw sx="100000" sy="100000" kx="0" ky="0" algn="bl" rotWithShape="0" blurRad="114300" dist="50800" dir="16200000">
              <a:srgbClr val="06B6D4">
                <a:alpha val="18000"/>
              </a:srgbClr>
            </a:outerShdw>
          </a:effectLst>
        </p:spPr>
        <p:txBody>
          <a:bodyPr wrap="square" rtlCol="0" anchor="ctr"/>
          <a:lstStyle/>
          <a:p>
            <a:pPr indent="0" marL="0">
              <a:buNone/>
            </a:pPr>
            <a:endParaRPr lang="en-US" dirty="0"/>
          </a:p>
        </p:txBody>
      </p:sp>
      <p:sp>
        <p:nvSpPr>
          <p:cNvPr id="35" name="Text 27"/>
          <p:cNvSpPr/>
          <p:nvPr/>
        </p:nvSpPr>
        <p:spPr>
          <a:xfrm>
            <a:off x="4483418" y="2294639"/>
            <a:ext cx="177165" cy="177165"/>
          </a:xfrm>
          <a:prstGeom prst="rect">
            <a:avLst/>
          </a:prstGeom>
          <a:noFill/>
          <a:ln/>
        </p:spPr>
        <p:txBody>
          <a:bodyPr wrap="none" lIns="0" tIns="0" rIns="0" bIns="0" rtlCol="0" anchor="ctr"/>
          <a:lstStyle/>
          <a:p>
            <a:pPr algn="ctr" indent="0" marL="0">
              <a:buNone/>
            </a:pPr>
            <a:r>
              <a:rPr lang="en-US" sz="900" b="1" dirty="0">
                <a:solidFill>
                  <a:srgbClr val="0E7490"/>
                </a:solidFill>
                <a:latin typeface="Segoe UI Symbol" pitchFamily="34" charset="0"/>
                <a:ea typeface="Segoe UI Symbol" pitchFamily="34" charset="-122"/>
                <a:cs typeface="Segoe UI Symbol" pitchFamily="34" charset="-120"/>
              </a:rPr>
              <a:t>→</a:t>
            </a:r>
            <a:endParaRPr lang="en-US" sz="900" dirty="0"/>
          </a:p>
        </p:txBody>
      </p:sp>
      <p:sp>
        <p:nvSpPr>
          <p:cNvPr id="36" name="Text 28"/>
          <p:cNvSpPr/>
          <p:nvPr/>
        </p:nvSpPr>
        <p:spPr>
          <a:xfrm>
            <a:off x="4836319" y="2046908"/>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37" name="Text 29"/>
          <p:cNvSpPr/>
          <p:nvPr/>
        </p:nvSpPr>
        <p:spPr>
          <a:xfrm>
            <a:off x="5193506" y="2061195"/>
            <a:ext cx="449721" cy="121444"/>
          </a:xfrm>
          <a:prstGeom prst="rect">
            <a:avLst/>
          </a:prstGeom>
          <a:solidFill>
            <a:srgbClr val="15803D">
              <a:alpha val="10000"/>
            </a:srgbClr>
          </a:solidFill>
          <a:ln/>
        </p:spPr>
        <p:txBody>
          <a:bodyPr wrap="square" rtlCol="0" anchor="ctr"/>
          <a:lstStyle/>
          <a:p>
            <a:pPr indent="0" marL="0">
              <a:buNone/>
            </a:pPr>
            <a:endParaRPr lang="en-US" dirty="0"/>
          </a:p>
        </p:txBody>
      </p:sp>
      <p:sp>
        <p:nvSpPr>
          <p:cNvPr id="38" name="Text 30"/>
          <p:cNvSpPr/>
          <p:nvPr/>
        </p:nvSpPr>
        <p:spPr>
          <a:xfrm>
            <a:off x="5166226" y="2061195"/>
            <a:ext cx="630204" cy="133241"/>
          </a:xfrm>
          <a:prstGeom prst="rect">
            <a:avLst/>
          </a:prstGeom>
          <a:noFill/>
          <a:ln/>
        </p:spPr>
        <p:txBody>
          <a:bodyPr wrap="none" lIns="0" tIns="0" rIns="0" bIns="0" rtlCol="0" anchor="t"/>
          <a:lstStyle/>
          <a:p>
            <a:pPr algn="l" indent="0" marL="0">
              <a:lnSpc>
                <a:spcPts val="1221"/>
              </a:lnSpc>
              <a:buNone/>
            </a:pPr>
            <a:r>
              <a:rPr lang="en-US" sz="800" dirty="0">
                <a:solidFill>
                  <a:srgbClr val="15803D"/>
                </a:solidFill>
                <a:latin typeface="Carlito" pitchFamily="34" charset="0"/>
                <a:ea typeface="Carlito" pitchFamily="34" charset="-122"/>
                <a:cs typeface="Carlito" pitchFamily="34" charset="-120"/>
              </a:rPr>
              <a:t>SOLUTION</a:t>
            </a:r>
            <a:endParaRPr lang="en-US" sz="800" dirty="0"/>
          </a:p>
        </p:txBody>
      </p:sp>
      <p:sp>
        <p:nvSpPr>
          <p:cNvPr id="39" name="Text 31"/>
          <p:cNvSpPr/>
          <p:nvPr/>
        </p:nvSpPr>
        <p:spPr>
          <a:xfrm>
            <a:off x="5193506" y="2230413"/>
            <a:ext cx="3653028"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Liberation Sans Narrow" pitchFamily="34" charset="0"/>
                <a:ea typeface="Liberation Sans Narrow" pitchFamily="34" charset="-122"/>
                <a:cs typeface="Liberation Sans Narrow" pitchFamily="34" charset="-120"/>
              </a:rPr>
              <a:t>Hybrid Search (BM25 + FAISS) + RRF</a:t>
            </a:r>
            <a:endParaRPr lang="en-US" sz="900" dirty="0"/>
          </a:p>
        </p:txBody>
      </p:sp>
      <p:sp>
        <p:nvSpPr>
          <p:cNvPr id="40" name="Text 32"/>
          <p:cNvSpPr/>
          <p:nvPr/>
        </p:nvSpPr>
        <p:spPr>
          <a:xfrm>
            <a:off x="5193506" y="2401863"/>
            <a:ext cx="3443288" cy="329184"/>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Replaced pure semantic search with Hybrid Retrieval coupled with Reciprocal Rank Fusion to preserve lexical precision.</a:t>
            </a:r>
            <a:endParaRPr lang="en-US" sz="800" dirty="0"/>
          </a:p>
        </p:txBody>
      </p:sp>
      <p:pic>
        <p:nvPicPr>
          <p:cNvPr id="41" name="Image 6" descr="preencoded.png">    </p:cNvPr>
          <p:cNvPicPr>
            <a:picLocks noChangeAspect="1"/>
          </p:cNvPicPr>
          <p:nvPr/>
        </p:nvPicPr>
        <p:blipFill>
          <a:blip r:embed="rId7"/>
          <a:stretch>
            <a:fillRect/>
          </a:stretch>
        </p:blipFill>
        <p:spPr>
          <a:xfrm>
            <a:off x="400050" y="2898130"/>
            <a:ext cx="8343900" cy="886941"/>
          </a:xfrm>
          <a:prstGeom prst="rect">
            <a:avLst/>
          </a:prstGeom>
        </p:spPr>
      </p:pic>
      <p:sp>
        <p:nvSpPr>
          <p:cNvPr id="42" name="Text 33"/>
          <p:cNvSpPr/>
          <p:nvPr/>
        </p:nvSpPr>
        <p:spPr>
          <a:xfrm>
            <a:off x="403622" y="2901702"/>
            <a:ext cx="8336756" cy="879797"/>
          </a:xfrm>
          <a:prstGeom prst="roundRect">
            <a:avLst>
              <a:gd name="adj" fmla="val 12992"/>
            </a:avLst>
          </a:prstGeom>
          <a:noFill/>
          <a:ln w="7144">
            <a:solidFill>
              <a:srgbClr val="0F172A"/>
            </a:solidFill>
            <a:prstDash val="solid"/>
          </a:ln>
        </p:spPr>
        <p:txBody>
          <a:bodyPr wrap="square" rtlCol="0" anchor="ctr"/>
          <a:lstStyle/>
          <a:p>
            <a:pPr indent="0" marL="0">
              <a:buNone/>
            </a:pPr>
            <a:endParaRPr lang="en-US" dirty="0"/>
          </a:p>
        </p:txBody>
      </p:sp>
      <p:sp>
        <p:nvSpPr>
          <p:cNvPr id="43" name="Text 34"/>
          <p:cNvSpPr/>
          <p:nvPr/>
        </p:nvSpPr>
        <p:spPr>
          <a:xfrm>
            <a:off x="4102206" y="2948136"/>
            <a:ext cx="362685" cy="216027"/>
          </a:xfrm>
          <a:prstGeom prst="rect">
            <a:avLst/>
          </a:prstGeom>
          <a:noFill/>
          <a:ln/>
        </p:spPr>
        <p:txBody>
          <a:bodyPr wrap="square" lIns="0" tIns="0" rIns="0" bIns="0" rtlCol="0" anchor="t"/>
          <a:lstStyle/>
          <a:p>
            <a:pPr algn="l" indent="0" marL="0">
              <a:lnSpc>
                <a:spcPts val="1575"/>
              </a:lnSpc>
              <a:buNone/>
            </a:pPr>
            <a:r>
              <a:rPr lang="en-US" sz="1575" b="1" spc="-32" kern="0" dirty="0">
                <a:solidFill>
                  <a:srgbClr val="94A3B8">
                    <a:alpha val="18000"/>
                  </a:srgbClr>
                </a:solidFill>
                <a:latin typeface="Liberation Sans Narrow" pitchFamily="34" charset="0"/>
                <a:ea typeface="Liberation Sans Narrow" pitchFamily="34" charset="-122"/>
                <a:cs typeface="Liberation Sans Narrow" pitchFamily="34" charset="-120"/>
              </a:rPr>
              <a:t>03</a:t>
            </a:r>
            <a:endParaRPr lang="en-US" sz="1575" dirty="0"/>
          </a:p>
        </p:txBody>
      </p:sp>
      <p:sp>
        <p:nvSpPr>
          <p:cNvPr id="44" name="Text 35"/>
          <p:cNvSpPr/>
          <p:nvPr/>
        </p:nvSpPr>
        <p:spPr>
          <a:xfrm>
            <a:off x="507206" y="3005286"/>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45" name="Text 36"/>
          <p:cNvSpPr/>
          <p:nvPr/>
        </p:nvSpPr>
        <p:spPr>
          <a:xfrm>
            <a:off x="864394" y="3019574"/>
            <a:ext cx="677540" cy="121444"/>
          </a:xfrm>
          <a:prstGeom prst="rect">
            <a:avLst/>
          </a:prstGeom>
          <a:solidFill>
            <a:srgbClr val="B91C1C">
              <a:alpha val="10000"/>
            </a:srgbClr>
          </a:solidFill>
          <a:ln/>
        </p:spPr>
        <p:txBody>
          <a:bodyPr wrap="square" rtlCol="0" anchor="ctr"/>
          <a:lstStyle/>
          <a:p>
            <a:pPr indent="0" marL="0">
              <a:buNone/>
            </a:pPr>
            <a:endParaRPr lang="en-US" dirty="0"/>
          </a:p>
        </p:txBody>
      </p:sp>
      <p:sp>
        <p:nvSpPr>
          <p:cNvPr id="46" name="Text 37"/>
          <p:cNvSpPr/>
          <p:nvPr/>
        </p:nvSpPr>
        <p:spPr>
          <a:xfrm>
            <a:off x="824978" y="3019574"/>
            <a:ext cx="872909" cy="133241"/>
          </a:xfrm>
          <a:prstGeom prst="rect">
            <a:avLst/>
          </a:prstGeom>
          <a:noFill/>
          <a:ln/>
        </p:spPr>
        <p:txBody>
          <a:bodyPr wrap="none" lIns="0" tIns="0" rIns="0" bIns="0" rtlCol="0" anchor="t"/>
          <a:lstStyle/>
          <a:p>
            <a:pPr algn="l" indent="0" marL="0">
              <a:lnSpc>
                <a:spcPts val="1221"/>
              </a:lnSpc>
              <a:buNone/>
            </a:pPr>
            <a:r>
              <a:rPr lang="en-US" sz="788" dirty="0">
                <a:solidFill>
                  <a:srgbClr val="B91C1C"/>
                </a:solidFill>
                <a:latin typeface="Liberation Sans Narrow" pitchFamily="34" charset="0"/>
                <a:ea typeface="Liberation Sans Narrow" pitchFamily="34" charset="-122"/>
                <a:cs typeface="Liberation Sans Narrow" pitchFamily="34" charset="-120"/>
              </a:rPr>
              <a:t>CHALLENGE 03</a:t>
            </a:r>
            <a:endParaRPr lang="en-US" sz="788" dirty="0"/>
          </a:p>
        </p:txBody>
      </p:sp>
      <p:sp>
        <p:nvSpPr>
          <p:cNvPr id="47" name="Text 38"/>
          <p:cNvSpPr/>
          <p:nvPr/>
        </p:nvSpPr>
        <p:spPr>
          <a:xfrm>
            <a:off x="864394" y="3188791"/>
            <a:ext cx="3718750"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Multi-User Cloud Deployment Memory Exceedance</a:t>
            </a:r>
            <a:endParaRPr lang="en-US" sz="900" dirty="0"/>
          </a:p>
        </p:txBody>
      </p:sp>
      <p:sp>
        <p:nvSpPr>
          <p:cNvPr id="48" name="Text 39"/>
          <p:cNvSpPr/>
          <p:nvPr/>
        </p:nvSpPr>
        <p:spPr>
          <a:xfrm>
            <a:off x="864394" y="3360241"/>
            <a:ext cx="3443288" cy="164592"/>
          </a:xfrm>
          <a:prstGeom prst="rect">
            <a:avLst/>
          </a:prstGeom>
          <a:noFill/>
          <a:ln/>
        </p:spPr>
        <p:txBody>
          <a:bodyPr wrap="square" lIns="0" tIns="0" rIns="0" bIns="0" rtlCol="0" anchor="t"/>
          <a:lstStyle/>
          <a:p>
            <a:pPr algn="l" indent="0" marL="0">
              <a:lnSpc>
                <a:spcPts val="1013"/>
              </a:lnSpc>
              <a:buNone/>
            </a:pPr>
            <a:r>
              <a:rPr lang="en-US" sz="675" dirty="0">
                <a:solidFill>
                  <a:srgbClr val="475569"/>
                </a:solidFill>
                <a:latin typeface="Carlito" pitchFamily="34" charset="0"/>
                <a:ea typeface="Carlito" pitchFamily="34" charset="-122"/>
                <a:cs typeface="Carlito" pitchFamily="34" charset="-120"/>
              </a:rPr>
              <a:t>Streamlit Community Cloud free tier crashes when index build runs inside the live app.</a:t>
            </a:r>
            <a:endParaRPr lang="en-US" sz="675" dirty="0"/>
          </a:p>
        </p:txBody>
      </p:sp>
      <p:pic>
        <p:nvPicPr>
          <p:cNvPr id="49" name="Image 7" descr="preencoded.png">    </p:cNvPr>
          <p:cNvPicPr>
            <a:picLocks noChangeAspect="1"/>
          </p:cNvPicPr>
          <p:nvPr/>
        </p:nvPicPr>
        <p:blipFill>
          <a:blip r:embed="rId8"/>
          <a:stretch>
            <a:fillRect/>
          </a:stretch>
        </p:blipFill>
        <p:spPr>
          <a:xfrm>
            <a:off x="4407694" y="2905274"/>
            <a:ext cx="328613" cy="872654"/>
          </a:xfrm>
          <a:prstGeom prst="rect">
            <a:avLst/>
          </a:prstGeom>
        </p:spPr>
      </p:pic>
      <p:sp>
        <p:nvSpPr>
          <p:cNvPr id="50" name="Text 40"/>
          <p:cNvSpPr/>
          <p:nvPr/>
        </p:nvSpPr>
        <p:spPr>
          <a:xfrm>
            <a:off x="4468416" y="3238016"/>
            <a:ext cx="207169" cy="207169"/>
          </a:xfrm>
          <a:prstGeom prst="ellipse">
            <a:avLst/>
          </a:prstGeom>
          <a:solidFill>
            <a:srgbClr val="F5EFE3"/>
          </a:solidFill>
          <a:ln w="7144">
            <a:solidFill>
              <a:srgbClr val="0E7490"/>
            </a:solidFill>
            <a:prstDash val="solid"/>
          </a:ln>
          <a:effectLst>
            <a:outerShdw sx="100000" sy="100000" kx="0" ky="0" algn="bl" rotWithShape="0" blurRad="114300" dist="50800" dir="16200000">
              <a:srgbClr val="06B6D4">
                <a:alpha val="18000"/>
              </a:srgbClr>
            </a:outerShdw>
          </a:effectLst>
        </p:spPr>
        <p:txBody>
          <a:bodyPr wrap="square" rtlCol="0" anchor="ctr"/>
          <a:lstStyle/>
          <a:p>
            <a:pPr indent="0" marL="0">
              <a:buNone/>
            </a:pPr>
            <a:endParaRPr lang="en-US" dirty="0"/>
          </a:p>
        </p:txBody>
      </p:sp>
      <p:sp>
        <p:nvSpPr>
          <p:cNvPr id="51" name="Text 41"/>
          <p:cNvSpPr/>
          <p:nvPr/>
        </p:nvSpPr>
        <p:spPr>
          <a:xfrm>
            <a:off x="4483418" y="3253018"/>
            <a:ext cx="177165" cy="177165"/>
          </a:xfrm>
          <a:prstGeom prst="rect">
            <a:avLst/>
          </a:prstGeom>
          <a:noFill/>
          <a:ln/>
        </p:spPr>
        <p:txBody>
          <a:bodyPr wrap="none" lIns="0" tIns="0" rIns="0" bIns="0" rtlCol="0" anchor="ctr"/>
          <a:lstStyle/>
          <a:p>
            <a:pPr algn="ctr" indent="0" marL="0">
              <a:buNone/>
            </a:pPr>
            <a:r>
              <a:rPr lang="en-US" sz="900" b="1" dirty="0">
                <a:solidFill>
                  <a:srgbClr val="0E7490"/>
                </a:solidFill>
                <a:latin typeface="Segoe UI Symbol" pitchFamily="34" charset="0"/>
                <a:ea typeface="Segoe UI Symbol" pitchFamily="34" charset="-122"/>
                <a:cs typeface="Segoe UI Symbol" pitchFamily="34" charset="-120"/>
              </a:rPr>
              <a:t>→</a:t>
            </a:r>
            <a:endParaRPr lang="en-US" sz="900" dirty="0"/>
          </a:p>
        </p:txBody>
      </p:sp>
      <p:sp>
        <p:nvSpPr>
          <p:cNvPr id="52" name="Text 42"/>
          <p:cNvSpPr/>
          <p:nvPr/>
        </p:nvSpPr>
        <p:spPr>
          <a:xfrm>
            <a:off x="4836319" y="3005286"/>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53" name="Text 43"/>
          <p:cNvSpPr/>
          <p:nvPr/>
        </p:nvSpPr>
        <p:spPr>
          <a:xfrm>
            <a:off x="5193506" y="3019574"/>
            <a:ext cx="449721" cy="121444"/>
          </a:xfrm>
          <a:prstGeom prst="rect">
            <a:avLst/>
          </a:prstGeom>
          <a:solidFill>
            <a:srgbClr val="15803D">
              <a:alpha val="10000"/>
            </a:srgbClr>
          </a:solidFill>
          <a:ln/>
        </p:spPr>
        <p:txBody>
          <a:bodyPr wrap="square" rtlCol="0" anchor="ctr"/>
          <a:lstStyle/>
          <a:p>
            <a:pPr indent="0" marL="0">
              <a:buNone/>
            </a:pPr>
            <a:endParaRPr lang="en-US" dirty="0"/>
          </a:p>
        </p:txBody>
      </p:sp>
      <p:sp>
        <p:nvSpPr>
          <p:cNvPr id="54" name="Text 44"/>
          <p:cNvSpPr/>
          <p:nvPr/>
        </p:nvSpPr>
        <p:spPr>
          <a:xfrm>
            <a:off x="5166226" y="3019574"/>
            <a:ext cx="630204" cy="133241"/>
          </a:xfrm>
          <a:prstGeom prst="rect">
            <a:avLst/>
          </a:prstGeom>
          <a:noFill/>
          <a:ln/>
        </p:spPr>
        <p:txBody>
          <a:bodyPr wrap="none" lIns="0" tIns="0" rIns="0" bIns="0" rtlCol="0" anchor="t"/>
          <a:lstStyle/>
          <a:p>
            <a:pPr algn="l" indent="0" marL="0">
              <a:lnSpc>
                <a:spcPts val="1221"/>
              </a:lnSpc>
              <a:buNone/>
            </a:pPr>
            <a:r>
              <a:rPr lang="en-US" sz="800" dirty="0">
                <a:solidFill>
                  <a:srgbClr val="15803D"/>
                </a:solidFill>
                <a:latin typeface="Carlito" pitchFamily="34" charset="0"/>
                <a:ea typeface="Carlito" pitchFamily="34" charset="-122"/>
                <a:cs typeface="Carlito" pitchFamily="34" charset="-120"/>
              </a:rPr>
              <a:t>SOLUTION</a:t>
            </a:r>
            <a:endParaRPr lang="en-US" sz="800" dirty="0"/>
          </a:p>
        </p:txBody>
      </p:sp>
      <p:sp>
        <p:nvSpPr>
          <p:cNvPr id="55" name="Text 45"/>
          <p:cNvSpPr/>
          <p:nvPr/>
        </p:nvSpPr>
        <p:spPr>
          <a:xfrm>
            <a:off x="5193506" y="3188791"/>
            <a:ext cx="3443288"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Offline Decoupled Batch Script (</a:t>
            </a:r>
            <a:pPr algn="l" indent="0" marL="0">
              <a:lnSpc>
                <a:spcPts val="1125"/>
              </a:lnSpc>
              <a:buNone/>
            </a:pPr>
            <a:r>
              <a:rPr lang="en-US" sz="900" dirty="0">
                <a:solidFill>
                  <a:srgbClr val="0F172A"/>
                </a:solidFill>
                <a:latin typeface="Courier New" pitchFamily="34" charset="0"/>
                <a:ea typeface="Courier New" pitchFamily="34" charset="-122"/>
                <a:cs typeface="Courier New" pitchFamily="34" charset="-120"/>
              </a:rPr>
              <a:t>build_index.py</a:t>
            </a:r>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a:t>
            </a:r>
            <a:endParaRPr lang="en-US" sz="900" dirty="0"/>
          </a:p>
        </p:txBody>
      </p:sp>
      <p:sp>
        <p:nvSpPr>
          <p:cNvPr id="56" name="Text 46"/>
          <p:cNvSpPr/>
          <p:nvPr/>
        </p:nvSpPr>
        <p:spPr>
          <a:xfrm>
            <a:off x="5193506" y="3360241"/>
            <a:ext cx="3443288" cy="329184"/>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Migrated heavy indexing to an offline batch script, leaving the web app ultra-lightweight and reactive.</a:t>
            </a:r>
            <a:endParaRPr lang="en-US" sz="800" dirty="0"/>
          </a:p>
        </p:txBody>
      </p:sp>
      <p:pic>
        <p:nvPicPr>
          <p:cNvPr id="57" name="Image 8" descr="preencoded.png">    </p:cNvPr>
          <p:cNvPicPr>
            <a:picLocks noChangeAspect="1"/>
          </p:cNvPicPr>
          <p:nvPr/>
        </p:nvPicPr>
        <p:blipFill>
          <a:blip r:embed="rId9"/>
          <a:stretch>
            <a:fillRect/>
          </a:stretch>
        </p:blipFill>
        <p:spPr>
          <a:xfrm>
            <a:off x="400050" y="3856509"/>
            <a:ext cx="8343900" cy="886941"/>
          </a:xfrm>
          <a:prstGeom prst="rect">
            <a:avLst/>
          </a:prstGeom>
        </p:spPr>
      </p:pic>
      <p:sp>
        <p:nvSpPr>
          <p:cNvPr id="58" name="Text 47"/>
          <p:cNvSpPr/>
          <p:nvPr/>
        </p:nvSpPr>
        <p:spPr>
          <a:xfrm>
            <a:off x="403622" y="3860081"/>
            <a:ext cx="8336756" cy="879797"/>
          </a:xfrm>
          <a:prstGeom prst="roundRect">
            <a:avLst>
              <a:gd name="adj" fmla="val 12992"/>
            </a:avLst>
          </a:prstGeom>
          <a:noFill/>
          <a:ln w="7144">
            <a:solidFill>
              <a:srgbClr val="0F172A"/>
            </a:solidFill>
            <a:prstDash val="solid"/>
          </a:ln>
        </p:spPr>
        <p:txBody>
          <a:bodyPr wrap="square" rtlCol="0" anchor="ctr"/>
          <a:lstStyle/>
          <a:p>
            <a:pPr indent="0" marL="0">
              <a:buNone/>
            </a:pPr>
            <a:endParaRPr lang="en-US" dirty="0"/>
          </a:p>
        </p:txBody>
      </p:sp>
      <p:sp>
        <p:nvSpPr>
          <p:cNvPr id="59" name="Text 48"/>
          <p:cNvSpPr/>
          <p:nvPr/>
        </p:nvSpPr>
        <p:spPr>
          <a:xfrm>
            <a:off x="4102206" y="3906515"/>
            <a:ext cx="362685" cy="216027"/>
          </a:xfrm>
          <a:prstGeom prst="rect">
            <a:avLst/>
          </a:prstGeom>
          <a:noFill/>
          <a:ln/>
        </p:spPr>
        <p:txBody>
          <a:bodyPr wrap="square" lIns="0" tIns="0" rIns="0" bIns="0" rtlCol="0" anchor="t"/>
          <a:lstStyle/>
          <a:p>
            <a:pPr algn="l" indent="0" marL="0">
              <a:lnSpc>
                <a:spcPts val="1575"/>
              </a:lnSpc>
              <a:buNone/>
            </a:pPr>
            <a:r>
              <a:rPr lang="en-US" sz="1575" b="1" spc="-32" kern="0" dirty="0">
                <a:solidFill>
                  <a:srgbClr val="94A3B8">
                    <a:alpha val="18000"/>
                  </a:srgbClr>
                </a:solidFill>
                <a:latin typeface="Liberation Sans Narrow" pitchFamily="34" charset="0"/>
                <a:ea typeface="Liberation Sans Narrow" pitchFamily="34" charset="-122"/>
                <a:cs typeface="Liberation Sans Narrow" pitchFamily="34" charset="-120"/>
              </a:rPr>
              <a:t>04</a:t>
            </a:r>
            <a:endParaRPr lang="en-US" sz="1575" dirty="0"/>
          </a:p>
        </p:txBody>
      </p:sp>
      <p:sp>
        <p:nvSpPr>
          <p:cNvPr id="60" name="Text 49"/>
          <p:cNvSpPr/>
          <p:nvPr/>
        </p:nvSpPr>
        <p:spPr>
          <a:xfrm>
            <a:off x="507206" y="3963665"/>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61" name="Text 50"/>
          <p:cNvSpPr/>
          <p:nvPr/>
        </p:nvSpPr>
        <p:spPr>
          <a:xfrm>
            <a:off x="864394" y="3977953"/>
            <a:ext cx="677540" cy="121444"/>
          </a:xfrm>
          <a:prstGeom prst="rect">
            <a:avLst/>
          </a:prstGeom>
          <a:solidFill>
            <a:srgbClr val="B91C1C">
              <a:alpha val="10000"/>
            </a:srgbClr>
          </a:solidFill>
          <a:ln/>
        </p:spPr>
        <p:txBody>
          <a:bodyPr wrap="square" rtlCol="0" anchor="ctr"/>
          <a:lstStyle/>
          <a:p>
            <a:pPr indent="0" marL="0">
              <a:buNone/>
            </a:pPr>
            <a:endParaRPr lang="en-US" dirty="0"/>
          </a:p>
        </p:txBody>
      </p:sp>
      <p:sp>
        <p:nvSpPr>
          <p:cNvPr id="62" name="Text 51"/>
          <p:cNvSpPr/>
          <p:nvPr/>
        </p:nvSpPr>
        <p:spPr>
          <a:xfrm>
            <a:off x="824978" y="3977953"/>
            <a:ext cx="872909" cy="133241"/>
          </a:xfrm>
          <a:prstGeom prst="rect">
            <a:avLst/>
          </a:prstGeom>
          <a:noFill/>
          <a:ln/>
        </p:spPr>
        <p:txBody>
          <a:bodyPr wrap="none" lIns="0" tIns="0" rIns="0" bIns="0" rtlCol="0" anchor="t"/>
          <a:lstStyle/>
          <a:p>
            <a:pPr algn="l" indent="0" marL="0">
              <a:lnSpc>
                <a:spcPts val="1221"/>
              </a:lnSpc>
              <a:buNone/>
            </a:pPr>
            <a:r>
              <a:rPr lang="en-US" sz="788" dirty="0">
                <a:solidFill>
                  <a:srgbClr val="B91C1C"/>
                </a:solidFill>
                <a:latin typeface="Liberation Sans Narrow" pitchFamily="34" charset="0"/>
                <a:ea typeface="Liberation Sans Narrow" pitchFamily="34" charset="-122"/>
                <a:cs typeface="Liberation Sans Narrow" pitchFamily="34" charset="-120"/>
              </a:rPr>
              <a:t>CHALLENGE 04</a:t>
            </a:r>
            <a:endParaRPr lang="en-US" sz="788" dirty="0"/>
          </a:p>
        </p:txBody>
      </p:sp>
      <p:sp>
        <p:nvSpPr>
          <p:cNvPr id="63" name="Text 52"/>
          <p:cNvSpPr/>
          <p:nvPr/>
        </p:nvSpPr>
        <p:spPr>
          <a:xfrm>
            <a:off x="864394" y="4147170"/>
            <a:ext cx="3718750"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Keeping Free Cloud Tier Alive</a:t>
            </a:r>
            <a:endParaRPr lang="en-US" sz="900" dirty="0"/>
          </a:p>
        </p:txBody>
      </p:sp>
      <p:sp>
        <p:nvSpPr>
          <p:cNvPr id="64" name="Text 53"/>
          <p:cNvSpPr/>
          <p:nvPr/>
        </p:nvSpPr>
        <p:spPr>
          <a:xfrm>
            <a:off x="864394" y="4318620"/>
            <a:ext cx="3443288" cy="329184"/>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Streamlit Community Cloud sleeps inactive deployments, causing cold-start latency for evaluators.</a:t>
            </a:r>
            <a:endParaRPr lang="en-US" sz="800" dirty="0"/>
          </a:p>
        </p:txBody>
      </p:sp>
      <p:pic>
        <p:nvPicPr>
          <p:cNvPr id="65" name="Image 9" descr="preencoded.png">    </p:cNvPr>
          <p:cNvPicPr>
            <a:picLocks noChangeAspect="1"/>
          </p:cNvPicPr>
          <p:nvPr/>
        </p:nvPicPr>
        <p:blipFill>
          <a:blip r:embed="rId10"/>
          <a:stretch>
            <a:fillRect/>
          </a:stretch>
        </p:blipFill>
        <p:spPr>
          <a:xfrm>
            <a:off x="4407694" y="3863653"/>
            <a:ext cx="328613" cy="872654"/>
          </a:xfrm>
          <a:prstGeom prst="rect">
            <a:avLst/>
          </a:prstGeom>
        </p:spPr>
      </p:pic>
      <p:sp>
        <p:nvSpPr>
          <p:cNvPr id="66" name="Text 54"/>
          <p:cNvSpPr/>
          <p:nvPr/>
        </p:nvSpPr>
        <p:spPr>
          <a:xfrm>
            <a:off x="4468416" y="4196395"/>
            <a:ext cx="207169" cy="207169"/>
          </a:xfrm>
          <a:prstGeom prst="ellipse">
            <a:avLst/>
          </a:prstGeom>
          <a:solidFill>
            <a:srgbClr val="F5EFE3"/>
          </a:solidFill>
          <a:ln w="7144">
            <a:solidFill>
              <a:srgbClr val="0E7490"/>
            </a:solidFill>
            <a:prstDash val="solid"/>
          </a:ln>
          <a:effectLst>
            <a:outerShdw sx="100000" sy="100000" kx="0" ky="0" algn="bl" rotWithShape="0" blurRad="114300" dist="50800" dir="16200000">
              <a:srgbClr val="06B6D4">
                <a:alpha val="18000"/>
              </a:srgbClr>
            </a:outerShdw>
          </a:effectLst>
        </p:spPr>
        <p:txBody>
          <a:bodyPr wrap="square" rtlCol="0" anchor="ctr"/>
          <a:lstStyle/>
          <a:p>
            <a:pPr indent="0" marL="0">
              <a:buNone/>
            </a:pPr>
            <a:endParaRPr lang="en-US" dirty="0"/>
          </a:p>
        </p:txBody>
      </p:sp>
      <p:sp>
        <p:nvSpPr>
          <p:cNvPr id="67" name="Text 55"/>
          <p:cNvSpPr/>
          <p:nvPr/>
        </p:nvSpPr>
        <p:spPr>
          <a:xfrm>
            <a:off x="4483418" y="4211397"/>
            <a:ext cx="177165" cy="177165"/>
          </a:xfrm>
          <a:prstGeom prst="rect">
            <a:avLst/>
          </a:prstGeom>
          <a:noFill/>
          <a:ln/>
        </p:spPr>
        <p:txBody>
          <a:bodyPr wrap="none" lIns="0" tIns="0" rIns="0" bIns="0" rtlCol="0" anchor="ctr"/>
          <a:lstStyle/>
          <a:p>
            <a:pPr algn="ctr" indent="0" marL="0">
              <a:buNone/>
            </a:pPr>
            <a:r>
              <a:rPr lang="en-US" sz="900" b="1" dirty="0">
                <a:solidFill>
                  <a:srgbClr val="0E7490"/>
                </a:solidFill>
                <a:latin typeface="Segoe UI Symbol" pitchFamily="34" charset="0"/>
                <a:ea typeface="Segoe UI Symbol" pitchFamily="34" charset="-122"/>
                <a:cs typeface="Segoe UI Symbol" pitchFamily="34" charset="-120"/>
              </a:rPr>
              <a:t>→</a:t>
            </a:r>
            <a:endParaRPr lang="en-US" sz="900" dirty="0"/>
          </a:p>
        </p:txBody>
      </p:sp>
      <p:sp>
        <p:nvSpPr>
          <p:cNvPr id="68" name="Text 56"/>
          <p:cNvSpPr/>
          <p:nvPr/>
        </p:nvSpPr>
        <p:spPr>
          <a:xfrm>
            <a:off x="4836319" y="3963665"/>
            <a:ext cx="271463" cy="271463"/>
          </a:xfrm>
          <a:prstGeom prst="rect">
            <a:avLst/>
          </a:prstGeom>
          <a:noFill/>
          <a:ln/>
        </p:spPr>
        <p:txBody>
          <a:bodyPr wrap="none" lIns="0" tIns="0" rIns="0" bIns="0" rtlCol="0" anchor="ctr"/>
          <a:lstStyle/>
          <a:p>
            <a:pPr algn="ctr" indent="0" marL="0">
              <a:buNone/>
            </a:pPr>
            <a:r>
              <a:rPr lang="en-US" sz="984" dirty="0">
                <a:solidFill>
                  <a:srgbClr val="0F172A"/>
                </a:solidFill>
                <a:latin typeface="Segoe UI Symbol" pitchFamily="34" charset="0"/>
                <a:ea typeface="Segoe UI Symbol" pitchFamily="34" charset="-122"/>
                <a:cs typeface="Segoe UI Symbol" pitchFamily="34" charset="-120"/>
              </a:rPr>
              <a:t>◔</a:t>
            </a:r>
            <a:endParaRPr lang="en-US" sz="984" dirty="0"/>
          </a:p>
        </p:txBody>
      </p:sp>
      <p:sp>
        <p:nvSpPr>
          <p:cNvPr id="69" name="Text 57"/>
          <p:cNvSpPr/>
          <p:nvPr/>
        </p:nvSpPr>
        <p:spPr>
          <a:xfrm>
            <a:off x="5193506" y="3977953"/>
            <a:ext cx="449721" cy="121444"/>
          </a:xfrm>
          <a:prstGeom prst="rect">
            <a:avLst/>
          </a:prstGeom>
          <a:solidFill>
            <a:srgbClr val="15803D">
              <a:alpha val="10000"/>
            </a:srgbClr>
          </a:solidFill>
          <a:ln/>
        </p:spPr>
        <p:txBody>
          <a:bodyPr wrap="square" rtlCol="0" anchor="ctr"/>
          <a:lstStyle/>
          <a:p>
            <a:pPr indent="0" marL="0">
              <a:buNone/>
            </a:pPr>
            <a:endParaRPr lang="en-US" dirty="0"/>
          </a:p>
        </p:txBody>
      </p:sp>
      <p:sp>
        <p:nvSpPr>
          <p:cNvPr id="70" name="Text 58"/>
          <p:cNvSpPr/>
          <p:nvPr/>
        </p:nvSpPr>
        <p:spPr>
          <a:xfrm>
            <a:off x="5166226" y="3977953"/>
            <a:ext cx="630204" cy="133241"/>
          </a:xfrm>
          <a:prstGeom prst="rect">
            <a:avLst/>
          </a:prstGeom>
          <a:noFill/>
          <a:ln/>
        </p:spPr>
        <p:txBody>
          <a:bodyPr wrap="none" lIns="0" tIns="0" rIns="0" bIns="0" rtlCol="0" anchor="t"/>
          <a:lstStyle/>
          <a:p>
            <a:pPr algn="l" indent="0" marL="0">
              <a:lnSpc>
                <a:spcPts val="1221"/>
              </a:lnSpc>
              <a:buNone/>
            </a:pPr>
            <a:r>
              <a:rPr lang="en-US" sz="800" dirty="0">
                <a:solidFill>
                  <a:srgbClr val="15803D"/>
                </a:solidFill>
                <a:latin typeface="Carlito" pitchFamily="34" charset="0"/>
                <a:ea typeface="Carlito" pitchFamily="34" charset="-122"/>
                <a:cs typeface="Carlito" pitchFamily="34" charset="-120"/>
              </a:rPr>
              <a:t>SOLUTION</a:t>
            </a:r>
            <a:endParaRPr lang="en-US" sz="800" dirty="0"/>
          </a:p>
        </p:txBody>
      </p:sp>
      <p:sp>
        <p:nvSpPr>
          <p:cNvPr id="71" name="Text 59"/>
          <p:cNvSpPr/>
          <p:nvPr/>
        </p:nvSpPr>
        <p:spPr>
          <a:xfrm>
            <a:off x="5193506" y="4147170"/>
            <a:ext cx="3653028"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GitHub Actions Keepalive Cron</a:t>
            </a:r>
            <a:endParaRPr lang="en-US" sz="900" dirty="0"/>
          </a:p>
        </p:txBody>
      </p:sp>
      <p:sp>
        <p:nvSpPr>
          <p:cNvPr id="72" name="Text 60"/>
          <p:cNvSpPr/>
          <p:nvPr/>
        </p:nvSpPr>
        <p:spPr>
          <a:xfrm>
            <a:off x="5193506" y="4318620"/>
            <a:ext cx="3443288" cy="329184"/>
          </a:xfrm>
          <a:prstGeom prst="rect">
            <a:avLst/>
          </a:prstGeom>
          <a:noFill/>
          <a:ln/>
        </p:spPr>
        <p:txBody>
          <a:bodyPr wrap="square" lIns="0" tIns="0" rIns="0" bIns="0" rtlCol="0" anchor="t"/>
          <a:lstStyle/>
          <a:p>
            <a:pPr algn="l" indent="0" marL="0">
              <a:lnSpc>
                <a:spcPts val="1013"/>
              </a:lnSpc>
              <a:buNone/>
            </a:pPr>
            <a:r>
              <a:rPr lang="en-US" sz="800" dirty="0">
                <a:solidFill>
                  <a:srgbClr val="475569"/>
                </a:solidFill>
                <a:latin typeface="Carlito" pitchFamily="34" charset="0"/>
                <a:ea typeface="Carlito" pitchFamily="34" charset="-122"/>
                <a:cs typeface="Carlito" pitchFamily="34" charset="-120"/>
              </a:rPr>
              <a:t>Authored a dedicated GitHub Actions workflow to ping the live Streamlit instance every 3 days.</a:t>
            </a:r>
            <a:endParaRPr lang="en-US" sz="800" dirty="0"/>
          </a:p>
        </p:txBody>
      </p:sp>
      <p:sp>
        <p:nvSpPr>
          <p:cNvPr id="73" name="Shape 61"/>
          <p:cNvSpPr/>
          <p:nvPr/>
        </p:nvSpPr>
        <p:spPr>
          <a:xfrm>
            <a:off x="400050" y="4829175"/>
            <a:ext cx="8343900" cy="0"/>
          </a:xfrm>
          <a:prstGeom prst="line">
            <a:avLst/>
          </a:prstGeom>
          <a:noFill/>
          <a:ln w="7144">
            <a:solidFill>
              <a:srgbClr val="0F172A"/>
            </a:solidFill>
            <a:prstDash val="solid"/>
          </a:ln>
        </p:spPr>
      </p:sp>
      <p:sp>
        <p:nvSpPr>
          <p:cNvPr id="74" name="Text 62"/>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75" name="Text 63"/>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15 / 18</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250906"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665244" y="157163"/>
            <a:ext cx="1292762"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15 / 16 · FUTURE ROADMAP</a:t>
            </a:r>
            <a:endParaRPr lang="en-US" sz="600" dirty="0"/>
          </a:p>
        </p:txBody>
      </p:sp>
      <p:sp>
        <p:nvSpPr>
          <p:cNvPr id="6" name="Text 2"/>
          <p:cNvSpPr/>
          <p:nvPr/>
        </p:nvSpPr>
        <p:spPr>
          <a:xfrm>
            <a:off x="400050" y="342900"/>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FUTURE ROADMAP &amp; ENTERPRISE SCOPE</a:t>
            </a:r>
            <a:endParaRPr lang="en-US" sz="800" dirty="0"/>
          </a:p>
        </p:txBody>
      </p:sp>
      <p:sp>
        <p:nvSpPr>
          <p:cNvPr id="7" name="Text 3"/>
          <p:cNvSpPr/>
          <p:nvPr/>
        </p:nvSpPr>
        <p:spPr>
          <a:xfrm>
            <a:off x="400050" y="510778"/>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Scaling Beyond Single-Department Polytechnic Operations</a:t>
            </a:r>
            <a:endParaRPr lang="en-US" sz="1238" dirty="0"/>
          </a:p>
        </p:txBody>
      </p:sp>
      <p:pic>
        <p:nvPicPr>
          <p:cNvPr id="8" name="Image 2" descr="preencoded.png">    </p:cNvPr>
          <p:cNvPicPr>
            <a:picLocks noChangeAspect="1"/>
          </p:cNvPicPr>
          <p:nvPr/>
        </p:nvPicPr>
        <p:blipFill>
          <a:blip r:embed="rId3"/>
          <a:stretch>
            <a:fillRect/>
          </a:stretch>
        </p:blipFill>
        <p:spPr>
          <a:xfrm>
            <a:off x="1443038" y="892187"/>
            <a:ext cx="6257925" cy="14288"/>
          </a:xfrm>
          <a:prstGeom prst="rect">
            <a:avLst/>
          </a:prstGeom>
        </p:spPr>
      </p:pic>
      <p:sp>
        <p:nvSpPr>
          <p:cNvPr id="9" name="Text 4"/>
          <p:cNvSpPr/>
          <p:nvPr/>
        </p:nvSpPr>
        <p:spPr>
          <a:xfrm>
            <a:off x="1219795" y="999344"/>
            <a:ext cx="626596" cy="170047"/>
          </a:xfrm>
          <a:prstGeom prst="rect">
            <a:avLst/>
          </a:prstGeom>
          <a:noFill/>
          <a:ln/>
        </p:spPr>
        <p:txBody>
          <a:bodyPr wrap="none" lIns="0" tIns="0" rIns="0" bIns="0" rtlCol="0" anchor="t"/>
          <a:lstStyle/>
          <a:p>
            <a:pPr algn="l" indent="0" marL="0">
              <a:lnSpc>
                <a:spcPts val="959"/>
              </a:lnSpc>
              <a:buNone/>
            </a:pPr>
            <a:r>
              <a:rPr lang="en-US" sz="800" spc="99" kern="0" dirty="0">
                <a:solidFill>
                  <a:srgbClr val="0E7490"/>
                </a:solidFill>
                <a:latin typeface="Liberation Sans Narrow" pitchFamily="34" charset="0"/>
                <a:ea typeface="Liberation Sans Narrow" pitchFamily="34" charset="-122"/>
                <a:cs typeface="Liberation Sans Narrow" pitchFamily="34" charset="-120"/>
              </a:rPr>
              <a:t>Q1 · 2026</a:t>
            </a:r>
            <a:endParaRPr lang="en-US" sz="800" dirty="0"/>
          </a:p>
        </p:txBody>
      </p:sp>
      <p:sp>
        <p:nvSpPr>
          <p:cNvPr id="10" name="Text 5"/>
          <p:cNvSpPr/>
          <p:nvPr/>
        </p:nvSpPr>
        <p:spPr>
          <a:xfrm>
            <a:off x="3305770" y="999344"/>
            <a:ext cx="626596" cy="170047"/>
          </a:xfrm>
          <a:prstGeom prst="rect">
            <a:avLst/>
          </a:prstGeom>
          <a:noFill/>
          <a:ln/>
        </p:spPr>
        <p:txBody>
          <a:bodyPr wrap="none" lIns="0" tIns="0" rIns="0" bIns="0" rtlCol="0" anchor="t"/>
          <a:lstStyle/>
          <a:p>
            <a:pPr algn="l" indent="0" marL="0">
              <a:lnSpc>
                <a:spcPts val="959"/>
              </a:lnSpc>
              <a:buNone/>
            </a:pPr>
            <a:r>
              <a:rPr lang="en-US" sz="800" spc="99" kern="0" dirty="0">
                <a:solidFill>
                  <a:srgbClr val="0E7490"/>
                </a:solidFill>
                <a:latin typeface="Liberation Sans Narrow" pitchFamily="34" charset="0"/>
                <a:ea typeface="Liberation Sans Narrow" pitchFamily="34" charset="-122"/>
                <a:cs typeface="Liberation Sans Narrow" pitchFamily="34" charset="-120"/>
              </a:rPr>
              <a:t>Q2 · 2026</a:t>
            </a:r>
            <a:endParaRPr lang="en-US" sz="800" dirty="0"/>
          </a:p>
        </p:txBody>
      </p:sp>
      <p:sp>
        <p:nvSpPr>
          <p:cNvPr id="11" name="Text 6"/>
          <p:cNvSpPr/>
          <p:nvPr/>
        </p:nvSpPr>
        <p:spPr>
          <a:xfrm>
            <a:off x="5391745" y="999344"/>
            <a:ext cx="626596" cy="170047"/>
          </a:xfrm>
          <a:prstGeom prst="rect">
            <a:avLst/>
          </a:prstGeom>
          <a:noFill/>
          <a:ln/>
        </p:spPr>
        <p:txBody>
          <a:bodyPr wrap="none" lIns="0" tIns="0" rIns="0" bIns="0" rtlCol="0" anchor="t"/>
          <a:lstStyle/>
          <a:p>
            <a:pPr algn="l" indent="0" marL="0">
              <a:lnSpc>
                <a:spcPts val="959"/>
              </a:lnSpc>
              <a:buNone/>
            </a:pPr>
            <a:r>
              <a:rPr lang="en-US" sz="800" spc="99" kern="0" dirty="0">
                <a:solidFill>
                  <a:srgbClr val="0E7490"/>
                </a:solidFill>
                <a:latin typeface="Liberation Sans Narrow" pitchFamily="34" charset="0"/>
                <a:ea typeface="Liberation Sans Narrow" pitchFamily="34" charset="-122"/>
                <a:cs typeface="Liberation Sans Narrow" pitchFamily="34" charset="-120"/>
              </a:rPr>
              <a:t>Q3 · 2026</a:t>
            </a:r>
            <a:endParaRPr lang="en-US" sz="800" dirty="0"/>
          </a:p>
        </p:txBody>
      </p:sp>
      <p:sp>
        <p:nvSpPr>
          <p:cNvPr id="12" name="Text 7"/>
          <p:cNvSpPr/>
          <p:nvPr/>
        </p:nvSpPr>
        <p:spPr>
          <a:xfrm>
            <a:off x="7477720" y="999344"/>
            <a:ext cx="626596" cy="170047"/>
          </a:xfrm>
          <a:prstGeom prst="rect">
            <a:avLst/>
          </a:prstGeom>
          <a:noFill/>
          <a:ln/>
        </p:spPr>
        <p:txBody>
          <a:bodyPr wrap="none" lIns="0" tIns="0" rIns="0" bIns="0" rtlCol="0" anchor="t"/>
          <a:lstStyle/>
          <a:p>
            <a:pPr algn="l" indent="0" marL="0">
              <a:lnSpc>
                <a:spcPts val="959"/>
              </a:lnSpc>
              <a:buNone/>
            </a:pPr>
            <a:r>
              <a:rPr lang="en-US" sz="800" spc="99" kern="0" dirty="0">
                <a:solidFill>
                  <a:srgbClr val="0E7490"/>
                </a:solidFill>
                <a:latin typeface="Liberation Sans Narrow" pitchFamily="34" charset="0"/>
                <a:ea typeface="Liberation Sans Narrow" pitchFamily="34" charset="-122"/>
                <a:cs typeface="Liberation Sans Narrow" pitchFamily="34" charset="-120"/>
              </a:rPr>
              <a:t>Q4 · 2026</a:t>
            </a:r>
            <a:endParaRPr lang="en-US" sz="800" dirty="0"/>
          </a:p>
        </p:txBody>
      </p:sp>
      <p:sp>
        <p:nvSpPr>
          <p:cNvPr id="13" name="Text 8"/>
          <p:cNvSpPr/>
          <p:nvPr/>
        </p:nvSpPr>
        <p:spPr>
          <a:xfrm>
            <a:off x="403622" y="1217228"/>
            <a:ext cx="1993106" cy="3522650"/>
          </a:xfrm>
          <a:prstGeom prst="roundRect">
            <a:avLst>
              <a:gd name="adj" fmla="val 6691"/>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14" name="Text 9"/>
          <p:cNvSpPr/>
          <p:nvPr/>
        </p:nvSpPr>
        <p:spPr>
          <a:xfrm>
            <a:off x="1756553" y="1106500"/>
            <a:ext cx="725371" cy="432054"/>
          </a:xfrm>
          <a:prstGeom prst="rect">
            <a:avLst/>
          </a:prstGeom>
          <a:noFill/>
          <a:ln/>
        </p:spPr>
        <p:txBody>
          <a:bodyPr wrap="none" lIns="0" tIns="0" rIns="0" bIns="0" rtlCol="0" anchor="t"/>
          <a:lstStyle/>
          <a:p>
            <a:pPr algn="l" indent="0" marL="0">
              <a:lnSpc>
                <a:spcPts val="3150"/>
              </a:lnSpc>
              <a:buNone/>
            </a:pPr>
            <a:r>
              <a:rPr lang="en-US" sz="3150" b="1" spc="-126" kern="0" dirty="0">
                <a:solidFill>
                  <a:srgbClr val="06B6D4">
                    <a:alpha val="6000"/>
                  </a:srgbClr>
                </a:solidFill>
                <a:latin typeface="Liberation Sans Narrow" pitchFamily="34" charset="0"/>
                <a:ea typeface="Liberation Sans Narrow" pitchFamily="34" charset="-122"/>
                <a:cs typeface="Liberation Sans Narrow" pitchFamily="34" charset="-120"/>
              </a:rPr>
              <a:t>01</a:t>
            </a:r>
            <a:endParaRPr lang="en-US" sz="3150" dirty="0"/>
          </a:p>
        </p:txBody>
      </p:sp>
      <p:sp>
        <p:nvSpPr>
          <p:cNvPr id="15" name="Text 10"/>
          <p:cNvSpPr/>
          <p:nvPr/>
        </p:nvSpPr>
        <p:spPr>
          <a:xfrm>
            <a:off x="564356" y="1935175"/>
            <a:ext cx="1671638" cy="170047"/>
          </a:xfrm>
          <a:prstGeom prst="rect">
            <a:avLst/>
          </a:prstGeom>
          <a:noFill/>
          <a:ln/>
        </p:spPr>
        <p:txBody>
          <a:bodyPr wrap="none" lIns="0" tIns="0" rIns="0" bIns="0" rtlCol="0" anchor="t"/>
          <a:lstStyle/>
          <a:p>
            <a:pPr algn="l" indent="0" marL="0">
              <a:lnSpc>
                <a:spcPts val="959"/>
              </a:lnSpc>
              <a:buNone/>
            </a:pPr>
            <a:r>
              <a:rPr lang="en-US" sz="800" spc="50" kern="0" dirty="0">
                <a:solidFill>
                  <a:srgbClr val="0E7490"/>
                </a:solidFill>
                <a:latin typeface="Liberation Sans Narrow" pitchFamily="34" charset="0"/>
                <a:ea typeface="Liberation Sans Narrow" pitchFamily="34" charset="-122"/>
                <a:cs typeface="Liberation Sans Narrow" pitchFamily="34" charset="-120"/>
              </a:rPr>
              <a:t>LangGraph · Llama-3.1</a:t>
            </a:r>
            <a:endParaRPr lang="en-US" sz="800" dirty="0"/>
          </a:p>
        </p:txBody>
      </p:sp>
      <p:sp>
        <p:nvSpPr>
          <p:cNvPr id="16" name="Text 11"/>
          <p:cNvSpPr/>
          <p:nvPr/>
        </p:nvSpPr>
        <p:spPr>
          <a:xfrm>
            <a:off x="564356" y="2142679"/>
            <a:ext cx="1671638" cy="2119711"/>
          </a:xfrm>
          <a:prstGeom prst="rect">
            <a:avLst/>
          </a:prstGeom>
          <a:noFill/>
          <a:ln/>
        </p:spPr>
        <p:txBody>
          <a:bodyPr wrap="square" lIns="0" tIns="0" rIns="0" bIns="0" rtlCol="0" anchor="t">
            <a:normAutofit/>
          </a:bodyPr>
          <a:lstStyle/>
          <a:p>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Adding automated drafting of J&amp;K Government-formatted draft notices from bullet points. Agentic state machine governs notice → review → dispatch.</a:t>
            </a:r>
            <a:endParaRPr lang="en-US" sz="800" dirty="0"/>
          </a:p>
        </p:txBody>
      </p:sp>
      <p:sp>
        <p:nvSpPr>
          <p:cNvPr id="17" name="Shape 12"/>
          <p:cNvSpPr/>
          <p:nvPr/>
        </p:nvSpPr>
        <p:spPr>
          <a:xfrm>
            <a:off x="564356" y="4293394"/>
            <a:ext cx="1671638" cy="0"/>
          </a:xfrm>
          <a:prstGeom prst="line">
            <a:avLst/>
          </a:prstGeom>
          <a:noFill/>
          <a:ln w="7144">
            <a:solidFill>
              <a:srgbClr val="0F172A"/>
            </a:solidFill>
            <a:prstDash val="solid"/>
          </a:ln>
        </p:spPr>
      </p:sp>
      <p:sp>
        <p:nvSpPr>
          <p:cNvPr id="18" name="Text 13"/>
          <p:cNvSpPr/>
          <p:nvPr/>
        </p:nvSpPr>
        <p:spPr>
          <a:xfrm>
            <a:off x="567928" y="4386263"/>
            <a:ext cx="1493044" cy="203597"/>
          </a:xfrm>
          <a:prstGeom prst="roundRect">
            <a:avLst>
              <a:gd name="adj" fmla="val 28070"/>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19" name="Text 14"/>
          <p:cNvSpPr/>
          <p:nvPr/>
        </p:nvSpPr>
        <p:spPr>
          <a:xfrm>
            <a:off x="785813" y="4439841"/>
            <a:ext cx="1200150" cy="142646"/>
          </a:xfrm>
          <a:prstGeom prst="rect">
            <a:avLst/>
          </a:prstGeom>
          <a:noFill/>
          <a:ln/>
        </p:spPr>
        <p:txBody>
          <a:bodyPr wrap="none" lIns="71438" tIns="42863" rIns="71438" bIns="42863" rtlCol="0" anchor="t"/>
          <a:lstStyle/>
          <a:p>
            <a:pPr algn="l" indent="0" marL="0">
              <a:lnSpc>
                <a:spcPts val="872"/>
              </a:lnSpc>
              <a:buNone/>
            </a:pPr>
            <a:r>
              <a:rPr lang="en-US" sz="600" spc="56" kern="0" dirty="0">
                <a:solidFill>
                  <a:srgbClr val="B45309"/>
                </a:solidFill>
                <a:latin typeface="Courier New" pitchFamily="34" charset="0"/>
                <a:ea typeface="Courier New" pitchFamily="34" charset="-122"/>
                <a:cs typeface="Courier New" pitchFamily="34" charset="-120"/>
              </a:rPr>
              <a:t>DRAFT NOTICE AUTO-GENERATION</a:t>
            </a:r>
            <a:endParaRPr lang="en-US" sz="600" dirty="0"/>
          </a:p>
        </p:txBody>
      </p:sp>
      <p:sp>
        <p:nvSpPr>
          <p:cNvPr id="20" name="Text 15"/>
          <p:cNvSpPr/>
          <p:nvPr/>
        </p:nvSpPr>
        <p:spPr>
          <a:xfrm>
            <a:off x="642938" y="4438055"/>
            <a:ext cx="100013" cy="100013"/>
          </a:xfrm>
          <a:prstGeom prst="rect">
            <a:avLst/>
          </a:prstGeom>
          <a:noFill/>
          <a:ln/>
        </p:spPr>
        <p:txBody>
          <a:bodyPr wrap="none" lIns="0" tIns="0" rIns="0" bIns="0" rtlCol="0" anchor="ctr"/>
          <a:lstStyle/>
          <a:p>
            <a:pPr algn="ctr" indent="0" marL="0">
              <a:buNone/>
            </a:pPr>
            <a:r>
              <a:rPr lang="en-US" sz="984" dirty="0">
                <a:solidFill>
                  <a:srgbClr val="B45309"/>
                </a:solidFill>
                <a:latin typeface="Segoe UI Symbol" pitchFamily="34" charset="0"/>
                <a:ea typeface="Segoe UI Symbol" pitchFamily="34" charset="-122"/>
                <a:cs typeface="Segoe UI Symbol" pitchFamily="34" charset="-120"/>
              </a:rPr>
              <a:t>⚑</a:t>
            </a:r>
            <a:endParaRPr lang="en-US" sz="984" dirty="0"/>
          </a:p>
        </p:txBody>
      </p:sp>
      <p:sp>
        <p:nvSpPr>
          <p:cNvPr id="21" name="Text 16"/>
          <p:cNvSpPr/>
          <p:nvPr/>
        </p:nvSpPr>
        <p:spPr>
          <a:xfrm>
            <a:off x="2518172" y="1217228"/>
            <a:ext cx="1993106" cy="3522650"/>
          </a:xfrm>
          <a:prstGeom prst="roundRect">
            <a:avLst>
              <a:gd name="adj" fmla="val 6691"/>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22" name="Text 17"/>
          <p:cNvSpPr/>
          <p:nvPr/>
        </p:nvSpPr>
        <p:spPr>
          <a:xfrm>
            <a:off x="3871103" y="1106500"/>
            <a:ext cx="725371" cy="432054"/>
          </a:xfrm>
          <a:prstGeom prst="rect">
            <a:avLst/>
          </a:prstGeom>
          <a:noFill/>
          <a:ln/>
        </p:spPr>
        <p:txBody>
          <a:bodyPr wrap="none" lIns="0" tIns="0" rIns="0" bIns="0" rtlCol="0" anchor="t"/>
          <a:lstStyle/>
          <a:p>
            <a:pPr algn="l" indent="0" marL="0">
              <a:lnSpc>
                <a:spcPts val="3150"/>
              </a:lnSpc>
              <a:buNone/>
            </a:pPr>
            <a:r>
              <a:rPr lang="en-US" sz="3150" b="1" spc="-126" kern="0" dirty="0">
                <a:solidFill>
                  <a:srgbClr val="06B6D4">
                    <a:alpha val="6000"/>
                  </a:srgbClr>
                </a:solidFill>
                <a:latin typeface="Liberation Sans Narrow" pitchFamily="34" charset="0"/>
                <a:ea typeface="Liberation Sans Narrow" pitchFamily="34" charset="-122"/>
                <a:cs typeface="Liberation Sans Narrow" pitchFamily="34" charset="-120"/>
              </a:rPr>
              <a:t>02</a:t>
            </a:r>
            <a:endParaRPr lang="en-US" sz="3150" dirty="0"/>
          </a:p>
        </p:txBody>
      </p:sp>
      <p:sp>
        <p:nvSpPr>
          <p:cNvPr id="23" name="Text 18"/>
          <p:cNvSpPr/>
          <p:nvPr/>
        </p:nvSpPr>
        <p:spPr>
          <a:xfrm>
            <a:off x="2678906" y="2078050"/>
            <a:ext cx="1671637" cy="170047"/>
          </a:xfrm>
          <a:prstGeom prst="rect">
            <a:avLst/>
          </a:prstGeom>
          <a:noFill/>
          <a:ln/>
        </p:spPr>
        <p:txBody>
          <a:bodyPr wrap="none" lIns="0" tIns="0" rIns="0" bIns="0" rtlCol="0" anchor="t"/>
          <a:lstStyle/>
          <a:p>
            <a:pPr algn="l" indent="0" marL="0">
              <a:lnSpc>
                <a:spcPts val="959"/>
              </a:lnSpc>
              <a:buNone/>
            </a:pPr>
            <a:r>
              <a:rPr lang="en-US" sz="800" spc="50" kern="0" dirty="0">
                <a:solidFill>
                  <a:srgbClr val="0E7490"/>
                </a:solidFill>
                <a:latin typeface="Courier New" pitchFamily="34" charset="0"/>
                <a:ea typeface="Courier New" pitchFamily="34" charset="-122"/>
                <a:cs typeface="Courier New" pitchFamily="34" charset="-120"/>
              </a:rPr>
              <a:t>Multilingual · ASR</a:t>
            </a:r>
            <a:endParaRPr lang="en-US" sz="800" dirty="0"/>
          </a:p>
        </p:txBody>
      </p:sp>
      <p:sp>
        <p:nvSpPr>
          <p:cNvPr id="24" name="Text 19"/>
          <p:cNvSpPr/>
          <p:nvPr/>
        </p:nvSpPr>
        <p:spPr>
          <a:xfrm>
            <a:off x="2678906" y="2285554"/>
            <a:ext cx="1671638" cy="1976836"/>
          </a:xfrm>
          <a:prstGeom prst="rect">
            <a:avLst/>
          </a:prstGeom>
          <a:noFill/>
          <a:ln/>
        </p:spPr>
        <p:txBody>
          <a:bodyPr wrap="square" lIns="0" tIns="0" rIns="0" bIns="0" rtlCol="0" anchor="t">
            <a:normAutofit/>
          </a:bodyPr>
          <a:lstStyle/>
          <a:p>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Multilingual voice support (Urdu, Kashmiri, Hindi, English) for physical student helpdesks on campus. Offline Whisper + MarianMT translation.</a:t>
            </a:r>
            <a:endParaRPr lang="en-US" sz="800" dirty="0"/>
          </a:p>
        </p:txBody>
      </p:sp>
      <p:sp>
        <p:nvSpPr>
          <p:cNvPr id="25" name="Shape 20"/>
          <p:cNvSpPr/>
          <p:nvPr/>
        </p:nvSpPr>
        <p:spPr>
          <a:xfrm>
            <a:off x="2678906" y="4293394"/>
            <a:ext cx="1671638" cy="0"/>
          </a:xfrm>
          <a:prstGeom prst="line">
            <a:avLst/>
          </a:prstGeom>
          <a:noFill/>
          <a:ln w="7144">
            <a:solidFill>
              <a:srgbClr val="0F172A"/>
            </a:solidFill>
            <a:prstDash val="solid"/>
          </a:ln>
        </p:spPr>
      </p:sp>
      <p:sp>
        <p:nvSpPr>
          <p:cNvPr id="26" name="Text 21"/>
          <p:cNvSpPr/>
          <p:nvPr/>
        </p:nvSpPr>
        <p:spPr>
          <a:xfrm>
            <a:off x="2682478" y="4386263"/>
            <a:ext cx="1364456" cy="203597"/>
          </a:xfrm>
          <a:prstGeom prst="roundRect">
            <a:avLst>
              <a:gd name="adj" fmla="val 28070"/>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27" name="Text 22"/>
          <p:cNvSpPr/>
          <p:nvPr/>
        </p:nvSpPr>
        <p:spPr>
          <a:xfrm>
            <a:off x="2900363" y="4439841"/>
            <a:ext cx="1071563" cy="142646"/>
          </a:xfrm>
          <a:prstGeom prst="rect">
            <a:avLst/>
          </a:prstGeom>
          <a:noFill/>
          <a:ln/>
        </p:spPr>
        <p:txBody>
          <a:bodyPr wrap="none" lIns="71438" tIns="42863" rIns="71438" bIns="42863" rtlCol="0" anchor="t"/>
          <a:lstStyle/>
          <a:p>
            <a:pPr algn="l" indent="0" marL="0">
              <a:lnSpc>
                <a:spcPts val="872"/>
              </a:lnSpc>
              <a:buNone/>
            </a:pPr>
            <a:r>
              <a:rPr lang="en-US" sz="600" spc="56" kern="0" dirty="0">
                <a:solidFill>
                  <a:srgbClr val="B45309"/>
                </a:solidFill>
                <a:latin typeface="Liberation Sans Narrow" pitchFamily="34" charset="0"/>
                <a:ea typeface="Liberation Sans Narrow" pitchFamily="34" charset="-122"/>
                <a:cs typeface="Liberation Sans Narrow" pitchFamily="34" charset="-120"/>
              </a:rPr>
              <a:t>4-LANGUAGE VOICE HELPDESK</a:t>
            </a:r>
            <a:endParaRPr lang="en-US" sz="600" dirty="0"/>
          </a:p>
        </p:txBody>
      </p:sp>
      <p:sp>
        <p:nvSpPr>
          <p:cNvPr id="28" name="Text 23"/>
          <p:cNvSpPr/>
          <p:nvPr/>
        </p:nvSpPr>
        <p:spPr>
          <a:xfrm>
            <a:off x="2757488" y="4438055"/>
            <a:ext cx="100013" cy="100013"/>
          </a:xfrm>
          <a:prstGeom prst="rect">
            <a:avLst/>
          </a:prstGeom>
          <a:noFill/>
          <a:ln/>
        </p:spPr>
        <p:txBody>
          <a:bodyPr wrap="none" lIns="0" tIns="0" rIns="0" bIns="0" rtlCol="0" anchor="ctr"/>
          <a:lstStyle/>
          <a:p>
            <a:pPr algn="ctr" indent="0" marL="0">
              <a:buNone/>
            </a:pPr>
            <a:r>
              <a:rPr lang="en-US" sz="984" dirty="0">
                <a:solidFill>
                  <a:srgbClr val="B45309"/>
                </a:solidFill>
                <a:latin typeface="Segoe UI Symbol" pitchFamily="34" charset="0"/>
                <a:ea typeface="Segoe UI Symbol" pitchFamily="34" charset="-122"/>
                <a:cs typeface="Segoe UI Symbol" pitchFamily="34" charset="-120"/>
              </a:rPr>
              <a:t>⚑</a:t>
            </a:r>
            <a:endParaRPr lang="en-US" sz="984" dirty="0"/>
          </a:p>
        </p:txBody>
      </p:sp>
      <p:sp>
        <p:nvSpPr>
          <p:cNvPr id="29" name="Text 24"/>
          <p:cNvSpPr/>
          <p:nvPr/>
        </p:nvSpPr>
        <p:spPr>
          <a:xfrm>
            <a:off x="4632722" y="1217228"/>
            <a:ext cx="1993106" cy="3522650"/>
          </a:xfrm>
          <a:prstGeom prst="roundRect">
            <a:avLst>
              <a:gd name="adj" fmla="val 6691"/>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30" name="Text 25"/>
          <p:cNvSpPr/>
          <p:nvPr/>
        </p:nvSpPr>
        <p:spPr>
          <a:xfrm>
            <a:off x="5985653" y="1106500"/>
            <a:ext cx="725371" cy="432054"/>
          </a:xfrm>
          <a:prstGeom prst="rect">
            <a:avLst/>
          </a:prstGeom>
          <a:noFill/>
          <a:ln/>
        </p:spPr>
        <p:txBody>
          <a:bodyPr wrap="none" lIns="0" tIns="0" rIns="0" bIns="0" rtlCol="0" anchor="t"/>
          <a:lstStyle/>
          <a:p>
            <a:pPr algn="l" indent="0" marL="0">
              <a:lnSpc>
                <a:spcPts val="3150"/>
              </a:lnSpc>
              <a:buNone/>
            </a:pPr>
            <a:r>
              <a:rPr lang="en-US" sz="3150" b="1" spc="-126" kern="0" dirty="0">
                <a:solidFill>
                  <a:srgbClr val="06B6D4">
                    <a:alpha val="6000"/>
                  </a:srgbClr>
                </a:solidFill>
                <a:latin typeface="Liberation Sans Narrow" pitchFamily="34" charset="0"/>
                <a:ea typeface="Liberation Sans Narrow" pitchFamily="34" charset="-122"/>
                <a:cs typeface="Liberation Sans Narrow" pitchFamily="34" charset="-120"/>
              </a:rPr>
              <a:t>03</a:t>
            </a:r>
            <a:endParaRPr lang="en-US" sz="3150" dirty="0"/>
          </a:p>
        </p:txBody>
      </p:sp>
      <p:sp>
        <p:nvSpPr>
          <p:cNvPr id="31" name="Text 26"/>
          <p:cNvSpPr/>
          <p:nvPr/>
        </p:nvSpPr>
        <p:spPr>
          <a:xfrm>
            <a:off x="4793456" y="1935175"/>
            <a:ext cx="1671638" cy="170047"/>
          </a:xfrm>
          <a:prstGeom prst="rect">
            <a:avLst/>
          </a:prstGeom>
          <a:noFill/>
          <a:ln/>
        </p:spPr>
        <p:txBody>
          <a:bodyPr wrap="none" lIns="0" tIns="0" rIns="0" bIns="0" rtlCol="0" anchor="t"/>
          <a:lstStyle/>
          <a:p>
            <a:pPr algn="l" indent="0" marL="0">
              <a:lnSpc>
                <a:spcPts val="959"/>
              </a:lnSpc>
              <a:buNone/>
            </a:pPr>
            <a:r>
              <a:rPr lang="en-US" sz="800" spc="50" kern="0" dirty="0">
                <a:solidFill>
                  <a:srgbClr val="0E7490"/>
                </a:solidFill>
                <a:latin typeface="Courier New" pitchFamily="34" charset="0"/>
                <a:ea typeface="Courier New" pitchFamily="34" charset="-122"/>
                <a:cs typeface="Courier New" pitchFamily="34" charset="-120"/>
              </a:rPr>
              <a:t>J&amp;K e-Gov AD · DigiLocker</a:t>
            </a:r>
            <a:endParaRPr lang="en-US" sz="800" dirty="0"/>
          </a:p>
        </p:txBody>
      </p:sp>
      <p:sp>
        <p:nvSpPr>
          <p:cNvPr id="32" name="Text 27"/>
          <p:cNvSpPr/>
          <p:nvPr/>
        </p:nvSpPr>
        <p:spPr>
          <a:xfrm>
            <a:off x="4793456" y="2142679"/>
            <a:ext cx="1671638" cy="2119711"/>
          </a:xfrm>
          <a:prstGeom prst="rect">
            <a:avLst/>
          </a:prstGeom>
          <a:noFill/>
          <a:ln/>
        </p:spPr>
        <p:txBody>
          <a:bodyPr wrap="square" lIns="0" tIns="0" rIns="0" bIns="0" rtlCol="0" anchor="t">
            <a:normAutofit/>
          </a:bodyPr>
          <a:lstStyle/>
          <a:p>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Integration with Jammu &amp; Kashmir e-Governance Active Directory and DigiLocker student records. Replaces YAML auth with institutional SSO.</a:t>
            </a:r>
            <a:endParaRPr lang="en-US" sz="800" dirty="0"/>
          </a:p>
        </p:txBody>
      </p:sp>
      <p:sp>
        <p:nvSpPr>
          <p:cNvPr id="33" name="Shape 28"/>
          <p:cNvSpPr/>
          <p:nvPr/>
        </p:nvSpPr>
        <p:spPr>
          <a:xfrm>
            <a:off x="4793456" y="4293394"/>
            <a:ext cx="1671638" cy="0"/>
          </a:xfrm>
          <a:prstGeom prst="line">
            <a:avLst/>
          </a:prstGeom>
          <a:noFill/>
          <a:ln w="7144">
            <a:solidFill>
              <a:srgbClr val="0F172A"/>
            </a:solidFill>
            <a:prstDash val="solid"/>
          </a:ln>
        </p:spPr>
      </p:sp>
      <p:sp>
        <p:nvSpPr>
          <p:cNvPr id="34" name="Text 29"/>
          <p:cNvSpPr/>
          <p:nvPr/>
        </p:nvSpPr>
        <p:spPr>
          <a:xfrm>
            <a:off x="4770596" y="4370046"/>
            <a:ext cx="1288733" cy="236030"/>
          </a:xfrm>
          <a:prstGeom prst="roundRect">
            <a:avLst>
              <a:gd name="adj" fmla="val 24213"/>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35" name="Text 30"/>
          <p:cNvSpPr/>
          <p:nvPr/>
        </p:nvSpPr>
        <p:spPr>
          <a:xfrm>
            <a:off x="5014913" y="4439841"/>
            <a:ext cx="942975" cy="142646"/>
          </a:xfrm>
          <a:prstGeom prst="rect">
            <a:avLst/>
          </a:prstGeom>
          <a:noFill/>
          <a:ln/>
        </p:spPr>
        <p:txBody>
          <a:bodyPr wrap="none" lIns="0" tIns="0" rIns="0" bIns="0" rtlCol="0" anchor="t"/>
          <a:lstStyle/>
          <a:p>
            <a:pPr algn="l" indent="0" marL="0">
              <a:lnSpc>
                <a:spcPts val="872"/>
              </a:lnSpc>
              <a:buNone/>
            </a:pPr>
            <a:r>
              <a:rPr lang="en-US" sz="600" spc="56" kern="0" dirty="0">
                <a:solidFill>
                  <a:srgbClr val="B45309"/>
                </a:solidFill>
                <a:latin typeface="Courier New" pitchFamily="34" charset="0"/>
                <a:ea typeface="Courier New" pitchFamily="34" charset="-122"/>
                <a:cs typeface="Courier New" pitchFamily="34" charset="-120"/>
              </a:rPr>
              <a:t>STATE E-GOVERNANCE SSO</a:t>
            </a:r>
            <a:endParaRPr lang="en-US" sz="600" dirty="0"/>
          </a:p>
        </p:txBody>
      </p:sp>
      <p:sp>
        <p:nvSpPr>
          <p:cNvPr id="36" name="Text 31"/>
          <p:cNvSpPr/>
          <p:nvPr/>
        </p:nvSpPr>
        <p:spPr>
          <a:xfrm>
            <a:off x="4872038" y="4438055"/>
            <a:ext cx="100013" cy="100013"/>
          </a:xfrm>
          <a:prstGeom prst="rect">
            <a:avLst/>
          </a:prstGeom>
          <a:noFill/>
          <a:ln/>
        </p:spPr>
        <p:txBody>
          <a:bodyPr wrap="none" lIns="0" tIns="0" rIns="0" bIns="0" rtlCol="0" anchor="ctr"/>
          <a:lstStyle/>
          <a:p>
            <a:pPr algn="ctr" indent="0" marL="0">
              <a:buNone/>
            </a:pPr>
            <a:r>
              <a:rPr lang="en-US" sz="984" dirty="0">
                <a:solidFill>
                  <a:srgbClr val="B45309"/>
                </a:solidFill>
                <a:latin typeface="Segoe UI Symbol" pitchFamily="34" charset="0"/>
                <a:ea typeface="Segoe UI Symbol" pitchFamily="34" charset="-122"/>
                <a:cs typeface="Segoe UI Symbol" pitchFamily="34" charset="-120"/>
              </a:rPr>
              <a:t>⚑</a:t>
            </a:r>
            <a:endParaRPr lang="en-US" sz="984" dirty="0"/>
          </a:p>
        </p:txBody>
      </p:sp>
      <p:sp>
        <p:nvSpPr>
          <p:cNvPr id="37" name="Text 32"/>
          <p:cNvSpPr/>
          <p:nvPr/>
        </p:nvSpPr>
        <p:spPr>
          <a:xfrm>
            <a:off x="6747272" y="1217228"/>
            <a:ext cx="1993106" cy="3522650"/>
          </a:xfrm>
          <a:prstGeom prst="roundRect">
            <a:avLst>
              <a:gd name="adj" fmla="val 6691"/>
            </a:avLst>
          </a:prstGeom>
          <a:solidFill>
            <a:srgbClr val="FFFFFF"/>
          </a:solidFill>
          <a:ln w="7144">
            <a:solidFill>
              <a:srgbClr val="0F172A"/>
            </a:solidFill>
            <a:prstDash val="solid"/>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38" name="Text 33"/>
          <p:cNvSpPr/>
          <p:nvPr/>
        </p:nvSpPr>
        <p:spPr>
          <a:xfrm>
            <a:off x="8100203" y="1106500"/>
            <a:ext cx="725371" cy="432054"/>
          </a:xfrm>
          <a:prstGeom prst="rect">
            <a:avLst/>
          </a:prstGeom>
          <a:noFill/>
          <a:ln/>
        </p:spPr>
        <p:txBody>
          <a:bodyPr wrap="none" lIns="0" tIns="0" rIns="0" bIns="0" rtlCol="0" anchor="t"/>
          <a:lstStyle/>
          <a:p>
            <a:pPr algn="l" indent="0" marL="0">
              <a:lnSpc>
                <a:spcPts val="3150"/>
              </a:lnSpc>
              <a:buNone/>
            </a:pPr>
            <a:r>
              <a:rPr lang="en-US" sz="3150" b="1" spc="-126" kern="0" dirty="0">
                <a:solidFill>
                  <a:srgbClr val="06B6D4">
                    <a:alpha val="6000"/>
                  </a:srgbClr>
                </a:solidFill>
                <a:latin typeface="Liberation Sans Narrow" pitchFamily="34" charset="0"/>
                <a:ea typeface="Liberation Sans Narrow" pitchFamily="34" charset="-122"/>
                <a:cs typeface="Liberation Sans Narrow" pitchFamily="34" charset="-120"/>
              </a:rPr>
              <a:t>04</a:t>
            </a:r>
            <a:endParaRPr lang="en-US" sz="3150" dirty="0"/>
          </a:p>
        </p:txBody>
      </p:sp>
      <p:sp>
        <p:nvSpPr>
          <p:cNvPr id="39" name="Text 34"/>
          <p:cNvSpPr/>
          <p:nvPr/>
        </p:nvSpPr>
        <p:spPr>
          <a:xfrm>
            <a:off x="6908006" y="2078050"/>
            <a:ext cx="1671637" cy="170047"/>
          </a:xfrm>
          <a:prstGeom prst="rect">
            <a:avLst/>
          </a:prstGeom>
          <a:noFill/>
          <a:ln/>
        </p:spPr>
        <p:txBody>
          <a:bodyPr wrap="none" lIns="0" tIns="0" rIns="0" bIns="0" rtlCol="0" anchor="t"/>
          <a:lstStyle/>
          <a:p>
            <a:pPr algn="l" indent="0" marL="0">
              <a:lnSpc>
                <a:spcPts val="959"/>
              </a:lnSpc>
              <a:buNone/>
            </a:pPr>
            <a:r>
              <a:rPr lang="en-US" sz="800" spc="50" kern="0" dirty="0">
                <a:solidFill>
                  <a:srgbClr val="0E7490"/>
                </a:solidFill>
                <a:latin typeface="Courier New" pitchFamily="34" charset="0"/>
                <a:ea typeface="Courier New" pitchFamily="34" charset="-122"/>
                <a:cs typeface="Courier New" pitchFamily="34" charset="-120"/>
              </a:rPr>
              <a:t>SBOTE Webhooks</a:t>
            </a:r>
            <a:endParaRPr lang="en-US" sz="800" dirty="0"/>
          </a:p>
        </p:txBody>
      </p:sp>
      <p:sp>
        <p:nvSpPr>
          <p:cNvPr id="40" name="Text 35"/>
          <p:cNvSpPr/>
          <p:nvPr/>
        </p:nvSpPr>
        <p:spPr>
          <a:xfrm>
            <a:off x="6908006" y="2285554"/>
            <a:ext cx="1671638" cy="1976836"/>
          </a:xfrm>
          <a:prstGeom prst="rect">
            <a:avLst/>
          </a:prstGeom>
          <a:noFill/>
          <a:ln/>
        </p:spPr>
        <p:txBody>
          <a:bodyPr wrap="square" lIns="0" tIns="0" rIns="0" bIns="0" rtlCol="0" anchor="t">
            <a:normAutofit/>
          </a:bodyPr>
          <a:lstStyle/>
          <a:p>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Webhooks linking directly to the State Board of Technical Education (SBOTE) portal for instant auto-indexing of new circulars and result notifications.</a:t>
            </a:r>
            <a:endParaRPr lang="en-US" sz="800" dirty="0"/>
          </a:p>
        </p:txBody>
      </p:sp>
      <p:sp>
        <p:nvSpPr>
          <p:cNvPr id="41" name="Shape 36"/>
          <p:cNvSpPr/>
          <p:nvPr/>
        </p:nvSpPr>
        <p:spPr>
          <a:xfrm>
            <a:off x="6908006" y="4293394"/>
            <a:ext cx="1671638" cy="0"/>
          </a:xfrm>
          <a:prstGeom prst="line">
            <a:avLst/>
          </a:prstGeom>
          <a:noFill/>
          <a:ln w="7144">
            <a:solidFill>
              <a:srgbClr val="0F172A"/>
            </a:solidFill>
            <a:prstDash val="solid"/>
          </a:ln>
        </p:spPr>
      </p:sp>
      <p:sp>
        <p:nvSpPr>
          <p:cNvPr id="42" name="Text 37"/>
          <p:cNvSpPr/>
          <p:nvPr/>
        </p:nvSpPr>
        <p:spPr>
          <a:xfrm>
            <a:off x="6885146" y="4370046"/>
            <a:ext cx="1203008" cy="236030"/>
          </a:xfrm>
          <a:prstGeom prst="roundRect">
            <a:avLst>
              <a:gd name="adj" fmla="val 24213"/>
            </a:avLst>
          </a:prstGeom>
          <a:solidFill>
            <a:srgbClr val="B45309">
              <a:alpha val="10000"/>
            </a:srgbClr>
          </a:solidFill>
          <a:ln w="7144">
            <a:solidFill>
              <a:srgbClr val="D4A017"/>
            </a:solidFill>
            <a:prstDash val="solid"/>
          </a:ln>
        </p:spPr>
        <p:txBody>
          <a:bodyPr wrap="square" rtlCol="0" anchor="ctr"/>
          <a:lstStyle/>
          <a:p>
            <a:pPr indent="0" marL="0">
              <a:buNone/>
            </a:pPr>
            <a:endParaRPr lang="en-US" dirty="0"/>
          </a:p>
        </p:txBody>
      </p:sp>
      <p:sp>
        <p:nvSpPr>
          <p:cNvPr id="43" name="Text 38"/>
          <p:cNvSpPr/>
          <p:nvPr/>
        </p:nvSpPr>
        <p:spPr>
          <a:xfrm>
            <a:off x="7129463" y="4439841"/>
            <a:ext cx="857250" cy="142646"/>
          </a:xfrm>
          <a:prstGeom prst="rect">
            <a:avLst/>
          </a:prstGeom>
          <a:noFill/>
          <a:ln/>
        </p:spPr>
        <p:txBody>
          <a:bodyPr wrap="none" lIns="0" tIns="0" rIns="0" bIns="0" rtlCol="0" anchor="t"/>
          <a:lstStyle/>
          <a:p>
            <a:pPr algn="l" indent="0" marL="0">
              <a:lnSpc>
                <a:spcPts val="872"/>
              </a:lnSpc>
              <a:buNone/>
            </a:pPr>
            <a:r>
              <a:rPr lang="en-US" sz="600" spc="56" kern="0" dirty="0">
                <a:solidFill>
                  <a:srgbClr val="B45309"/>
                </a:solidFill>
                <a:latin typeface="Courier New" pitchFamily="34" charset="0"/>
                <a:ea typeface="Courier New" pitchFamily="34" charset="-122"/>
                <a:cs typeface="Courier New" pitchFamily="34" charset="-120"/>
              </a:rPr>
              <a:t>REAL-TIME SBOTE SYNC</a:t>
            </a:r>
            <a:endParaRPr lang="en-US" sz="600" dirty="0"/>
          </a:p>
        </p:txBody>
      </p:sp>
      <p:sp>
        <p:nvSpPr>
          <p:cNvPr id="44" name="Text 39"/>
          <p:cNvSpPr/>
          <p:nvPr/>
        </p:nvSpPr>
        <p:spPr>
          <a:xfrm>
            <a:off x="6986588" y="4438055"/>
            <a:ext cx="100013" cy="100013"/>
          </a:xfrm>
          <a:prstGeom prst="rect">
            <a:avLst/>
          </a:prstGeom>
          <a:noFill/>
          <a:ln/>
        </p:spPr>
        <p:txBody>
          <a:bodyPr wrap="none" lIns="0" tIns="0" rIns="0" bIns="0" rtlCol="0" anchor="ctr"/>
          <a:lstStyle/>
          <a:p>
            <a:pPr algn="ctr" indent="0" marL="0">
              <a:buNone/>
            </a:pPr>
            <a:r>
              <a:rPr lang="en-US" sz="984" dirty="0">
                <a:solidFill>
                  <a:srgbClr val="B45309"/>
                </a:solidFill>
                <a:latin typeface="Segoe UI Symbol" pitchFamily="34" charset="0"/>
                <a:ea typeface="Segoe UI Symbol" pitchFamily="34" charset="-122"/>
                <a:cs typeface="Segoe UI Symbol" pitchFamily="34" charset="-120"/>
              </a:rPr>
              <a:t>⚑</a:t>
            </a:r>
            <a:endParaRPr lang="en-US" sz="984" dirty="0"/>
          </a:p>
        </p:txBody>
      </p:sp>
      <p:sp>
        <p:nvSpPr>
          <p:cNvPr id="45" name="Shape 40"/>
          <p:cNvSpPr/>
          <p:nvPr/>
        </p:nvSpPr>
        <p:spPr>
          <a:xfrm>
            <a:off x="400050" y="4829175"/>
            <a:ext cx="8343900" cy="0"/>
          </a:xfrm>
          <a:prstGeom prst="line">
            <a:avLst/>
          </a:prstGeom>
          <a:noFill/>
          <a:ln w="7144">
            <a:solidFill>
              <a:srgbClr val="0F172A"/>
            </a:solidFill>
            <a:prstDash val="solid"/>
          </a:ln>
        </p:spPr>
      </p:sp>
      <p:sp>
        <p:nvSpPr>
          <p:cNvPr id="46" name="Text 41"/>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47" name="Text 42"/>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16 / 18</a:t>
            </a:r>
            <a:endParaRPr lang="en-US" sz="600" dirty="0"/>
          </a:p>
        </p:txBody>
      </p:sp>
      <p:sp>
        <p:nvSpPr>
          <p:cNvPr id="48" name="Text 43"/>
          <p:cNvSpPr/>
          <p:nvPr/>
        </p:nvSpPr>
        <p:spPr>
          <a:xfrm>
            <a:off x="1393031" y="842181"/>
            <a:ext cx="100013" cy="100013"/>
          </a:xfrm>
          <a:prstGeom prst="ellipse">
            <a:avLst/>
          </a:prstGeom>
          <a:solidFill>
            <a:srgbClr val="0E7490"/>
          </a:solidFill>
          <a:ln/>
          <a:effectLst>
            <a:outerShdw sx="100000" sy="100000" kx="0" ky="0" algn="bl" rotWithShape="0" blurRad="133350" dist="50800" dir="16200000">
              <a:srgbClr val="0E7490">
                <a:alpha val="50000"/>
              </a:srgbClr>
            </a:outerShdw>
          </a:effectLst>
        </p:spPr>
        <p:txBody>
          <a:bodyPr wrap="square" rtlCol="0" anchor="ctr"/>
          <a:lstStyle/>
          <a:p>
            <a:pPr indent="0" marL="0">
              <a:buNone/>
            </a:pPr>
            <a:endParaRPr lang="en-US" dirty="0"/>
          </a:p>
        </p:txBody>
      </p:sp>
      <p:sp>
        <p:nvSpPr>
          <p:cNvPr id="49" name="Text 44"/>
          <p:cNvSpPr/>
          <p:nvPr/>
        </p:nvSpPr>
        <p:spPr>
          <a:xfrm>
            <a:off x="3479006" y="842181"/>
            <a:ext cx="100013" cy="100013"/>
          </a:xfrm>
          <a:prstGeom prst="ellipse">
            <a:avLst/>
          </a:prstGeom>
          <a:solidFill>
            <a:srgbClr val="0E7490"/>
          </a:solidFill>
          <a:ln/>
          <a:effectLst>
            <a:outerShdw sx="100000" sy="100000" kx="0" ky="0" algn="bl" rotWithShape="0" blurRad="133350" dist="50800" dir="16200000">
              <a:srgbClr val="0E7490">
                <a:alpha val="50000"/>
              </a:srgbClr>
            </a:outerShdw>
          </a:effectLst>
        </p:spPr>
        <p:txBody>
          <a:bodyPr wrap="square" rtlCol="0" anchor="ctr"/>
          <a:lstStyle/>
          <a:p>
            <a:pPr indent="0" marL="0">
              <a:buNone/>
            </a:pPr>
            <a:endParaRPr lang="en-US" dirty="0"/>
          </a:p>
        </p:txBody>
      </p:sp>
      <p:sp>
        <p:nvSpPr>
          <p:cNvPr id="50" name="Text 45"/>
          <p:cNvSpPr/>
          <p:nvPr/>
        </p:nvSpPr>
        <p:spPr>
          <a:xfrm>
            <a:off x="5564981" y="842181"/>
            <a:ext cx="100013" cy="100013"/>
          </a:xfrm>
          <a:prstGeom prst="ellipse">
            <a:avLst/>
          </a:prstGeom>
          <a:solidFill>
            <a:srgbClr val="0E7490"/>
          </a:solidFill>
          <a:ln/>
          <a:effectLst>
            <a:outerShdw sx="100000" sy="100000" kx="0" ky="0" algn="bl" rotWithShape="0" blurRad="133350" dist="50800" dir="16200000">
              <a:srgbClr val="0E7490">
                <a:alpha val="50000"/>
              </a:srgbClr>
            </a:outerShdw>
          </a:effectLst>
        </p:spPr>
        <p:txBody>
          <a:bodyPr wrap="square" rtlCol="0" anchor="ctr"/>
          <a:lstStyle/>
          <a:p>
            <a:pPr indent="0" marL="0">
              <a:buNone/>
            </a:pPr>
            <a:endParaRPr lang="en-US" dirty="0"/>
          </a:p>
        </p:txBody>
      </p:sp>
      <p:sp>
        <p:nvSpPr>
          <p:cNvPr id="51" name="Text 46"/>
          <p:cNvSpPr/>
          <p:nvPr/>
        </p:nvSpPr>
        <p:spPr>
          <a:xfrm>
            <a:off x="7650956" y="842181"/>
            <a:ext cx="100013" cy="100013"/>
          </a:xfrm>
          <a:prstGeom prst="ellipse">
            <a:avLst/>
          </a:prstGeom>
          <a:solidFill>
            <a:srgbClr val="0E7490"/>
          </a:solidFill>
          <a:ln/>
          <a:effectLst>
            <a:outerShdw sx="100000" sy="100000" kx="0" ky="0" algn="bl" rotWithShape="0" blurRad="133350" dist="50800" dir="16200000">
              <a:srgbClr val="0E7490">
                <a:alpha val="50000"/>
              </a:srgbClr>
            </a:outerShdw>
          </a:effectLst>
        </p:spPr>
        <p:txBody>
          <a:bodyPr wrap="square" rtlCol="0" anchor="ctr"/>
          <a:lstStyle/>
          <a:p>
            <a:pPr indent="0" marL="0">
              <a:buNone/>
            </a:pPr>
            <a:endParaRPr lang="en-US" dirty="0"/>
          </a:p>
        </p:txBody>
      </p:sp>
      <p:sp>
        <p:nvSpPr>
          <p:cNvPr id="52" name="Text 47"/>
          <p:cNvSpPr/>
          <p:nvPr/>
        </p:nvSpPr>
        <p:spPr>
          <a:xfrm>
            <a:off x="567928" y="1367247"/>
            <a:ext cx="307181" cy="307181"/>
          </a:xfrm>
          <a:prstGeom prst="roundRect">
            <a:avLst>
              <a:gd name="adj" fmla="val 31008"/>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3" name="Text 48"/>
          <p:cNvSpPr/>
          <p:nvPr/>
        </p:nvSpPr>
        <p:spPr>
          <a:xfrm>
            <a:off x="597218" y="1396536"/>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54" name="Text 49"/>
          <p:cNvSpPr/>
          <p:nvPr/>
        </p:nvSpPr>
        <p:spPr>
          <a:xfrm>
            <a:off x="1683193" y="1352745"/>
            <a:ext cx="574063"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5" name="Text 50"/>
          <p:cNvSpPr/>
          <p:nvPr/>
        </p:nvSpPr>
        <p:spPr>
          <a:xfrm>
            <a:off x="1675503" y="1363675"/>
            <a:ext cx="589443"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PHASE 01</a:t>
            </a:r>
            <a:endParaRPr lang="en-US" sz="800" dirty="0"/>
          </a:p>
        </p:txBody>
      </p:sp>
      <p:sp>
        <p:nvSpPr>
          <p:cNvPr id="56" name="Text 51"/>
          <p:cNvSpPr/>
          <p:nvPr/>
        </p:nvSpPr>
        <p:spPr>
          <a:xfrm>
            <a:off x="564356" y="1763725"/>
            <a:ext cx="1771936"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Agentic Administrative Workflows</a:t>
            </a:r>
            <a:endParaRPr lang="en-US" sz="900" dirty="0"/>
          </a:p>
        </p:txBody>
      </p:sp>
      <p:sp>
        <p:nvSpPr>
          <p:cNvPr id="57" name="Text 52"/>
          <p:cNvSpPr/>
          <p:nvPr/>
        </p:nvSpPr>
        <p:spPr>
          <a:xfrm>
            <a:off x="2682478" y="1367247"/>
            <a:ext cx="307181" cy="307181"/>
          </a:xfrm>
          <a:prstGeom prst="roundRect">
            <a:avLst>
              <a:gd name="adj" fmla="val 31008"/>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8" name="Text 53"/>
          <p:cNvSpPr/>
          <p:nvPr/>
        </p:nvSpPr>
        <p:spPr>
          <a:xfrm>
            <a:off x="2711768" y="1396536"/>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59" name="Text 54"/>
          <p:cNvSpPr/>
          <p:nvPr/>
        </p:nvSpPr>
        <p:spPr>
          <a:xfrm>
            <a:off x="3797743" y="1352745"/>
            <a:ext cx="574063"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0" name="Text 55"/>
          <p:cNvSpPr/>
          <p:nvPr/>
        </p:nvSpPr>
        <p:spPr>
          <a:xfrm>
            <a:off x="3790053" y="1363675"/>
            <a:ext cx="589443"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PHASE 02</a:t>
            </a:r>
            <a:endParaRPr lang="en-US" sz="800" dirty="0"/>
          </a:p>
        </p:txBody>
      </p:sp>
      <p:sp>
        <p:nvSpPr>
          <p:cNvPr id="61" name="Text 56"/>
          <p:cNvSpPr/>
          <p:nvPr/>
        </p:nvSpPr>
        <p:spPr>
          <a:xfrm>
            <a:off x="2678906" y="1763725"/>
            <a:ext cx="1671638" cy="286893"/>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Voice-Assisted Administrative Kiosk</a:t>
            </a:r>
            <a:endParaRPr lang="en-US" sz="900" dirty="0"/>
          </a:p>
        </p:txBody>
      </p:sp>
      <p:sp>
        <p:nvSpPr>
          <p:cNvPr id="62" name="Text 57"/>
          <p:cNvSpPr/>
          <p:nvPr/>
        </p:nvSpPr>
        <p:spPr>
          <a:xfrm>
            <a:off x="4797028" y="1367247"/>
            <a:ext cx="307181" cy="307181"/>
          </a:xfrm>
          <a:prstGeom prst="roundRect">
            <a:avLst>
              <a:gd name="adj" fmla="val 31008"/>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3" name="Text 58"/>
          <p:cNvSpPr/>
          <p:nvPr/>
        </p:nvSpPr>
        <p:spPr>
          <a:xfrm>
            <a:off x="4826318" y="1396536"/>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64" name="Text 59"/>
          <p:cNvSpPr/>
          <p:nvPr/>
        </p:nvSpPr>
        <p:spPr>
          <a:xfrm>
            <a:off x="5912293" y="1352745"/>
            <a:ext cx="574063"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5" name="Text 60"/>
          <p:cNvSpPr/>
          <p:nvPr/>
        </p:nvSpPr>
        <p:spPr>
          <a:xfrm>
            <a:off x="5904603" y="1363675"/>
            <a:ext cx="589443"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PHASE 03</a:t>
            </a:r>
            <a:endParaRPr lang="en-US" sz="800" dirty="0"/>
          </a:p>
        </p:txBody>
      </p:sp>
      <p:sp>
        <p:nvSpPr>
          <p:cNvPr id="66" name="Text 61"/>
          <p:cNvSpPr/>
          <p:nvPr/>
        </p:nvSpPr>
        <p:spPr>
          <a:xfrm>
            <a:off x="4793456" y="1763725"/>
            <a:ext cx="1771936" cy="144018"/>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Enterprise Single Sign-On (SSO)</a:t>
            </a:r>
            <a:endParaRPr lang="en-US" sz="900" dirty="0"/>
          </a:p>
        </p:txBody>
      </p:sp>
      <p:sp>
        <p:nvSpPr>
          <p:cNvPr id="67" name="Text 62"/>
          <p:cNvSpPr/>
          <p:nvPr/>
        </p:nvSpPr>
        <p:spPr>
          <a:xfrm>
            <a:off x="6911578" y="1367247"/>
            <a:ext cx="307181" cy="307181"/>
          </a:xfrm>
          <a:prstGeom prst="roundRect">
            <a:avLst>
              <a:gd name="adj" fmla="val 31008"/>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8" name="Text 63"/>
          <p:cNvSpPr/>
          <p:nvPr/>
        </p:nvSpPr>
        <p:spPr>
          <a:xfrm>
            <a:off x="6940868" y="1396536"/>
            <a:ext cx="248602" cy="248602"/>
          </a:xfrm>
          <a:prstGeom prst="rect">
            <a:avLst/>
          </a:prstGeom>
          <a:noFill/>
          <a:ln/>
        </p:spPr>
        <p:txBody>
          <a:bodyPr wrap="none" lIns="0" tIns="0" rIns="0" bIns="0" rtlCol="0" anchor="ctr"/>
          <a:lstStyle/>
          <a:p>
            <a:pPr algn="ctr" indent="0" marL="0">
              <a:buNone/>
            </a:pPr>
            <a:r>
              <a:rPr lang="en-US" sz="1688" dirty="0">
                <a:solidFill>
                  <a:srgbClr val="0E7490"/>
                </a:solidFill>
                <a:latin typeface="Segoe UI Symbol" pitchFamily="34" charset="0"/>
                <a:ea typeface="Segoe UI Symbol" pitchFamily="34" charset="-122"/>
                <a:cs typeface="Segoe UI Symbol" pitchFamily="34" charset="-120"/>
              </a:rPr>
              <a:t>↻</a:t>
            </a:r>
            <a:endParaRPr lang="en-US" sz="1688" dirty="0"/>
          </a:p>
        </p:txBody>
      </p:sp>
      <p:sp>
        <p:nvSpPr>
          <p:cNvPr id="69" name="Text 64"/>
          <p:cNvSpPr/>
          <p:nvPr/>
        </p:nvSpPr>
        <p:spPr>
          <a:xfrm>
            <a:off x="8026843" y="1352745"/>
            <a:ext cx="574063"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70" name="Text 65"/>
          <p:cNvSpPr/>
          <p:nvPr/>
        </p:nvSpPr>
        <p:spPr>
          <a:xfrm>
            <a:off x="8019153" y="1363675"/>
            <a:ext cx="589443"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Liberation Sans Narrow" pitchFamily="34" charset="0"/>
                <a:ea typeface="Liberation Sans Narrow" pitchFamily="34" charset="-122"/>
                <a:cs typeface="Liberation Sans Narrow" pitchFamily="34" charset="-120"/>
              </a:rPr>
              <a:t>PHASE 04</a:t>
            </a:r>
            <a:endParaRPr lang="en-US" sz="800" dirty="0"/>
          </a:p>
        </p:txBody>
      </p:sp>
      <p:sp>
        <p:nvSpPr>
          <p:cNvPr id="71" name="Text 66"/>
          <p:cNvSpPr/>
          <p:nvPr/>
        </p:nvSpPr>
        <p:spPr>
          <a:xfrm>
            <a:off x="6908006" y="1763725"/>
            <a:ext cx="1671638" cy="286893"/>
          </a:xfrm>
          <a:prstGeom prst="rect">
            <a:avLst/>
          </a:prstGeom>
          <a:noFill/>
          <a:ln/>
        </p:spPr>
        <p:txBody>
          <a:bodyPr wrap="square" lIns="0" tIns="0" rIns="0" bIns="0" rtlCol="0" anchor="t">
            <a:normAutofit/>
          </a:bodyPr>
          <a:lstStyle/>
          <a:p>
            <a:pPr algn="l" indent="0" marL="0">
              <a:lnSpc>
                <a:spcPts val="1125"/>
              </a:lnSpc>
              <a:buNone/>
            </a:pPr>
            <a:r>
              <a:rPr lang="en-US" sz="900" dirty="0">
                <a:solidFill>
                  <a:srgbClr val="0F172A"/>
                </a:solidFill>
                <a:latin typeface="Carlito" pitchFamily="34" charset="0"/>
                <a:ea typeface="Carlito" pitchFamily="34" charset="-122"/>
                <a:cs typeface="Carlito" pitchFamily="34" charset="-120"/>
              </a:rPr>
              <a:t>Automated Document Synchronization</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400050" y="157163"/>
            <a:ext cx="7433742" cy="170078"/>
          </a:xfrm>
          <a:prstGeom prst="rect">
            <a:avLst/>
          </a:prstGeom>
          <a:noFill/>
          <a:ln/>
        </p:spPr>
        <p:txBody>
          <a:bodyPr wrap="none" lIns="0" tIns="0" rIns="0" bIns="0" rtlCol="0" anchor="t"/>
          <a:lstStyle/>
          <a:p>
            <a:pPr algn="l" indent="0" marL="0">
              <a:lnSpc>
                <a:spcPts val="872"/>
              </a:lnSpc>
              <a:buNone/>
            </a:pPr>
            <a:r>
              <a:rPr lang="en-US" sz="800" spc="79" kern="0" dirty="0">
                <a:solidFill>
                  <a:srgbClr val="0E7490"/>
                </a:solidFill>
                <a:latin typeface="Courier New" pitchFamily="34" charset="0"/>
                <a:ea typeface="Courier New" pitchFamily="34" charset="-122"/>
                <a:cs typeface="Courier New" pitchFamily="34" charset="-120"/>
              </a:rPr>
              <a:t>KGP GYANKOSH · CAPSTONE DEFENSE</a:t>
            </a:r>
            <a:endParaRPr lang="en-US" sz="800" dirty="0"/>
          </a:p>
        </p:txBody>
      </p:sp>
      <p:sp>
        <p:nvSpPr>
          <p:cNvPr id="5" name="Text 1"/>
          <p:cNvSpPr/>
          <p:nvPr/>
        </p:nvSpPr>
        <p:spPr>
          <a:xfrm>
            <a:off x="7848079" y="157163"/>
            <a:ext cx="1138148" cy="170078"/>
          </a:xfrm>
          <a:prstGeom prst="rect">
            <a:avLst/>
          </a:prstGeom>
          <a:noFill/>
          <a:ln/>
        </p:spPr>
        <p:txBody>
          <a:bodyPr wrap="none" lIns="0" tIns="0" rIns="0" bIns="0" rtlCol="0" anchor="t"/>
          <a:lstStyle/>
          <a:p>
            <a:pPr algn="l" indent="0" marL="0">
              <a:lnSpc>
                <a:spcPts val="872"/>
              </a:lnSpc>
              <a:buNone/>
            </a:pPr>
            <a:r>
              <a:rPr lang="en-US" sz="600" spc="79" kern="0" dirty="0">
                <a:solidFill>
                  <a:srgbClr val="64748B"/>
                </a:solidFill>
                <a:latin typeface="Liberation Sans Narrow" pitchFamily="34" charset="0"/>
                <a:ea typeface="Liberation Sans Narrow" pitchFamily="34" charset="-122"/>
                <a:cs typeface="Liberation Sans Narrow" pitchFamily="34" charset="-120"/>
              </a:rPr>
              <a:t>16 / 16 · CONCLUSION</a:t>
            </a:r>
            <a:endParaRPr lang="en-US" sz="600" dirty="0"/>
          </a:p>
        </p:txBody>
      </p:sp>
      <p:sp>
        <p:nvSpPr>
          <p:cNvPr id="6" name="Text 2"/>
          <p:cNvSpPr/>
          <p:nvPr/>
        </p:nvSpPr>
        <p:spPr>
          <a:xfrm>
            <a:off x="400050" y="342900"/>
            <a:ext cx="8636000" cy="140446"/>
          </a:xfrm>
          <a:prstGeom prst="rect">
            <a:avLst/>
          </a:prstGeom>
          <a:noFill/>
          <a:ln/>
        </p:spPr>
        <p:txBody>
          <a:bodyPr wrap="square" lIns="0" tIns="0" rIns="0" bIns="0" rtlCol="0" anchor="t">
            <a:normAutofit/>
          </a:bodyPr>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CONCLUSION &amp; EVALUATOR Q&amp;A</a:t>
            </a:r>
            <a:endParaRPr lang="en-US" sz="800" dirty="0"/>
          </a:p>
        </p:txBody>
      </p:sp>
      <p:sp>
        <p:nvSpPr>
          <p:cNvPr id="7" name="Text 3"/>
          <p:cNvSpPr/>
          <p:nvPr/>
        </p:nvSpPr>
        <p:spPr>
          <a:xfrm>
            <a:off x="400050" y="510778"/>
            <a:ext cx="8636000" cy="203610"/>
          </a:xfrm>
          <a:prstGeom prst="rect">
            <a:avLst/>
          </a:prstGeom>
          <a:noFill/>
          <a:ln/>
        </p:spPr>
        <p:txBody>
          <a:bodyPr wrap="square" lIns="0" tIns="0" rIns="0" bIns="0" rtlCol="0" anchor="t"/>
          <a:lstStyle/>
          <a:p>
            <a:pPr algn="l" indent="0" marL="0">
              <a:lnSpc>
                <a:spcPts val="1485"/>
              </a:lnSpc>
              <a:buNone/>
            </a:pPr>
            <a:r>
              <a:rPr lang="en-US" sz="1238" spc="-12" kern="0" dirty="0">
                <a:solidFill>
                  <a:srgbClr val="0F172A"/>
                </a:solidFill>
                <a:latin typeface="Carlito" pitchFamily="34" charset="0"/>
                <a:ea typeface="Carlito" pitchFamily="34" charset="-122"/>
                <a:cs typeface="Carlito" pitchFamily="34" charset="-120"/>
              </a:rPr>
              <a:t>KGP Gyankosh: Enterprise Knowledge Assistant with Advanced RAG</a:t>
            </a:r>
            <a:endParaRPr lang="en-US" sz="1238" dirty="0"/>
          </a:p>
        </p:txBody>
      </p:sp>
      <p:sp>
        <p:nvSpPr>
          <p:cNvPr id="8" name="Text 4"/>
          <p:cNvSpPr/>
          <p:nvPr/>
        </p:nvSpPr>
        <p:spPr>
          <a:xfrm>
            <a:off x="400050" y="785031"/>
            <a:ext cx="4937671" cy="3158319"/>
          </a:xfrm>
          <a:prstGeom prst="roundRect">
            <a:avLst>
              <a:gd name="adj" fmla="val 4222"/>
            </a:avLst>
          </a:prstGeom>
          <a:solidFill>
            <a:srgbClr val="FFFFFF"/>
          </a:solidFill>
          <a:ln/>
          <a:effectLst>
            <a:outerShdw sx="100000" sy="100000" kx="0" ky="0" algn="bl" rotWithShape="0" blurRad="38100" dist="19050" dir="5400000">
              <a:srgbClr val="0F172A">
                <a:alpha val="5000"/>
              </a:srgbClr>
            </a:outerShdw>
          </a:effectLst>
        </p:spPr>
        <p:txBody>
          <a:bodyPr wrap="square" rtlCol="0" anchor="ctr"/>
          <a:lstStyle/>
          <a:p>
            <a:pPr indent="0" marL="0">
              <a:buNone/>
            </a:pPr>
            <a:endParaRPr lang="en-US" dirty="0"/>
          </a:p>
        </p:txBody>
      </p:sp>
      <p:sp>
        <p:nvSpPr>
          <p:cNvPr id="9" name="Shape 5"/>
          <p:cNvSpPr/>
          <p:nvPr/>
        </p:nvSpPr>
        <p:spPr>
          <a:xfrm>
            <a:off x="400050" y="788603"/>
            <a:ext cx="4937671" cy="0"/>
          </a:xfrm>
          <a:prstGeom prst="line">
            <a:avLst/>
          </a:prstGeom>
          <a:noFill/>
          <a:ln w="7144">
            <a:solidFill>
              <a:srgbClr val="0F172A"/>
            </a:solidFill>
            <a:prstDash val="solid"/>
          </a:ln>
        </p:spPr>
      </p:sp>
      <p:sp>
        <p:nvSpPr>
          <p:cNvPr id="10" name="Shape 6"/>
          <p:cNvSpPr/>
          <p:nvPr/>
        </p:nvSpPr>
        <p:spPr>
          <a:xfrm>
            <a:off x="5334149" y="785031"/>
            <a:ext cx="0" cy="3158319"/>
          </a:xfrm>
          <a:prstGeom prst="line">
            <a:avLst/>
          </a:prstGeom>
          <a:noFill/>
          <a:ln w="7144">
            <a:solidFill>
              <a:srgbClr val="0F172A"/>
            </a:solidFill>
            <a:prstDash val="solid"/>
          </a:ln>
        </p:spPr>
      </p:sp>
      <p:sp>
        <p:nvSpPr>
          <p:cNvPr id="11" name="Shape 7"/>
          <p:cNvSpPr/>
          <p:nvPr/>
        </p:nvSpPr>
        <p:spPr>
          <a:xfrm>
            <a:off x="400050" y="3939778"/>
            <a:ext cx="4937671" cy="0"/>
          </a:xfrm>
          <a:prstGeom prst="line">
            <a:avLst/>
          </a:prstGeom>
          <a:noFill/>
          <a:ln w="7144">
            <a:solidFill>
              <a:srgbClr val="0F172A"/>
            </a:solidFill>
            <a:prstDash val="solid"/>
          </a:ln>
        </p:spPr>
      </p:sp>
      <p:sp>
        <p:nvSpPr>
          <p:cNvPr id="12" name="Shape 8"/>
          <p:cNvSpPr/>
          <p:nvPr/>
        </p:nvSpPr>
        <p:spPr>
          <a:xfrm>
            <a:off x="410766" y="785031"/>
            <a:ext cx="0" cy="3158319"/>
          </a:xfrm>
          <a:prstGeom prst="line">
            <a:avLst/>
          </a:prstGeom>
          <a:noFill/>
          <a:ln w="21431">
            <a:solidFill>
              <a:srgbClr val="0E7490"/>
            </a:solidFill>
            <a:prstDash val="solid"/>
          </a:ln>
        </p:spPr>
      </p:sp>
      <p:sp>
        <p:nvSpPr>
          <p:cNvPr id="13" name="Text 9"/>
          <p:cNvSpPr/>
          <p:nvPr/>
        </p:nvSpPr>
        <p:spPr>
          <a:xfrm>
            <a:off x="555784" y="924120"/>
            <a:ext cx="928754"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14" name="Text 10"/>
          <p:cNvSpPr/>
          <p:nvPr/>
        </p:nvSpPr>
        <p:spPr>
          <a:xfrm>
            <a:off x="800100" y="977912"/>
            <a:ext cx="3801814" cy="142646"/>
          </a:xfrm>
          <a:prstGeom prst="rect">
            <a:avLst/>
          </a:prstGeom>
          <a:noFill/>
          <a:ln/>
        </p:spPr>
        <p:txBody>
          <a:bodyPr wrap="none" lIns="0" tIns="0" rIns="0" bIns="0" rtlCol="0" anchor="t"/>
          <a:lstStyle/>
          <a:p>
            <a:pPr algn="l"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CORE SUMMARY</a:t>
            </a:r>
            <a:endParaRPr lang="en-US" sz="800" dirty="0"/>
          </a:p>
        </p:txBody>
      </p:sp>
      <p:sp>
        <p:nvSpPr>
          <p:cNvPr id="15" name="Text 11"/>
          <p:cNvSpPr/>
          <p:nvPr/>
        </p:nvSpPr>
        <p:spPr>
          <a:xfrm>
            <a:off x="657225" y="976126"/>
            <a:ext cx="100013" cy="100013"/>
          </a:xfrm>
          <a:prstGeom prst="rect">
            <a:avLst/>
          </a:prstGeom>
          <a:noFill/>
          <a:ln/>
        </p:spPr>
        <p:txBody>
          <a:bodyPr wrap="none" lIns="0" tIns="0" rIns="0" bIns="0" rtlCol="0" anchor="ctr"/>
          <a:lstStyle/>
          <a:p>
            <a:pPr algn="ctr" indent="0" marL="0">
              <a:buNone/>
            </a:pPr>
            <a:r>
              <a:rPr lang="en-US" sz="984" dirty="0">
                <a:solidFill>
                  <a:srgbClr val="0E7490"/>
                </a:solidFill>
                <a:latin typeface="Segoe UI Symbol" pitchFamily="34" charset="0"/>
                <a:ea typeface="Segoe UI Symbol" pitchFamily="34" charset="-122"/>
                <a:cs typeface="Segoe UI Symbol" pitchFamily="34" charset="-120"/>
              </a:rPr>
              <a:t>✦</a:t>
            </a:r>
            <a:endParaRPr lang="en-US" sz="984" dirty="0"/>
          </a:p>
        </p:txBody>
      </p:sp>
      <p:sp>
        <p:nvSpPr>
          <p:cNvPr id="16" name="Text 12"/>
          <p:cNvSpPr/>
          <p:nvPr/>
        </p:nvSpPr>
        <p:spPr>
          <a:xfrm>
            <a:off x="4593913" y="932121"/>
            <a:ext cx="601790" cy="188024"/>
          </a:xfrm>
          <a:prstGeom prst="roundRect">
            <a:avLst>
              <a:gd name="adj" fmla="val 5060777"/>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17" name="Text 13"/>
          <p:cNvSpPr/>
          <p:nvPr/>
        </p:nvSpPr>
        <p:spPr>
          <a:xfrm>
            <a:off x="4505375" y="942194"/>
            <a:ext cx="778866" cy="167878"/>
          </a:xfrm>
          <a:prstGeom prst="rect">
            <a:avLst/>
          </a:prstGeom>
          <a:noFill/>
          <a:ln/>
        </p:spPr>
        <p:txBody>
          <a:bodyPr wrap="none" lIns="0" tIns="0" rIns="0" bIns="0" rtlCol="0" anchor="ctr"/>
          <a:lstStyle/>
          <a:p>
            <a:pPr algn="ctr" indent="0" marL="0">
              <a:lnSpc>
                <a:spcPts val="872"/>
              </a:lnSpc>
              <a:buNone/>
            </a:pPr>
            <a:r>
              <a:rPr lang="en-US" sz="800" spc="34" kern="0" dirty="0">
                <a:solidFill>
                  <a:srgbClr val="15803D"/>
                </a:solidFill>
                <a:latin typeface="Courier New" pitchFamily="34" charset="0"/>
                <a:ea typeface="Courier New" pitchFamily="34" charset="-122"/>
                <a:cs typeface="Courier New" pitchFamily="34" charset="-120"/>
              </a:rPr>
              <a:t>CONCLUSION</a:t>
            </a:r>
            <a:endParaRPr lang="en-US" sz="800" dirty="0"/>
          </a:p>
        </p:txBody>
      </p:sp>
      <p:sp>
        <p:nvSpPr>
          <p:cNvPr id="18" name="Text 14"/>
          <p:cNvSpPr/>
          <p:nvPr/>
        </p:nvSpPr>
        <p:spPr>
          <a:xfrm>
            <a:off x="578644" y="1377628"/>
            <a:ext cx="480060" cy="216027"/>
          </a:xfrm>
          <a:prstGeom prst="rect">
            <a:avLst/>
          </a:prstGeom>
          <a:noFill/>
          <a:ln/>
        </p:spPr>
        <p:txBody>
          <a:bodyPr wrap="none" lIns="0" tIns="0" rIns="0" bIns="0" rtlCol="0" anchor="t"/>
          <a:lstStyle/>
          <a:p>
            <a:pPr algn="l" indent="0" marL="0">
              <a:lnSpc>
                <a:spcPts val="1575"/>
              </a:lnSpc>
              <a:buNone/>
            </a:pPr>
            <a:r>
              <a:rPr lang="en-US" sz="1575" b="1" dirty="0">
                <a:solidFill>
                  <a:srgbClr val="0E7490"/>
                </a:solidFill>
                <a:latin typeface="Liberation Sans Narrow" pitchFamily="34" charset="0"/>
                <a:ea typeface="Liberation Sans Narrow" pitchFamily="34" charset="-122"/>
                <a:cs typeface="Liberation Sans Narrow" pitchFamily="34" charset="-120"/>
              </a:rPr>
              <a:t>1.</a:t>
            </a:r>
            <a:endParaRPr lang="en-US" sz="1575" dirty="0"/>
          </a:p>
        </p:txBody>
      </p:sp>
      <p:sp>
        <p:nvSpPr>
          <p:cNvPr id="19" name="Text 15"/>
          <p:cNvSpPr/>
          <p:nvPr/>
        </p:nvSpPr>
        <p:spPr>
          <a:xfrm>
            <a:off x="964406" y="1377628"/>
            <a:ext cx="4318736" cy="145023"/>
          </a:xfrm>
          <a:prstGeom prst="rect">
            <a:avLst/>
          </a:prstGeom>
          <a:noFill/>
          <a:ln/>
        </p:spPr>
        <p:txBody>
          <a:bodyPr wrap="square" lIns="0" tIns="0" rIns="0" bIns="0" rtlCol="0" anchor="t">
            <a:normAutofit/>
          </a:bodyPr>
          <a:lstStyle/>
          <a:p>
            <a:pPr algn="l" indent="0" marL="0">
              <a:lnSpc>
                <a:spcPts val="1133"/>
              </a:lnSpc>
              <a:buNone/>
            </a:pPr>
            <a:r>
              <a:rPr lang="en-US" sz="800" b="1" spc="29" kern="0" dirty="0">
                <a:solidFill>
                  <a:srgbClr val="0F172A"/>
                </a:solidFill>
                <a:latin typeface="Carlito" pitchFamily="34" charset="0"/>
                <a:ea typeface="Carlito" pitchFamily="34" charset="-122"/>
                <a:cs typeface="Carlito" pitchFamily="34" charset="-120"/>
              </a:rPr>
              <a:t>INTELLIGENCE HUB DELIVERED</a:t>
            </a:r>
            <a:endParaRPr lang="en-US" sz="800" dirty="0"/>
          </a:p>
        </p:txBody>
      </p:sp>
      <p:sp>
        <p:nvSpPr>
          <p:cNvPr id="20" name="Text 16"/>
          <p:cNvSpPr/>
          <p:nvPr/>
        </p:nvSpPr>
        <p:spPr>
          <a:xfrm>
            <a:off x="964406" y="1550082"/>
            <a:ext cx="4209008" cy="340043"/>
          </a:xfrm>
          <a:prstGeom prst="rect">
            <a:avLst/>
          </a:prstGeom>
          <a:noFill/>
          <a:ln/>
        </p:spPr>
        <p:txBody>
          <a:bodyPr wrap="square" lIns="0" tIns="0" rIns="0" bIns="0" rtlCol="0" anchor="t"/>
          <a:lstStyle/>
          <a:p>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Successfully transformed 1,158 complex administrative documents into an instantaneous, grounded intelligence hub.</a:t>
            </a:r>
            <a:endParaRPr lang="en-US" sz="800" dirty="0"/>
          </a:p>
        </p:txBody>
      </p:sp>
      <p:sp>
        <p:nvSpPr>
          <p:cNvPr id="21" name="Shape 17"/>
          <p:cNvSpPr/>
          <p:nvPr/>
        </p:nvSpPr>
        <p:spPr>
          <a:xfrm>
            <a:off x="578644" y="2111536"/>
            <a:ext cx="4594771" cy="0"/>
          </a:xfrm>
          <a:prstGeom prst="line">
            <a:avLst/>
          </a:prstGeom>
          <a:noFill/>
          <a:ln w="7144">
            <a:solidFill>
              <a:srgbClr val="0F172A"/>
            </a:solidFill>
            <a:prstDash val="dash"/>
          </a:ln>
        </p:spPr>
      </p:sp>
      <p:sp>
        <p:nvSpPr>
          <p:cNvPr id="22" name="Text 18"/>
          <p:cNvSpPr/>
          <p:nvPr/>
        </p:nvSpPr>
        <p:spPr>
          <a:xfrm>
            <a:off x="578644" y="2172258"/>
            <a:ext cx="480060" cy="216027"/>
          </a:xfrm>
          <a:prstGeom prst="rect">
            <a:avLst/>
          </a:prstGeom>
          <a:noFill/>
          <a:ln/>
        </p:spPr>
        <p:txBody>
          <a:bodyPr wrap="none" lIns="0" tIns="0" rIns="0" bIns="0" rtlCol="0" anchor="t"/>
          <a:lstStyle/>
          <a:p>
            <a:pPr algn="l" indent="0" marL="0">
              <a:lnSpc>
                <a:spcPts val="1575"/>
              </a:lnSpc>
              <a:buNone/>
            </a:pPr>
            <a:r>
              <a:rPr lang="en-US" sz="1575" b="1" dirty="0">
                <a:solidFill>
                  <a:srgbClr val="0E7490"/>
                </a:solidFill>
                <a:latin typeface="Liberation Sans Narrow" pitchFamily="34" charset="0"/>
                <a:ea typeface="Liberation Sans Narrow" pitchFamily="34" charset="-122"/>
                <a:cs typeface="Liberation Sans Narrow" pitchFamily="34" charset="-120"/>
              </a:rPr>
              <a:t>2.</a:t>
            </a:r>
            <a:endParaRPr lang="en-US" sz="1575" dirty="0"/>
          </a:p>
        </p:txBody>
      </p:sp>
      <p:sp>
        <p:nvSpPr>
          <p:cNvPr id="23" name="Text 19"/>
          <p:cNvSpPr/>
          <p:nvPr/>
        </p:nvSpPr>
        <p:spPr>
          <a:xfrm>
            <a:off x="964406" y="2172258"/>
            <a:ext cx="4209008" cy="145023"/>
          </a:xfrm>
          <a:prstGeom prst="rect">
            <a:avLst/>
          </a:prstGeom>
          <a:noFill/>
          <a:ln/>
        </p:spPr>
        <p:txBody>
          <a:bodyPr wrap="none" lIns="0" tIns="0" rIns="0" bIns="0" rtlCol="0" anchor="t">
            <a:normAutofit/>
          </a:bodyPr>
          <a:lstStyle/>
          <a:p>
            <a:pPr algn="l" indent="0" marL="0">
              <a:lnSpc>
                <a:spcPts val="1133"/>
              </a:lnSpc>
              <a:buNone/>
            </a:pPr>
            <a:r>
              <a:rPr lang="en-US" sz="800" b="1" spc="29" kern="0" dirty="0">
                <a:solidFill>
                  <a:srgbClr val="0F172A"/>
                </a:solidFill>
                <a:latin typeface="Carlito" pitchFamily="34" charset="0"/>
                <a:ea typeface="Carlito" pitchFamily="34" charset="-122"/>
                <a:cs typeface="Carlito" pitchFamily="34" charset="-120"/>
              </a:rPr>
              <a:t>CRITICAL FRICTION SOLVED</a:t>
            </a:r>
            <a:endParaRPr lang="en-US" sz="800" dirty="0"/>
          </a:p>
        </p:txBody>
      </p:sp>
      <p:sp>
        <p:nvSpPr>
          <p:cNvPr id="24" name="Text 20"/>
          <p:cNvSpPr/>
          <p:nvPr/>
        </p:nvSpPr>
        <p:spPr>
          <a:xfrm>
            <a:off x="964406" y="2344713"/>
            <a:ext cx="4209008" cy="265658"/>
          </a:xfrm>
          <a:prstGeom prst="rect">
            <a:avLst/>
          </a:prstGeom>
          <a:noFill/>
          <a:ln/>
        </p:spPr>
        <p:txBody>
          <a:bodyPr wrap="square" lIns="0" tIns="0" rIns="0" bIns="0" rtlCol="0" anchor="t"/>
          <a:lstStyle/>
          <a:p>
            <a:pPr algn="l" indent="0" marL="0">
              <a:lnSpc>
                <a:spcPts val="1046"/>
              </a:lnSpc>
              <a:buNone/>
            </a:pPr>
            <a:r>
              <a:rPr lang="en-US" sz="800" dirty="0">
                <a:solidFill>
                  <a:srgbClr val="475569"/>
                </a:solidFill>
                <a:latin typeface="Carlito" pitchFamily="34" charset="0"/>
                <a:ea typeface="Carlito" pitchFamily="34" charset="-122"/>
                <a:cs typeface="Carlito" pitchFamily="34" charset="-120"/>
              </a:rPr>
              <a:t>Solved administrative search friction with OCR, Hybrid Search (BM25 + FAISS + RRF), and Cross-Encoder reranking.</a:t>
            </a:r>
            <a:endParaRPr lang="en-US" sz="800" dirty="0"/>
          </a:p>
        </p:txBody>
      </p:sp>
      <p:sp>
        <p:nvSpPr>
          <p:cNvPr id="25" name="Shape 21"/>
          <p:cNvSpPr/>
          <p:nvPr/>
        </p:nvSpPr>
        <p:spPr>
          <a:xfrm>
            <a:off x="578644" y="2906167"/>
            <a:ext cx="4594771" cy="0"/>
          </a:xfrm>
          <a:prstGeom prst="line">
            <a:avLst/>
          </a:prstGeom>
          <a:noFill/>
          <a:ln w="7144">
            <a:solidFill>
              <a:srgbClr val="0F172A"/>
            </a:solidFill>
            <a:prstDash val="dash"/>
          </a:ln>
        </p:spPr>
      </p:sp>
      <p:sp>
        <p:nvSpPr>
          <p:cNvPr id="26" name="Text 22"/>
          <p:cNvSpPr/>
          <p:nvPr/>
        </p:nvSpPr>
        <p:spPr>
          <a:xfrm>
            <a:off x="578644" y="2966889"/>
            <a:ext cx="480060" cy="216027"/>
          </a:xfrm>
          <a:prstGeom prst="rect">
            <a:avLst/>
          </a:prstGeom>
          <a:noFill/>
          <a:ln/>
        </p:spPr>
        <p:txBody>
          <a:bodyPr wrap="none" lIns="0" tIns="0" rIns="0" bIns="0" rtlCol="0" anchor="t"/>
          <a:lstStyle/>
          <a:p>
            <a:pPr algn="l" indent="0" marL="0">
              <a:lnSpc>
                <a:spcPts val="1575"/>
              </a:lnSpc>
              <a:buNone/>
            </a:pPr>
            <a:r>
              <a:rPr lang="en-US" sz="1575" b="1" dirty="0">
                <a:solidFill>
                  <a:srgbClr val="0E7490"/>
                </a:solidFill>
                <a:latin typeface="Liberation Sans Narrow" pitchFamily="34" charset="0"/>
                <a:ea typeface="Liberation Sans Narrow" pitchFamily="34" charset="-122"/>
                <a:cs typeface="Liberation Sans Narrow" pitchFamily="34" charset="-120"/>
              </a:rPr>
              <a:t>3.</a:t>
            </a:r>
            <a:endParaRPr lang="en-US" sz="1575" dirty="0"/>
          </a:p>
        </p:txBody>
      </p:sp>
      <p:sp>
        <p:nvSpPr>
          <p:cNvPr id="27" name="Text 23"/>
          <p:cNvSpPr/>
          <p:nvPr/>
        </p:nvSpPr>
        <p:spPr>
          <a:xfrm>
            <a:off x="964406" y="2966889"/>
            <a:ext cx="4209008" cy="145023"/>
          </a:xfrm>
          <a:prstGeom prst="rect">
            <a:avLst/>
          </a:prstGeom>
          <a:noFill/>
          <a:ln/>
        </p:spPr>
        <p:txBody>
          <a:bodyPr wrap="none" lIns="0" tIns="0" rIns="0" bIns="0" rtlCol="0" anchor="t">
            <a:normAutofit/>
          </a:bodyPr>
          <a:lstStyle/>
          <a:p>
            <a:pPr algn="l" indent="0" marL="0">
              <a:lnSpc>
                <a:spcPts val="1133"/>
              </a:lnSpc>
              <a:buNone/>
            </a:pPr>
            <a:r>
              <a:rPr lang="en-US" sz="800" b="1" spc="29" kern="0" dirty="0">
                <a:solidFill>
                  <a:srgbClr val="0F172A"/>
                </a:solidFill>
                <a:latin typeface="Carlito" pitchFamily="34" charset="0"/>
                <a:ea typeface="Carlito" pitchFamily="34" charset="-122"/>
                <a:cs typeface="Carlito" pitchFamily="34" charset="-120"/>
              </a:rPr>
              <a:t>PRODUCTION-VERIFIED</a:t>
            </a:r>
            <a:endParaRPr lang="en-US" sz="800" dirty="0"/>
          </a:p>
        </p:txBody>
      </p:sp>
      <p:sp>
        <p:nvSpPr>
          <p:cNvPr id="28" name="Text 24"/>
          <p:cNvSpPr/>
          <p:nvPr/>
        </p:nvSpPr>
        <p:spPr>
          <a:xfrm>
            <a:off x="964406" y="3139343"/>
            <a:ext cx="4209008" cy="132829"/>
          </a:xfrm>
          <a:prstGeom prst="rect">
            <a:avLst/>
          </a:prstGeom>
          <a:noFill/>
          <a:ln/>
        </p:spPr>
        <p:txBody>
          <a:bodyPr wrap="square" lIns="0" tIns="0" rIns="0" bIns="0" rtlCol="0" anchor="t"/>
          <a:lstStyle/>
          <a:p>
            <a:pPr algn="l" indent="0" marL="0">
              <a:lnSpc>
                <a:spcPts val="1046"/>
              </a:lnSpc>
              <a:buNone/>
            </a:pPr>
            <a:r>
              <a:rPr lang="en-US" sz="675" dirty="0">
                <a:solidFill>
                  <a:srgbClr val="475569"/>
                </a:solidFill>
                <a:latin typeface="Carlito" pitchFamily="34" charset="0"/>
                <a:ea typeface="Carlito" pitchFamily="34" charset="-122"/>
                <a:cs typeface="Carlito" pitchFamily="34" charset="-120"/>
              </a:rPr>
              <a:t>Fully production-deployed with verified 26/26 tests and sub-second query response time.</a:t>
            </a:r>
            <a:endParaRPr lang="en-US" sz="675" dirty="0"/>
          </a:p>
        </p:txBody>
      </p:sp>
      <p:sp>
        <p:nvSpPr>
          <p:cNvPr id="29" name="Shape 25"/>
          <p:cNvSpPr/>
          <p:nvPr/>
        </p:nvSpPr>
        <p:spPr>
          <a:xfrm>
            <a:off x="578644" y="3536156"/>
            <a:ext cx="4594771" cy="0"/>
          </a:xfrm>
          <a:prstGeom prst="line">
            <a:avLst/>
          </a:prstGeom>
          <a:noFill/>
          <a:ln w="7144">
            <a:solidFill>
              <a:srgbClr val="0F172A"/>
            </a:solidFill>
            <a:prstDash val="solid"/>
          </a:ln>
        </p:spPr>
      </p:sp>
      <p:sp>
        <p:nvSpPr>
          <p:cNvPr id="30" name="Text 26"/>
          <p:cNvSpPr/>
          <p:nvPr/>
        </p:nvSpPr>
        <p:spPr>
          <a:xfrm>
            <a:off x="578644" y="3615380"/>
            <a:ext cx="1060177" cy="188024"/>
          </a:xfrm>
          <a:prstGeom prst="roundRect">
            <a:avLst>
              <a:gd name="adj" fmla="val 5060777"/>
            </a:avLst>
          </a:prstGeom>
          <a:solidFill>
            <a:srgbClr val="15803D">
              <a:alpha val="10000"/>
            </a:srgbClr>
          </a:solidFill>
          <a:ln w="7144">
            <a:solidFill>
              <a:srgbClr val="15803D"/>
            </a:solidFill>
            <a:prstDash val="solid"/>
          </a:ln>
        </p:spPr>
        <p:txBody>
          <a:bodyPr wrap="square" rtlCol="0" anchor="ctr"/>
          <a:lstStyle/>
          <a:p>
            <a:pPr indent="0" marL="0">
              <a:buNone/>
            </a:pPr>
            <a:endParaRPr lang="en-US" dirty="0"/>
          </a:p>
        </p:txBody>
      </p:sp>
      <p:sp>
        <p:nvSpPr>
          <p:cNvPr id="31" name="Text 27"/>
          <p:cNvSpPr/>
          <p:nvPr/>
        </p:nvSpPr>
        <p:spPr>
          <a:xfrm>
            <a:off x="800100" y="3661172"/>
            <a:ext cx="867296" cy="132159"/>
          </a:xfrm>
          <a:prstGeom prst="rect">
            <a:avLst/>
          </a:prstGeom>
          <a:noFill/>
          <a:ln/>
        </p:spPr>
        <p:txBody>
          <a:bodyPr wrap="none" lIns="0" tIns="0" rIns="0" bIns="0" rtlCol="0" anchor="t"/>
          <a:lstStyle/>
          <a:p>
            <a:pPr algn="l" indent="0" marL="0">
              <a:lnSpc>
                <a:spcPts val="872"/>
              </a:lnSpc>
              <a:buNone/>
            </a:pPr>
            <a:r>
              <a:rPr lang="en-US" sz="600" spc="34" kern="0" dirty="0">
                <a:solidFill>
                  <a:srgbClr val="15803D"/>
                </a:solidFill>
                <a:latin typeface="Liberation Sans Narrow" pitchFamily="34" charset="0"/>
                <a:ea typeface="Liberation Sans Narrow" pitchFamily="34" charset="-122"/>
                <a:cs typeface="Liberation Sans Narrow" pitchFamily="34" charset="-120"/>
              </a:rPr>
              <a:t>26/26 TESTS PASSING</a:t>
            </a:r>
            <a:endParaRPr lang="en-US" sz="600" dirty="0"/>
          </a:p>
        </p:txBody>
      </p:sp>
      <p:sp>
        <p:nvSpPr>
          <p:cNvPr id="32" name="Text 28"/>
          <p:cNvSpPr/>
          <p:nvPr/>
        </p:nvSpPr>
        <p:spPr>
          <a:xfrm>
            <a:off x="657225" y="3659386"/>
            <a:ext cx="100013" cy="100013"/>
          </a:xfrm>
          <a:prstGeom prst="rect">
            <a:avLst/>
          </a:prstGeom>
          <a:noFill/>
          <a:ln/>
        </p:spPr>
        <p:txBody>
          <a:bodyPr wrap="none" lIns="0" tIns="0" rIns="0" bIns="0" rtlCol="0" anchor="ctr"/>
          <a:lstStyle/>
          <a:p>
            <a:pPr algn="ctr" indent="0" marL="0">
              <a:buNone/>
            </a:pPr>
            <a:r>
              <a:rPr lang="en-US" sz="984" dirty="0">
                <a:solidFill>
                  <a:srgbClr val="15803D"/>
                </a:solidFill>
                <a:latin typeface="Segoe UI Symbol" pitchFamily="34" charset="0"/>
                <a:ea typeface="Segoe UI Symbol" pitchFamily="34" charset="-122"/>
                <a:cs typeface="Segoe UI Symbol" pitchFamily="34" charset="-120"/>
              </a:rPr>
              <a:t>✓</a:t>
            </a:r>
            <a:endParaRPr lang="en-US" sz="984" dirty="0"/>
          </a:p>
        </p:txBody>
      </p:sp>
      <p:sp>
        <p:nvSpPr>
          <p:cNvPr id="33" name="Text 29"/>
          <p:cNvSpPr/>
          <p:nvPr/>
        </p:nvSpPr>
        <p:spPr>
          <a:xfrm>
            <a:off x="1695971" y="3615380"/>
            <a:ext cx="980145" cy="188024"/>
          </a:xfrm>
          <a:prstGeom prst="roundRect">
            <a:avLst>
              <a:gd name="adj" fmla="val 5060777"/>
            </a:avLst>
          </a:prstGeom>
          <a:solidFill>
            <a:srgbClr val="B45309">
              <a:alpha val="10000"/>
            </a:srgbClr>
          </a:solidFill>
          <a:ln w="7144">
            <a:solidFill>
              <a:srgbClr val="B45309"/>
            </a:solidFill>
            <a:prstDash val="solid"/>
          </a:ln>
        </p:spPr>
        <p:txBody>
          <a:bodyPr wrap="square" rtlCol="0" anchor="ctr"/>
          <a:lstStyle/>
          <a:p>
            <a:pPr indent="0" marL="0">
              <a:buNone/>
            </a:pPr>
            <a:endParaRPr lang="en-US" dirty="0"/>
          </a:p>
        </p:txBody>
      </p:sp>
      <p:sp>
        <p:nvSpPr>
          <p:cNvPr id="34" name="Text 30"/>
          <p:cNvSpPr/>
          <p:nvPr/>
        </p:nvSpPr>
        <p:spPr>
          <a:xfrm>
            <a:off x="1917427" y="3661172"/>
            <a:ext cx="787264" cy="132159"/>
          </a:xfrm>
          <a:prstGeom prst="rect">
            <a:avLst/>
          </a:prstGeom>
          <a:noFill/>
          <a:ln/>
        </p:spPr>
        <p:txBody>
          <a:bodyPr wrap="none" lIns="0" tIns="0" rIns="0" bIns="0" rtlCol="0" anchor="t"/>
          <a:lstStyle/>
          <a:p>
            <a:pPr algn="l" indent="0" marL="0">
              <a:lnSpc>
                <a:spcPts val="872"/>
              </a:lnSpc>
              <a:buNone/>
            </a:pPr>
            <a:r>
              <a:rPr lang="en-US" sz="600" spc="34" kern="0" dirty="0">
                <a:solidFill>
                  <a:srgbClr val="B45309"/>
                </a:solidFill>
                <a:latin typeface="Liberation Sans Narrow" pitchFamily="34" charset="0"/>
                <a:ea typeface="Liberation Sans Narrow" pitchFamily="34" charset="-122"/>
                <a:cs typeface="Liberation Sans Narrow" pitchFamily="34" charset="-120"/>
              </a:rPr>
              <a:t>~1.2S E2E LATENCY</a:t>
            </a:r>
            <a:endParaRPr lang="en-US" sz="600" dirty="0"/>
          </a:p>
        </p:txBody>
      </p:sp>
      <p:sp>
        <p:nvSpPr>
          <p:cNvPr id="35" name="Text 31"/>
          <p:cNvSpPr/>
          <p:nvPr/>
        </p:nvSpPr>
        <p:spPr>
          <a:xfrm>
            <a:off x="1774552" y="3659386"/>
            <a:ext cx="100013" cy="100013"/>
          </a:xfrm>
          <a:prstGeom prst="rect">
            <a:avLst/>
          </a:prstGeom>
          <a:noFill/>
          <a:ln/>
        </p:spPr>
        <p:txBody>
          <a:bodyPr wrap="none" lIns="0" tIns="0" rIns="0" bIns="0" rtlCol="0" anchor="ctr"/>
          <a:lstStyle/>
          <a:p>
            <a:pPr algn="ctr" indent="0" marL="0">
              <a:buNone/>
            </a:pPr>
            <a:r>
              <a:rPr lang="en-US" sz="984" dirty="0">
                <a:solidFill>
                  <a:srgbClr val="B45309"/>
                </a:solidFill>
                <a:latin typeface="Segoe UI Symbol" pitchFamily="34" charset="0"/>
                <a:ea typeface="Segoe UI Symbol" pitchFamily="34" charset="-122"/>
                <a:cs typeface="Segoe UI Symbol" pitchFamily="34" charset="-120"/>
              </a:rPr>
              <a:t>⚡</a:t>
            </a:r>
            <a:endParaRPr lang="en-US" sz="984" dirty="0"/>
          </a:p>
        </p:txBody>
      </p:sp>
      <p:sp>
        <p:nvSpPr>
          <p:cNvPr id="36" name="Text 32"/>
          <p:cNvSpPr/>
          <p:nvPr/>
        </p:nvSpPr>
        <p:spPr>
          <a:xfrm>
            <a:off x="2736838" y="3629025"/>
            <a:ext cx="1314450" cy="160734"/>
          </a:xfrm>
          <a:prstGeom prst="roundRect">
            <a:avLst>
              <a:gd name="adj" fmla="val 592001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37" name="Text 33"/>
          <p:cNvSpPr/>
          <p:nvPr/>
        </p:nvSpPr>
        <p:spPr>
          <a:xfrm>
            <a:off x="2954722" y="3661172"/>
            <a:ext cx="2218692" cy="132159"/>
          </a:xfrm>
          <a:prstGeom prst="rect">
            <a:avLst/>
          </a:prstGeom>
          <a:noFill/>
          <a:ln/>
        </p:spPr>
        <p:txBody>
          <a:bodyPr wrap="none" lIns="71438" tIns="21431" rIns="71438" bIns="21431" rtlCol="0" anchor="t"/>
          <a:lstStyle/>
          <a:p>
            <a:pPr algn="l" indent="0" marL="0">
              <a:lnSpc>
                <a:spcPts val="872"/>
              </a:lnSpc>
              <a:buNone/>
            </a:pPr>
            <a:r>
              <a:rPr lang="en-US" sz="800" spc="34" kern="0" dirty="0">
                <a:solidFill>
                  <a:srgbClr val="0E7490"/>
                </a:solidFill>
                <a:latin typeface="Liberation Sans Narrow" pitchFamily="34" charset="0"/>
                <a:ea typeface="Liberation Sans Narrow" pitchFamily="34" charset="-122"/>
                <a:cs typeface="Liberation Sans Narrow" pitchFamily="34" charset="-120"/>
              </a:rPr>
              <a:t>1,158 DOCS · 8,166 CLAUSES</a:t>
            </a:r>
            <a:endParaRPr lang="en-US" sz="800" dirty="0"/>
          </a:p>
        </p:txBody>
      </p:sp>
      <p:sp>
        <p:nvSpPr>
          <p:cNvPr id="38" name="Text 34"/>
          <p:cNvSpPr/>
          <p:nvPr/>
        </p:nvSpPr>
        <p:spPr>
          <a:xfrm>
            <a:off x="2811847" y="3659386"/>
            <a:ext cx="100013" cy="100013"/>
          </a:xfrm>
          <a:prstGeom prst="rect">
            <a:avLst/>
          </a:prstGeom>
          <a:noFill/>
          <a:ln/>
        </p:spPr>
        <p:txBody>
          <a:bodyPr wrap="none" lIns="0" tIns="0" rIns="0" bIns="0" rtlCol="0" anchor="ctr"/>
          <a:lstStyle/>
          <a:p>
            <a:pPr algn="ctr" indent="0" marL="0">
              <a:buNone/>
            </a:pPr>
            <a:r>
              <a:rPr lang="en-US" sz="984" dirty="0">
                <a:solidFill>
                  <a:srgbClr val="0E7490"/>
                </a:solidFill>
                <a:latin typeface="Segoe UI Symbol" pitchFamily="34" charset="0"/>
                <a:ea typeface="Segoe UI Symbol" pitchFamily="34" charset="-122"/>
                <a:cs typeface="Segoe UI Symbol" pitchFamily="34" charset="-120"/>
              </a:rPr>
              <a:t>▣</a:t>
            </a:r>
            <a:endParaRPr lang="en-US" sz="984" dirty="0"/>
          </a:p>
        </p:txBody>
      </p:sp>
      <p:sp>
        <p:nvSpPr>
          <p:cNvPr id="39" name="Text 35"/>
          <p:cNvSpPr/>
          <p:nvPr/>
        </p:nvSpPr>
        <p:spPr>
          <a:xfrm>
            <a:off x="5452021" y="785031"/>
            <a:ext cx="3291929" cy="3158319"/>
          </a:xfrm>
          <a:prstGeom prst="roundRect">
            <a:avLst>
              <a:gd name="adj" fmla="val 3016"/>
            </a:avLst>
          </a:prstGeom>
          <a:solidFill>
            <a:srgbClr val="FFFFFF"/>
          </a:solidFill>
          <a:ln/>
        </p:spPr>
        <p:txBody>
          <a:bodyPr wrap="square" rtlCol="0" anchor="ctr"/>
          <a:lstStyle/>
          <a:p>
            <a:pPr indent="0" marL="0">
              <a:buNone/>
            </a:pPr>
            <a:endParaRPr lang="en-US" dirty="0"/>
          </a:p>
        </p:txBody>
      </p:sp>
      <p:sp>
        <p:nvSpPr>
          <p:cNvPr id="40" name="Shape 36"/>
          <p:cNvSpPr/>
          <p:nvPr/>
        </p:nvSpPr>
        <p:spPr>
          <a:xfrm>
            <a:off x="5452021" y="788603"/>
            <a:ext cx="3291929" cy="0"/>
          </a:xfrm>
          <a:prstGeom prst="line">
            <a:avLst/>
          </a:prstGeom>
          <a:noFill/>
          <a:ln w="7144">
            <a:solidFill>
              <a:srgbClr val="0F172A"/>
            </a:solidFill>
            <a:prstDash val="solid"/>
          </a:ln>
        </p:spPr>
      </p:sp>
      <p:sp>
        <p:nvSpPr>
          <p:cNvPr id="41" name="Shape 37"/>
          <p:cNvSpPr/>
          <p:nvPr/>
        </p:nvSpPr>
        <p:spPr>
          <a:xfrm>
            <a:off x="8740378" y="785031"/>
            <a:ext cx="0" cy="3158319"/>
          </a:xfrm>
          <a:prstGeom prst="line">
            <a:avLst/>
          </a:prstGeom>
          <a:noFill/>
          <a:ln w="7144">
            <a:solidFill>
              <a:srgbClr val="0F172A"/>
            </a:solidFill>
            <a:prstDash val="solid"/>
          </a:ln>
        </p:spPr>
      </p:sp>
      <p:sp>
        <p:nvSpPr>
          <p:cNvPr id="42" name="Shape 38"/>
          <p:cNvSpPr/>
          <p:nvPr/>
        </p:nvSpPr>
        <p:spPr>
          <a:xfrm>
            <a:off x="5452021" y="3939778"/>
            <a:ext cx="3291929" cy="0"/>
          </a:xfrm>
          <a:prstGeom prst="line">
            <a:avLst/>
          </a:prstGeom>
          <a:noFill/>
          <a:ln w="7144">
            <a:solidFill>
              <a:srgbClr val="0F172A"/>
            </a:solidFill>
            <a:prstDash val="solid"/>
          </a:ln>
        </p:spPr>
      </p:sp>
      <p:sp>
        <p:nvSpPr>
          <p:cNvPr id="43" name="Shape 39"/>
          <p:cNvSpPr/>
          <p:nvPr/>
        </p:nvSpPr>
        <p:spPr>
          <a:xfrm>
            <a:off x="5462736" y="785031"/>
            <a:ext cx="0" cy="3158319"/>
          </a:xfrm>
          <a:prstGeom prst="line">
            <a:avLst/>
          </a:prstGeom>
          <a:noFill/>
          <a:ln w="21431">
            <a:solidFill>
              <a:srgbClr val="0E7490"/>
            </a:solidFill>
            <a:prstDash val="solid"/>
          </a:ln>
        </p:spPr>
      </p:sp>
      <p:sp>
        <p:nvSpPr>
          <p:cNvPr id="44" name="Text 40"/>
          <p:cNvSpPr/>
          <p:nvPr/>
        </p:nvSpPr>
        <p:spPr>
          <a:xfrm>
            <a:off x="5602039" y="940408"/>
            <a:ext cx="114300" cy="114300"/>
          </a:xfrm>
          <a:prstGeom prst="rect">
            <a:avLst/>
          </a:prstGeom>
          <a:noFill/>
          <a:ln/>
        </p:spPr>
        <p:txBody>
          <a:bodyPr wrap="none" lIns="0" tIns="0" rIns="0" bIns="0" rtlCol="0" anchor="ctr"/>
          <a:lstStyle/>
          <a:p>
            <a:pPr algn="ctr" indent="0" marL="0">
              <a:buNone/>
            </a:pPr>
            <a:r>
              <a:rPr lang="en-US" sz="1125" dirty="0">
                <a:solidFill>
                  <a:srgbClr val="0E7490"/>
                </a:solidFill>
                <a:latin typeface="Segoe UI Symbol" pitchFamily="34" charset="0"/>
                <a:ea typeface="Segoe UI Symbol" pitchFamily="34" charset="-122"/>
                <a:cs typeface="Segoe UI Symbol" pitchFamily="34" charset="-120"/>
              </a:rPr>
              <a:t>▣</a:t>
            </a:r>
            <a:endParaRPr lang="en-US" sz="1125" dirty="0"/>
          </a:p>
        </p:txBody>
      </p:sp>
      <p:sp>
        <p:nvSpPr>
          <p:cNvPr id="45" name="Text 41"/>
          <p:cNvSpPr/>
          <p:nvPr/>
        </p:nvSpPr>
        <p:spPr>
          <a:xfrm>
            <a:off x="5773489" y="895545"/>
            <a:ext cx="983047" cy="204026"/>
          </a:xfrm>
          <a:prstGeom prst="roundRect">
            <a:avLst>
              <a:gd name="adj" fmla="val 466385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6" name="Text 42"/>
          <p:cNvSpPr/>
          <p:nvPr/>
        </p:nvSpPr>
        <p:spPr>
          <a:xfrm>
            <a:off x="5773489" y="906475"/>
            <a:ext cx="983047" cy="182166"/>
          </a:xfrm>
          <a:prstGeom prst="rect">
            <a:avLst/>
          </a:prstGeom>
          <a:noFill/>
          <a:ln/>
        </p:spPr>
        <p:txBody>
          <a:bodyPr wrap="none" lIns="0" tIns="0" rIns="0" bIns="0" rtlCol="0" anchor="ctr"/>
          <a:lstStyle/>
          <a:p>
            <a:pPr algn="ctr" indent="0" marL="0">
              <a:lnSpc>
                <a:spcPts val="872"/>
              </a:lnSpc>
              <a:buNone/>
            </a:pPr>
            <a:r>
              <a:rPr lang="en-US" sz="800" spc="101" kern="0" dirty="0">
                <a:solidFill>
                  <a:srgbClr val="0E7490"/>
                </a:solidFill>
                <a:latin typeface="Courier New" pitchFamily="34" charset="0"/>
                <a:ea typeface="Courier New" pitchFamily="34" charset="-122"/>
                <a:cs typeface="Courier New" pitchFamily="34" charset="-120"/>
              </a:rPr>
              <a:t>PROJECT ARTIFACTS</a:t>
            </a:r>
            <a:endParaRPr lang="en-US" sz="800" dirty="0"/>
          </a:p>
        </p:txBody>
      </p:sp>
      <p:sp>
        <p:nvSpPr>
          <p:cNvPr id="47" name="Shape 43"/>
          <p:cNvSpPr/>
          <p:nvPr/>
        </p:nvSpPr>
        <p:spPr>
          <a:xfrm>
            <a:off x="5602039" y="1657908"/>
            <a:ext cx="3006179" cy="0"/>
          </a:xfrm>
          <a:prstGeom prst="line">
            <a:avLst/>
          </a:prstGeom>
          <a:noFill/>
          <a:ln w="7144">
            <a:solidFill>
              <a:srgbClr val="0F172A"/>
            </a:solidFill>
            <a:prstDash val="dash"/>
          </a:ln>
        </p:spPr>
      </p:sp>
      <p:sp>
        <p:nvSpPr>
          <p:cNvPr id="48" name="Text 44"/>
          <p:cNvSpPr/>
          <p:nvPr/>
        </p:nvSpPr>
        <p:spPr>
          <a:xfrm>
            <a:off x="5605611" y="1322152"/>
            <a:ext cx="264319" cy="264319"/>
          </a:xfrm>
          <a:prstGeom prst="roundRect">
            <a:avLst>
              <a:gd name="adj" fmla="val 28829"/>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49" name="Text 45"/>
          <p:cNvSpPr/>
          <p:nvPr/>
        </p:nvSpPr>
        <p:spPr>
          <a:xfrm>
            <a:off x="5634186" y="1350727"/>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50" name="Text 46"/>
          <p:cNvSpPr/>
          <p:nvPr/>
        </p:nvSpPr>
        <p:spPr>
          <a:xfrm>
            <a:off x="5959227" y="1325389"/>
            <a:ext cx="2648992" cy="97584"/>
          </a:xfrm>
          <a:prstGeom prst="rect">
            <a:avLst/>
          </a:prstGeom>
          <a:noFill/>
          <a:ln/>
        </p:spPr>
        <p:txBody>
          <a:bodyPr wrap="none" lIns="0" tIns="0" rIns="0" bIns="0" rtlCol="0" anchor="t">
            <a:normAutofit/>
          </a:bodyPr>
          <a:lstStyle/>
          <a:p>
            <a:pPr algn="l" indent="0" marL="0">
              <a:lnSpc>
                <a:spcPts val="872"/>
              </a:lnSpc>
              <a:buNone/>
            </a:pPr>
            <a:r>
              <a:rPr lang="en-US" sz="800" spc="79" kern="0" dirty="0">
                <a:solidFill>
                  <a:srgbClr val="64748B"/>
                </a:solidFill>
                <a:latin typeface="Courier New" pitchFamily="34" charset="0"/>
                <a:ea typeface="Courier New" pitchFamily="34" charset="-122"/>
                <a:cs typeface="Courier New" pitchFamily="34" charset="-120"/>
              </a:rPr>
              <a:t>LIVE CLOUD WEB APP</a:t>
            </a:r>
            <a:endParaRPr lang="en-US" sz="800" dirty="0"/>
          </a:p>
        </p:txBody>
      </p:sp>
      <p:sp>
        <p:nvSpPr>
          <p:cNvPr id="51" name="Text 47"/>
          <p:cNvSpPr/>
          <p:nvPr/>
        </p:nvSpPr>
        <p:spPr>
          <a:xfrm>
            <a:off x="5959227" y="1450404"/>
            <a:ext cx="2758720" cy="139638"/>
          </a:xfrm>
          <a:prstGeom prst="rect">
            <a:avLst/>
          </a:prstGeom>
          <a:noFill/>
          <a:ln/>
        </p:spPr>
        <p:txBody>
          <a:bodyPr wrap="none" lIns="0" tIns="0" rIns="0" bIns="0" rtlCol="0" anchor="t"/>
          <a:lstStyle/>
          <a:p>
            <a:pPr algn="l" indent="0" marL="0">
              <a:lnSpc>
                <a:spcPts val="1046"/>
              </a:lnSpc>
              <a:buNone/>
            </a:pPr>
            <a:r>
              <a:rPr lang="en-US" sz="800" u="sng" dirty="0">
                <a:solidFill>
                  <a:srgbClr val="0E7490"/>
                </a:solidFill>
                <a:latin typeface="Courier New" pitchFamily="34" charset="0"/>
                <a:ea typeface="Courier New" pitchFamily="34" charset="-122"/>
                <a:cs typeface="Courier New" pitchFamily="34" charset="-120"/>
              </a:rPr>
              <a:t>https://kgp-gyankosh.streamlit.app/</a:t>
            </a:r>
            <a:endParaRPr lang="en-US" sz="800" dirty="0"/>
          </a:p>
        </p:txBody>
      </p:sp>
      <p:sp>
        <p:nvSpPr>
          <p:cNvPr id="52" name="Shape 48"/>
          <p:cNvSpPr/>
          <p:nvPr/>
        </p:nvSpPr>
        <p:spPr>
          <a:xfrm>
            <a:off x="5602039" y="2282317"/>
            <a:ext cx="3006179" cy="0"/>
          </a:xfrm>
          <a:prstGeom prst="line">
            <a:avLst/>
          </a:prstGeom>
          <a:noFill/>
          <a:ln w="7144">
            <a:solidFill>
              <a:srgbClr val="0F172A"/>
            </a:solidFill>
            <a:prstDash val="dash"/>
          </a:ln>
        </p:spPr>
      </p:sp>
      <p:sp>
        <p:nvSpPr>
          <p:cNvPr id="53" name="Text 49"/>
          <p:cNvSpPr/>
          <p:nvPr/>
        </p:nvSpPr>
        <p:spPr>
          <a:xfrm>
            <a:off x="5605611" y="1946560"/>
            <a:ext cx="264319" cy="264319"/>
          </a:xfrm>
          <a:prstGeom prst="roundRect">
            <a:avLst>
              <a:gd name="adj" fmla="val 28829"/>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4" name="Text 50"/>
          <p:cNvSpPr/>
          <p:nvPr/>
        </p:nvSpPr>
        <p:spPr>
          <a:xfrm>
            <a:off x="5634186" y="1975135"/>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55" name="Text 51"/>
          <p:cNvSpPr/>
          <p:nvPr/>
        </p:nvSpPr>
        <p:spPr>
          <a:xfrm>
            <a:off x="5959227" y="1956160"/>
            <a:ext cx="2648992" cy="97584"/>
          </a:xfrm>
          <a:prstGeom prst="rect">
            <a:avLst/>
          </a:prstGeom>
          <a:noFill/>
          <a:ln/>
        </p:spPr>
        <p:txBody>
          <a:bodyPr wrap="none" lIns="0" tIns="0" rIns="0" bIns="0" rtlCol="0" anchor="t">
            <a:normAutofit/>
          </a:bodyPr>
          <a:lstStyle/>
          <a:p>
            <a:pPr algn="l" indent="0" marL="0">
              <a:lnSpc>
                <a:spcPts val="872"/>
              </a:lnSpc>
              <a:buNone/>
            </a:pPr>
            <a:r>
              <a:rPr lang="en-US" sz="800" spc="79" kern="0" dirty="0">
                <a:solidFill>
                  <a:srgbClr val="64748B"/>
                </a:solidFill>
                <a:latin typeface="Courier New" pitchFamily="34" charset="0"/>
                <a:ea typeface="Courier New" pitchFamily="34" charset="-122"/>
                <a:cs typeface="Courier New" pitchFamily="34" charset="-120"/>
              </a:rPr>
              <a:t>TEST SUITE</a:t>
            </a:r>
            <a:endParaRPr lang="en-US" sz="800" dirty="0"/>
          </a:p>
        </p:txBody>
      </p:sp>
      <p:sp>
        <p:nvSpPr>
          <p:cNvPr id="56" name="Text 52"/>
          <p:cNvSpPr/>
          <p:nvPr/>
        </p:nvSpPr>
        <p:spPr>
          <a:xfrm>
            <a:off x="5959227" y="2081175"/>
            <a:ext cx="2648992" cy="133276"/>
          </a:xfrm>
          <a:prstGeom prst="rect">
            <a:avLst/>
          </a:prstGeom>
          <a:noFill/>
          <a:ln/>
        </p:spPr>
        <p:txBody>
          <a:bodyPr wrap="none" lIns="0" tIns="0" rIns="0" bIns="0" rtlCol="0" anchor="t"/>
          <a:lstStyle/>
          <a:p>
            <a:pPr algn="l" indent="0" marL="0">
              <a:lnSpc>
                <a:spcPts val="945"/>
              </a:lnSpc>
              <a:buNone/>
            </a:pPr>
            <a:r>
              <a:rPr lang="en-US" sz="800" dirty="0">
                <a:solidFill>
                  <a:srgbClr val="0E7490"/>
                </a:solidFill>
                <a:latin typeface="Courier New" pitchFamily="34" charset="0"/>
                <a:ea typeface="Courier New" pitchFamily="34" charset="-122"/>
                <a:cs typeface="Courier New" pitchFamily="34" charset="-120"/>
              </a:rPr>
              <a:t>pytest -v</a:t>
            </a:r>
            <a:pPr algn="l" indent="0" marL="0">
              <a:lnSpc>
                <a:spcPts val="945"/>
              </a:lnSpc>
              <a:buNone/>
            </a:pPr>
            <a:r>
              <a:rPr lang="en-US" sz="800" dirty="0">
                <a:solidFill>
                  <a:srgbClr val="0F172A"/>
                </a:solidFill>
                <a:latin typeface="Liberation Sans Narrow" pitchFamily="34" charset="0"/>
                <a:ea typeface="Liberation Sans Narrow" pitchFamily="34" charset="-122"/>
                <a:cs typeface="Liberation Sans Narrow" pitchFamily="34" charset="-120"/>
              </a:rPr>
              <a:t> · 26 Passing</a:t>
            </a:r>
            <a:endParaRPr lang="en-US" sz="800" dirty="0"/>
          </a:p>
        </p:txBody>
      </p:sp>
      <p:sp>
        <p:nvSpPr>
          <p:cNvPr id="57" name="Shape 53"/>
          <p:cNvSpPr/>
          <p:nvPr/>
        </p:nvSpPr>
        <p:spPr>
          <a:xfrm>
            <a:off x="5602039" y="2906725"/>
            <a:ext cx="3006179" cy="0"/>
          </a:xfrm>
          <a:prstGeom prst="line">
            <a:avLst/>
          </a:prstGeom>
          <a:noFill/>
          <a:ln w="7144">
            <a:solidFill>
              <a:srgbClr val="0F172A"/>
            </a:solidFill>
            <a:prstDash val="dash"/>
          </a:ln>
        </p:spPr>
      </p:sp>
      <p:sp>
        <p:nvSpPr>
          <p:cNvPr id="58" name="Text 54"/>
          <p:cNvSpPr/>
          <p:nvPr/>
        </p:nvSpPr>
        <p:spPr>
          <a:xfrm>
            <a:off x="5605611" y="2570969"/>
            <a:ext cx="264319" cy="264319"/>
          </a:xfrm>
          <a:prstGeom prst="roundRect">
            <a:avLst>
              <a:gd name="adj" fmla="val 28829"/>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59" name="Text 55"/>
          <p:cNvSpPr/>
          <p:nvPr/>
        </p:nvSpPr>
        <p:spPr>
          <a:xfrm>
            <a:off x="5634186" y="2599544"/>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60" name="Text 56"/>
          <p:cNvSpPr/>
          <p:nvPr/>
        </p:nvSpPr>
        <p:spPr>
          <a:xfrm>
            <a:off x="5959227" y="2580568"/>
            <a:ext cx="2648992" cy="97584"/>
          </a:xfrm>
          <a:prstGeom prst="rect">
            <a:avLst/>
          </a:prstGeom>
          <a:noFill/>
          <a:ln/>
        </p:spPr>
        <p:txBody>
          <a:bodyPr wrap="none" lIns="0" tIns="0" rIns="0" bIns="0" rtlCol="0" anchor="t">
            <a:normAutofit/>
          </a:bodyPr>
          <a:lstStyle/>
          <a:p>
            <a:pPr algn="l" indent="0" marL="0">
              <a:lnSpc>
                <a:spcPts val="872"/>
              </a:lnSpc>
              <a:buNone/>
            </a:pPr>
            <a:r>
              <a:rPr lang="en-US" sz="800" spc="79" kern="0" dirty="0">
                <a:solidFill>
                  <a:srgbClr val="64748B"/>
                </a:solidFill>
                <a:latin typeface="Courier New" pitchFamily="34" charset="0"/>
                <a:ea typeface="Courier New" pitchFamily="34" charset="-122"/>
                <a:cs typeface="Courier New" pitchFamily="34" charset="-120"/>
              </a:rPr>
              <a:t>CODEBASE</a:t>
            </a:r>
            <a:endParaRPr lang="en-US" sz="800" dirty="0"/>
          </a:p>
        </p:txBody>
      </p:sp>
      <p:sp>
        <p:nvSpPr>
          <p:cNvPr id="61" name="Text 57"/>
          <p:cNvSpPr/>
          <p:nvPr/>
        </p:nvSpPr>
        <p:spPr>
          <a:xfrm>
            <a:off x="5959227" y="2705584"/>
            <a:ext cx="2648992" cy="133276"/>
          </a:xfrm>
          <a:prstGeom prst="rect">
            <a:avLst/>
          </a:prstGeom>
          <a:noFill/>
          <a:ln/>
        </p:spPr>
        <p:txBody>
          <a:bodyPr wrap="square" lIns="0" tIns="0" rIns="0" bIns="0" rtlCol="0" anchor="t"/>
          <a:lstStyle/>
          <a:p>
            <a:pPr algn="l" indent="0" marL="0">
              <a:lnSpc>
                <a:spcPts val="945"/>
              </a:lnSpc>
              <a:buNone/>
            </a:pPr>
            <a:r>
              <a:rPr lang="en-US" sz="675" dirty="0">
                <a:solidFill>
                  <a:srgbClr val="0F172A"/>
                </a:solidFill>
                <a:latin typeface="Carlito" pitchFamily="34" charset="0"/>
                <a:ea typeface="Carlito" pitchFamily="34" charset="-122"/>
                <a:cs typeface="Carlito" pitchFamily="34" charset="-120"/>
              </a:rPr>
              <a:t>Clean modular architecture, complete line-by-line documentation</a:t>
            </a:r>
            <a:endParaRPr lang="en-US" sz="675" dirty="0"/>
          </a:p>
        </p:txBody>
      </p:sp>
      <p:sp>
        <p:nvSpPr>
          <p:cNvPr id="62" name="Text 58"/>
          <p:cNvSpPr/>
          <p:nvPr/>
        </p:nvSpPr>
        <p:spPr>
          <a:xfrm>
            <a:off x="5605611" y="3288134"/>
            <a:ext cx="264319" cy="264319"/>
          </a:xfrm>
          <a:prstGeom prst="roundRect">
            <a:avLst>
              <a:gd name="adj" fmla="val 28829"/>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63" name="Text 59"/>
          <p:cNvSpPr/>
          <p:nvPr/>
        </p:nvSpPr>
        <p:spPr>
          <a:xfrm>
            <a:off x="5634186" y="3316709"/>
            <a:ext cx="207169" cy="207169"/>
          </a:xfrm>
          <a:prstGeom prst="rect">
            <a:avLst/>
          </a:prstGeom>
          <a:noFill/>
          <a:ln/>
        </p:spPr>
        <p:txBody>
          <a:bodyPr wrap="none" lIns="0" tIns="0" rIns="0" bIns="0" rtlCol="0" anchor="ctr"/>
          <a:lstStyle/>
          <a:p>
            <a:pPr algn="ctr" indent="0" marL="0">
              <a:buNone/>
            </a:pPr>
            <a:r>
              <a:rPr lang="en-US" sz="1406" dirty="0">
                <a:solidFill>
                  <a:srgbClr val="0E7490"/>
                </a:solidFill>
                <a:latin typeface="Segoe UI Symbol" pitchFamily="34" charset="0"/>
                <a:ea typeface="Segoe UI Symbol" pitchFamily="34" charset="-122"/>
                <a:cs typeface="Segoe UI Symbol" pitchFamily="34" charset="-120"/>
              </a:rPr>
              <a:t>✦</a:t>
            </a:r>
            <a:endParaRPr lang="en-US" sz="1406" dirty="0"/>
          </a:p>
        </p:txBody>
      </p:sp>
      <p:sp>
        <p:nvSpPr>
          <p:cNvPr id="64" name="Text 60"/>
          <p:cNvSpPr/>
          <p:nvPr/>
        </p:nvSpPr>
        <p:spPr>
          <a:xfrm>
            <a:off x="5959227" y="3297734"/>
            <a:ext cx="1103689" cy="97584"/>
          </a:xfrm>
          <a:prstGeom prst="rect">
            <a:avLst/>
          </a:prstGeom>
          <a:noFill/>
          <a:ln/>
        </p:spPr>
        <p:txBody>
          <a:bodyPr wrap="none" lIns="0" tIns="0" rIns="0" bIns="0" rtlCol="0" anchor="t">
            <a:normAutofit/>
          </a:bodyPr>
          <a:lstStyle/>
          <a:p>
            <a:pPr algn="l" indent="0" marL="0">
              <a:lnSpc>
                <a:spcPts val="872"/>
              </a:lnSpc>
              <a:buNone/>
            </a:pPr>
            <a:r>
              <a:rPr lang="en-US" sz="600" spc="79" kern="0" dirty="0">
                <a:solidFill>
                  <a:srgbClr val="64748B"/>
                </a:solidFill>
                <a:latin typeface="Courier New" pitchFamily="34" charset="0"/>
                <a:ea typeface="Courier New" pitchFamily="34" charset="-122"/>
                <a:cs typeface="Courier New" pitchFamily="34" charset="-120"/>
              </a:rPr>
              <a:t>QR CODE PLACEHOLDER</a:t>
            </a:r>
            <a:endParaRPr lang="en-US" sz="600" dirty="0"/>
          </a:p>
        </p:txBody>
      </p:sp>
      <p:sp>
        <p:nvSpPr>
          <p:cNvPr id="65" name="Text 61"/>
          <p:cNvSpPr/>
          <p:nvPr/>
        </p:nvSpPr>
        <p:spPr>
          <a:xfrm>
            <a:off x="5959227" y="3422749"/>
            <a:ext cx="1018171" cy="153591"/>
          </a:xfrm>
          <a:prstGeom prst="rect">
            <a:avLst/>
          </a:prstGeom>
          <a:noFill/>
          <a:ln/>
        </p:spPr>
        <p:txBody>
          <a:bodyPr wrap="none" lIns="0" tIns="0" rIns="0" bIns="0" rtlCol="0" anchor="t"/>
          <a:lstStyle/>
          <a:p>
            <a:pPr algn="l" indent="0" marL="0">
              <a:lnSpc>
                <a:spcPts val="945"/>
              </a:lnSpc>
              <a:buNone/>
            </a:pPr>
            <a:r>
              <a:rPr lang="en-US" sz="675" dirty="0">
                <a:solidFill>
                  <a:srgbClr val="0F172A"/>
                </a:solidFill>
                <a:latin typeface="Carlito" pitchFamily="34" charset="0"/>
                <a:ea typeface="Carlito" pitchFamily="34" charset="-122"/>
                <a:cs typeface="Carlito" pitchFamily="34" charset="-120"/>
              </a:rPr>
              <a:t>Scan to open live app</a:t>
            </a:r>
            <a:endParaRPr lang="en-US" sz="675" dirty="0"/>
          </a:p>
        </p:txBody>
      </p:sp>
      <p:sp>
        <p:nvSpPr>
          <p:cNvPr id="66" name="Text 62"/>
          <p:cNvSpPr/>
          <p:nvPr/>
        </p:nvSpPr>
        <p:spPr>
          <a:xfrm>
            <a:off x="6920843" y="3198837"/>
            <a:ext cx="442913" cy="442913"/>
          </a:xfrm>
          <a:prstGeom prst="roundRect">
            <a:avLst>
              <a:gd name="adj" fmla="val 12903"/>
            </a:avLst>
          </a:prstGeom>
          <a:solidFill>
            <a:srgbClr val="06B6D4">
              <a:alpha val="4000"/>
            </a:srgbClr>
          </a:solidFill>
          <a:ln w="14288">
            <a:solidFill>
              <a:srgbClr val="0E7490"/>
            </a:solidFill>
            <a:prstDash val="dash"/>
          </a:ln>
        </p:spPr>
        <p:txBody>
          <a:bodyPr wrap="square" rtlCol="0" anchor="ctr"/>
          <a:lstStyle/>
          <a:p>
            <a:pPr indent="0" marL="0">
              <a:buNone/>
            </a:pPr>
            <a:endParaRPr lang="en-US" dirty="0"/>
          </a:p>
        </p:txBody>
      </p:sp>
      <p:sp>
        <p:nvSpPr>
          <p:cNvPr id="67" name="Text 63"/>
          <p:cNvSpPr/>
          <p:nvPr/>
        </p:nvSpPr>
        <p:spPr>
          <a:xfrm>
            <a:off x="6913699" y="3191694"/>
            <a:ext cx="457200" cy="457200"/>
          </a:xfrm>
          <a:prstGeom prst="rect">
            <a:avLst/>
          </a:prstGeom>
          <a:noFill/>
          <a:ln/>
        </p:spPr>
        <p:txBody>
          <a:bodyPr wrap="none" lIns="0" tIns="0" rIns="0" bIns="0" rtlCol="0" anchor="ctr"/>
          <a:lstStyle/>
          <a:p>
            <a:pPr algn="ctr" indent="0" marL="0">
              <a:lnSpc>
                <a:spcPts val="540"/>
              </a:lnSpc>
              <a:buNone/>
            </a:pPr>
            <a:r>
              <a:rPr lang="en-US" sz="800" spc="72" kern="0" dirty="0">
                <a:solidFill>
                  <a:srgbClr val="64748B"/>
                </a:solidFill>
                <a:latin typeface="Courier New" pitchFamily="34" charset="0"/>
                <a:ea typeface="Courier New" pitchFamily="34" charset="-122"/>
                <a:cs typeface="Courier New" pitchFamily="34" charset="-120"/>
              </a:rPr>
              <a:t>INSERT</a:t>
            </a:r>
            <a:endParaRPr lang="en-US" sz="800" dirty="0"/>
          </a:p>
          <a:p>
            <a:pPr algn="ctr" indent="0" marL="0">
              <a:lnSpc>
                <a:spcPts val="540"/>
              </a:lnSpc>
              <a:buNone/>
            </a:pPr>
            <a:r>
              <a:rPr lang="en-US" sz="800" spc="72" kern="0" dirty="0">
                <a:solidFill>
                  <a:srgbClr val="64748B"/>
                </a:solidFill>
                <a:latin typeface="Courier New" pitchFamily="34" charset="0"/>
                <a:ea typeface="Courier New" pitchFamily="34" charset="-122"/>
                <a:cs typeface="Courier New" pitchFamily="34" charset="-120"/>
              </a:rPr>
              <a:t>QR</a:t>
            </a:r>
            <a:endParaRPr lang="en-US" sz="800" dirty="0"/>
          </a:p>
        </p:txBody>
      </p:sp>
      <p:pic>
        <p:nvPicPr>
          <p:cNvPr id="68" name="Image 2" descr="preencoded.png">    </p:cNvPr>
          <p:cNvPicPr>
            <a:picLocks noChangeAspect="1"/>
          </p:cNvPicPr>
          <p:nvPr/>
        </p:nvPicPr>
        <p:blipFill>
          <a:blip r:embed="rId3"/>
          <a:stretch>
            <a:fillRect/>
          </a:stretch>
        </p:blipFill>
        <p:spPr>
          <a:xfrm>
            <a:off x="400050" y="4057650"/>
            <a:ext cx="8343900" cy="685800"/>
          </a:xfrm>
          <a:prstGeom prst="rect">
            <a:avLst/>
          </a:prstGeom>
        </p:spPr>
      </p:pic>
      <p:sp>
        <p:nvSpPr>
          <p:cNvPr id="69" name="Text 64"/>
          <p:cNvSpPr/>
          <p:nvPr/>
        </p:nvSpPr>
        <p:spPr>
          <a:xfrm>
            <a:off x="403622" y="4061222"/>
            <a:ext cx="8336756" cy="678656"/>
          </a:xfrm>
          <a:prstGeom prst="roundRect">
            <a:avLst>
              <a:gd name="adj" fmla="val 19649"/>
            </a:avLst>
          </a:prstGeom>
          <a:noFill/>
          <a:ln w="7144">
            <a:solidFill>
              <a:srgbClr val="0E7490"/>
            </a:solidFill>
            <a:prstDash val="solid"/>
          </a:ln>
        </p:spPr>
        <p:txBody>
          <a:bodyPr wrap="square" rtlCol="0" anchor="ctr"/>
          <a:lstStyle/>
          <a:p>
            <a:pPr indent="0" marL="0">
              <a:buNone/>
            </a:pPr>
            <a:endParaRPr lang="en-US" dirty="0"/>
          </a:p>
        </p:txBody>
      </p:sp>
      <p:sp>
        <p:nvSpPr>
          <p:cNvPr id="70" name="Text 65"/>
          <p:cNvSpPr/>
          <p:nvPr/>
        </p:nvSpPr>
        <p:spPr>
          <a:xfrm>
            <a:off x="2034294" y="4208897"/>
            <a:ext cx="5075300" cy="220608"/>
          </a:xfrm>
          <a:prstGeom prst="rect">
            <a:avLst/>
          </a:prstGeom>
          <a:noFill/>
          <a:ln/>
        </p:spPr>
        <p:txBody>
          <a:bodyPr wrap="square" lIns="0" tIns="0" rIns="0" bIns="0" rtlCol="0" anchor="t"/>
          <a:lstStyle/>
          <a:p>
            <a:pPr algn="ctr" indent="0" marL="0">
              <a:lnSpc>
                <a:spcPts val="1609"/>
              </a:lnSpc>
              <a:buNone/>
            </a:pPr>
            <a:r>
              <a:rPr lang="en-US" sz="1238" spc="-12" kern="0" dirty="0">
                <a:solidFill>
                  <a:srgbClr val="0F172A"/>
                </a:solidFill>
                <a:latin typeface="Carlito" pitchFamily="34" charset="0"/>
                <a:ea typeface="Carlito" pitchFamily="34" charset="-122"/>
                <a:cs typeface="Carlito" pitchFamily="34" charset="-120"/>
              </a:rPr>
              <a:t>Thank you! Opening the floor for Evaluator Questions &amp; Live Demonstration.</a:t>
            </a:r>
            <a:endParaRPr lang="en-US" sz="1238" dirty="0"/>
          </a:p>
        </p:txBody>
      </p:sp>
      <p:sp>
        <p:nvSpPr>
          <p:cNvPr id="71" name="Text 66"/>
          <p:cNvSpPr/>
          <p:nvPr/>
        </p:nvSpPr>
        <p:spPr>
          <a:xfrm>
            <a:off x="3059311" y="4470313"/>
            <a:ext cx="3631891" cy="165981"/>
          </a:xfrm>
          <a:prstGeom prst="rect">
            <a:avLst/>
          </a:prstGeom>
          <a:noFill/>
          <a:ln/>
        </p:spPr>
        <p:txBody>
          <a:bodyPr wrap="square" lIns="0" tIns="0" rIns="0" bIns="0" rtlCol="0" anchor="t"/>
          <a:lstStyle/>
          <a:p>
            <a:pPr algn="l" indent="0" marL="0">
              <a:lnSpc>
                <a:spcPts val="959"/>
              </a:lnSpc>
              <a:buNone/>
            </a:pPr>
            <a:r>
              <a:rPr lang="en-US" sz="619" spc="111" kern="0" dirty="0">
                <a:solidFill>
                  <a:srgbClr val="0E7490"/>
                </a:solidFill>
                <a:latin typeface="Courier New" pitchFamily="34" charset="0"/>
                <a:ea typeface="Courier New" pitchFamily="34" charset="-122"/>
                <a:cs typeface="Courier New" pitchFamily="34" charset="-120"/>
              </a:rPr>
              <a:t>KGP-GYANKOSH.STREAMLIT.APP · IIT PATNA CAPSTONE PROJECT 2</a:t>
            </a:r>
            <a:endParaRPr lang="en-US" sz="619" dirty="0"/>
          </a:p>
        </p:txBody>
      </p:sp>
      <p:sp>
        <p:nvSpPr>
          <p:cNvPr id="72" name="Shape 67"/>
          <p:cNvSpPr/>
          <p:nvPr/>
        </p:nvSpPr>
        <p:spPr>
          <a:xfrm>
            <a:off x="400050" y="4829175"/>
            <a:ext cx="8343900" cy="0"/>
          </a:xfrm>
          <a:prstGeom prst="line">
            <a:avLst/>
          </a:prstGeom>
          <a:noFill/>
          <a:ln w="7144">
            <a:solidFill>
              <a:srgbClr val="0F172A"/>
            </a:solidFill>
            <a:prstDash val="solid"/>
          </a:ln>
        </p:spPr>
      </p:sp>
      <p:sp>
        <p:nvSpPr>
          <p:cNvPr id="73" name="Text 68"/>
          <p:cNvSpPr/>
          <p:nvPr/>
        </p:nvSpPr>
        <p:spPr>
          <a:xfrm>
            <a:off x="400050" y="4904184"/>
            <a:ext cx="8019529" cy="110728"/>
          </a:xfrm>
          <a:prstGeom prst="rect">
            <a:avLst/>
          </a:prstGeom>
          <a:noFill/>
          <a:ln/>
        </p:spPr>
        <p:txBody>
          <a:bodyPr wrap="square" lIns="0" tIns="0" rIns="0" bIns="0" rtlCol="0" anchor="t"/>
          <a:lstStyle/>
          <a:p>
            <a:pPr algn="l" indent="0" marL="0">
              <a:lnSpc>
                <a:spcPts val="872"/>
              </a:lnSpc>
              <a:buNone/>
            </a:pPr>
            <a:r>
              <a:rPr lang="en-US" sz="800" spc="68" kern="0" dirty="0">
                <a:solidFill>
                  <a:srgbClr val="64748B"/>
                </a:solidFill>
                <a:latin typeface="Courier New" pitchFamily="34" charset="0"/>
                <a:ea typeface="Courier New" pitchFamily="34" charset="-122"/>
                <a:cs typeface="Courier New" pitchFamily="34" charset="-120"/>
              </a:rPr>
              <a:t>KGP GYANKOSH · IIT PATNA CAPSTONE PROJECT 2</a:t>
            </a:r>
            <a:endParaRPr lang="en-US" sz="800" dirty="0"/>
          </a:p>
        </p:txBody>
      </p:sp>
      <p:sp>
        <p:nvSpPr>
          <p:cNvPr id="74" name="Text 69"/>
          <p:cNvSpPr/>
          <p:nvPr/>
        </p:nvSpPr>
        <p:spPr>
          <a:xfrm>
            <a:off x="8418670" y="4904184"/>
            <a:ext cx="340477" cy="110728"/>
          </a:xfrm>
          <a:prstGeom prst="rect">
            <a:avLst/>
          </a:prstGeom>
          <a:noFill/>
          <a:ln/>
        </p:spPr>
        <p:txBody>
          <a:bodyPr wrap="none" lIns="0" tIns="0" rIns="0" bIns="0" rtlCol="0" anchor="t"/>
          <a:lstStyle/>
          <a:p>
            <a:pPr algn="l" indent="0" marL="0">
              <a:lnSpc>
                <a:spcPts val="872"/>
              </a:lnSpc>
              <a:buNone/>
            </a:pPr>
            <a:r>
              <a:rPr lang="en-US" sz="600" spc="68" kern="0" dirty="0">
                <a:solidFill>
                  <a:srgbClr val="64748B"/>
                </a:solidFill>
                <a:latin typeface="Liberation Sans Narrow" pitchFamily="34" charset="0"/>
                <a:ea typeface="Liberation Sans Narrow" pitchFamily="34" charset="-122"/>
                <a:cs typeface="Liberation Sans Narrow" pitchFamily="34" charset="-120"/>
              </a:rPr>
              <a:t>17 / 18</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0" y="0"/>
            <a:ext cx="9144000" cy="5143500"/>
          </a:xfrm>
          <a:prstGeom prst="rect">
            <a:avLst/>
          </a:prstGeom>
        </p:spPr>
      </p:pic>
      <p:sp>
        <p:nvSpPr>
          <p:cNvPr id="4" name="Text 0"/>
          <p:cNvSpPr/>
          <p:nvPr/>
        </p:nvSpPr>
        <p:spPr>
          <a:xfrm>
            <a:off x="2575322" y="575072"/>
            <a:ext cx="3993356" cy="3993356"/>
          </a:xfrm>
          <a:prstGeom prst="ellipse">
            <a:avLst/>
          </a:prstGeom>
          <a:noFill/>
          <a:ln w="7144">
            <a:solidFill>
              <a:srgbClr val="0E7490"/>
            </a:solidFill>
            <a:prstDash val="solid"/>
          </a:ln>
        </p:spPr>
        <p:txBody>
          <a:bodyPr wrap="square" rtlCol="0" anchor="ctr"/>
          <a:lstStyle/>
          <a:p>
            <a:pPr indent="0" marL="0">
              <a:buNone/>
            </a:pPr>
            <a:endParaRPr lang="en-US" dirty="0"/>
          </a:p>
        </p:txBody>
      </p:sp>
      <p:sp>
        <p:nvSpPr>
          <p:cNvPr id="5" name="Text 1"/>
          <p:cNvSpPr/>
          <p:nvPr/>
        </p:nvSpPr>
        <p:spPr>
          <a:xfrm>
            <a:off x="3075384" y="1075134"/>
            <a:ext cx="2993231" cy="2993231"/>
          </a:xfrm>
          <a:prstGeom prst="ellipse">
            <a:avLst/>
          </a:prstGeom>
          <a:noFill/>
          <a:ln w="7144">
            <a:solidFill>
              <a:srgbClr val="0E7490"/>
            </a:solidFill>
            <a:prstDash val="dash"/>
          </a:ln>
        </p:spPr>
        <p:txBody>
          <a:bodyPr wrap="square" rtlCol="0" anchor="ctr"/>
          <a:lstStyle/>
          <a:p>
            <a:pPr indent="0" marL="0">
              <a:buNone/>
            </a:pPr>
            <a:endParaRPr lang="en-US" dirty="0"/>
          </a:p>
        </p:txBody>
      </p:sp>
      <p:sp>
        <p:nvSpPr>
          <p:cNvPr id="6" name="Text 2"/>
          <p:cNvSpPr/>
          <p:nvPr/>
        </p:nvSpPr>
        <p:spPr>
          <a:xfrm>
            <a:off x="3575447" y="1575197"/>
            <a:ext cx="1993106" cy="1993106"/>
          </a:xfrm>
          <a:prstGeom prst="ellipse">
            <a:avLst/>
          </a:prstGeom>
          <a:noFill/>
          <a:ln w="7144">
            <a:solidFill>
              <a:srgbClr val="3B82F6"/>
            </a:solidFill>
            <a:prstDash val="solid"/>
          </a:ln>
        </p:spPr>
        <p:txBody>
          <a:bodyPr wrap="square" rtlCol="0" anchor="ctr"/>
          <a:lstStyle/>
          <a:p>
            <a:pPr indent="0" marL="0">
              <a:buNone/>
            </a:pPr>
            <a:endParaRPr lang="en-US" dirty="0"/>
          </a:p>
        </p:txBody>
      </p:sp>
      <p:sp>
        <p:nvSpPr>
          <p:cNvPr id="7" name="Text 3"/>
          <p:cNvSpPr/>
          <p:nvPr/>
        </p:nvSpPr>
        <p:spPr>
          <a:xfrm rot="2700000">
            <a:off x="2858098" y="857848"/>
            <a:ext cx="3427804" cy="3427804"/>
          </a:xfrm>
          <a:prstGeom prst="roundRect">
            <a:avLst>
              <a:gd name="adj" fmla="val 1111"/>
            </a:avLst>
          </a:prstGeom>
          <a:noFill/>
          <a:ln w="7144">
            <a:solidFill>
              <a:srgbClr val="0E7490"/>
            </a:solidFill>
            <a:prstDash val="solid"/>
          </a:ln>
        </p:spPr>
        <p:txBody>
          <a:bodyPr wrap="square" rtlCol="0" anchor="ctr"/>
          <a:lstStyle/>
          <a:p>
            <a:pPr indent="0" marL="0">
              <a:buNone/>
            </a:pPr>
            <a:endParaRPr lang="en-US" dirty="0"/>
          </a:p>
        </p:txBody>
      </p:sp>
      <p:pic>
        <p:nvPicPr>
          <p:cNvPr id="8" name="Image 2" descr="preencoded.png">    </p:cNvPr>
          <p:cNvPicPr>
            <a:picLocks noChangeAspect="1"/>
          </p:cNvPicPr>
          <p:nvPr/>
        </p:nvPicPr>
        <p:blipFill>
          <a:blip r:embed="rId3"/>
          <a:stretch>
            <a:fillRect/>
          </a:stretch>
        </p:blipFill>
        <p:spPr>
          <a:xfrm>
            <a:off x="2857500" y="2568178"/>
            <a:ext cx="3429000" cy="7144"/>
          </a:xfrm>
          <a:prstGeom prst="rect">
            <a:avLst/>
          </a:prstGeom>
        </p:spPr>
      </p:pic>
      <p:pic>
        <p:nvPicPr>
          <p:cNvPr id="9" name="Image 3" descr="preencoded.png">    </p:cNvPr>
          <p:cNvPicPr>
            <a:picLocks noChangeAspect="1"/>
          </p:cNvPicPr>
          <p:nvPr/>
        </p:nvPicPr>
        <p:blipFill>
          <a:blip r:embed="rId4"/>
          <a:stretch>
            <a:fillRect/>
          </a:stretch>
        </p:blipFill>
        <p:spPr>
          <a:xfrm>
            <a:off x="4568428" y="857250"/>
            <a:ext cx="7144" cy="3429000"/>
          </a:xfrm>
          <a:prstGeom prst="rect">
            <a:avLst/>
          </a:prstGeom>
        </p:spPr>
      </p:pic>
      <p:sp>
        <p:nvSpPr>
          <p:cNvPr id="10" name="Text 4"/>
          <p:cNvSpPr/>
          <p:nvPr/>
        </p:nvSpPr>
        <p:spPr>
          <a:xfrm>
            <a:off x="4529138" y="2528888"/>
            <a:ext cx="85725" cy="85725"/>
          </a:xfrm>
          <a:prstGeom prst="ellipse">
            <a:avLst/>
          </a:prstGeom>
          <a:solidFill>
            <a:srgbClr val="0E7490"/>
          </a:solidFill>
          <a:ln/>
          <a:effectLst>
            <a:outerShdw sx="100000" sy="100000" kx="0" ky="0" algn="bl" rotWithShape="0" blurRad="228600" dist="50800" dir="16200000">
              <a:srgbClr val="0E7490">
                <a:alpha val="50000"/>
              </a:srgbClr>
            </a:outerShdw>
          </a:effectLst>
        </p:spPr>
        <p:txBody>
          <a:bodyPr wrap="square" rtlCol="0" anchor="ctr"/>
          <a:lstStyle/>
          <a:p>
            <a:pPr indent="0" marL="0">
              <a:buNone/>
            </a:pPr>
            <a:endParaRPr lang="en-US" dirty="0"/>
          </a:p>
        </p:txBody>
      </p:sp>
      <p:pic>
        <p:nvPicPr>
          <p:cNvPr id="11" name="Image 4" descr="preencoded.png">    </p:cNvPr>
          <p:cNvPicPr>
            <a:picLocks noChangeAspect="1"/>
          </p:cNvPicPr>
          <p:nvPr/>
        </p:nvPicPr>
        <p:blipFill>
          <a:blip r:embed="rId5"/>
          <a:stretch>
            <a:fillRect/>
          </a:stretch>
        </p:blipFill>
        <p:spPr>
          <a:xfrm>
            <a:off x="1857375" y="1428750"/>
            <a:ext cx="5429250" cy="2286000"/>
          </a:xfrm>
          <a:prstGeom prst="rect">
            <a:avLst/>
          </a:prstGeom>
        </p:spPr>
      </p:pic>
      <p:sp>
        <p:nvSpPr>
          <p:cNvPr id="12" name="Text 5"/>
          <p:cNvSpPr/>
          <p:nvPr/>
        </p:nvSpPr>
        <p:spPr>
          <a:xfrm>
            <a:off x="1857375" y="1428750"/>
            <a:ext cx="5429250" cy="2286000"/>
          </a:xfrm>
          <a:prstGeom prst="rect">
            <a:avLst/>
          </a:prstGeom>
          <a:solidFill>
            <a:srgbClr val="FFFFFF">
              <a:alpha val="0"/>
            </a:srgbClr>
          </a:solidFill>
          <a:ln/>
        </p:spPr>
        <p:txBody>
          <a:bodyPr wrap="square" rtlCol="0" anchor="ctr"/>
          <a:lstStyle/>
          <a:p>
            <a:pPr indent="0" marL="0">
              <a:buNone/>
            </a:pPr>
            <a:endParaRPr lang="en-US" dirty="0"/>
          </a:p>
        </p:txBody>
      </p:sp>
      <p:sp>
        <p:nvSpPr>
          <p:cNvPr id="13" name="Text 6"/>
          <p:cNvSpPr/>
          <p:nvPr/>
        </p:nvSpPr>
        <p:spPr>
          <a:xfrm>
            <a:off x="400050" y="4775597"/>
            <a:ext cx="4032618" cy="170078"/>
          </a:xfrm>
          <a:prstGeom prst="rect">
            <a:avLst/>
          </a:prstGeom>
          <a:noFill/>
          <a:ln/>
        </p:spPr>
        <p:txBody>
          <a:bodyPr wrap="square" lIns="0" tIns="0" rIns="0" bIns="0" rtlCol="0" anchor="t"/>
          <a:lstStyle/>
          <a:p>
            <a:pPr algn="l" indent="0" marL="0">
              <a:lnSpc>
                <a:spcPts val="872"/>
              </a:lnSpc>
              <a:buNone/>
            </a:pPr>
            <a:r>
              <a:rPr lang="en-US" sz="600" spc="90" kern="0" dirty="0">
                <a:solidFill>
                  <a:srgbClr val="64748B"/>
                </a:solidFill>
                <a:latin typeface="Courier New" pitchFamily="34" charset="0"/>
                <a:ea typeface="Courier New" pitchFamily="34" charset="-122"/>
                <a:cs typeface="Courier New" pitchFamily="34" charset="-120"/>
              </a:rPr>
              <a:t>[YOUR NAME / TEAM NAME] · KASHMIR GOVERNMENT POLYTECHNIC COLLEGE, SRINAGAR</a:t>
            </a:r>
            <a:endParaRPr lang="en-US" sz="600" dirty="0"/>
          </a:p>
        </p:txBody>
      </p:sp>
      <p:sp>
        <p:nvSpPr>
          <p:cNvPr id="14" name="Text 7"/>
          <p:cNvSpPr/>
          <p:nvPr/>
        </p:nvSpPr>
        <p:spPr>
          <a:xfrm>
            <a:off x="8036719" y="4179094"/>
            <a:ext cx="700088" cy="700088"/>
          </a:xfrm>
          <a:prstGeom prst="roundRect">
            <a:avLst>
              <a:gd name="adj" fmla="val 10884"/>
            </a:avLst>
          </a:prstGeom>
          <a:solidFill>
            <a:srgbClr val="06B6D4">
              <a:alpha val="4000"/>
            </a:srgbClr>
          </a:solidFill>
          <a:ln w="14288">
            <a:solidFill>
              <a:srgbClr val="0E7490"/>
            </a:solidFill>
            <a:prstDash val="dash"/>
          </a:ln>
        </p:spPr>
        <p:txBody>
          <a:bodyPr wrap="square" rtlCol="0" anchor="ctr"/>
          <a:lstStyle/>
          <a:p>
            <a:pPr indent="0" marL="0">
              <a:buNone/>
            </a:pPr>
            <a:endParaRPr lang="en-US" dirty="0"/>
          </a:p>
        </p:txBody>
      </p:sp>
      <p:sp>
        <p:nvSpPr>
          <p:cNvPr id="15" name="Text 8"/>
          <p:cNvSpPr/>
          <p:nvPr/>
        </p:nvSpPr>
        <p:spPr>
          <a:xfrm>
            <a:off x="8029575" y="4171950"/>
            <a:ext cx="714375" cy="714375"/>
          </a:xfrm>
          <a:prstGeom prst="rect">
            <a:avLst/>
          </a:prstGeom>
          <a:noFill/>
          <a:ln/>
        </p:spPr>
        <p:txBody>
          <a:bodyPr wrap="none" lIns="0" tIns="0" rIns="0" bIns="0" rtlCol="0" anchor="ctr"/>
          <a:lstStyle/>
          <a:p>
            <a:pPr algn="ctr" indent="0" marL="0">
              <a:lnSpc>
                <a:spcPts val="709"/>
              </a:lnSpc>
              <a:buNone/>
            </a:pPr>
            <a:r>
              <a:rPr lang="en-US" sz="800" spc="91" kern="0" dirty="0">
                <a:solidFill>
                  <a:srgbClr val="64748B"/>
                </a:solidFill>
                <a:latin typeface="Courier New" pitchFamily="34" charset="0"/>
                <a:ea typeface="Courier New" pitchFamily="34" charset="-122"/>
                <a:cs typeface="Courier New" pitchFamily="34" charset="-120"/>
              </a:rPr>
              <a:t>INSERT</a:t>
            </a:r>
            <a:endParaRPr lang="en-US" sz="800" dirty="0"/>
          </a:p>
          <a:p>
            <a:pPr algn="ctr" indent="0" marL="0">
              <a:lnSpc>
                <a:spcPts val="709"/>
              </a:lnSpc>
              <a:buNone/>
            </a:pPr>
            <a:r>
              <a:rPr lang="en-US" sz="800" spc="91" kern="0" dirty="0">
                <a:solidFill>
                  <a:srgbClr val="64748B"/>
                </a:solidFill>
                <a:latin typeface="Courier New" pitchFamily="34" charset="0"/>
                <a:ea typeface="Courier New" pitchFamily="34" charset="-122"/>
                <a:cs typeface="Courier New" pitchFamily="34" charset="-120"/>
              </a:rPr>
              <a:t>QR CODE</a:t>
            </a:r>
            <a:endParaRPr lang="en-US" sz="800" dirty="0"/>
          </a:p>
        </p:txBody>
      </p:sp>
      <p:sp>
        <p:nvSpPr>
          <p:cNvPr id="16" name="Text 9"/>
          <p:cNvSpPr/>
          <p:nvPr/>
        </p:nvSpPr>
        <p:spPr>
          <a:xfrm>
            <a:off x="1624868" y="1349611"/>
            <a:ext cx="5894263" cy="170047"/>
          </a:xfrm>
          <a:prstGeom prst="rect">
            <a:avLst/>
          </a:prstGeom>
          <a:noFill/>
          <a:ln/>
        </p:spPr>
        <p:txBody>
          <a:bodyPr wrap="square" lIns="0" tIns="0" rIns="0" bIns="0" rtlCol="0" anchor="t"/>
          <a:lstStyle/>
          <a:p>
            <a:pPr algn="ctr" indent="0" marL="0">
              <a:lnSpc>
                <a:spcPts val="959"/>
              </a:lnSpc>
              <a:buNone/>
            </a:pPr>
            <a:r>
              <a:rPr lang="en-US" sz="800" spc="198" kern="0" dirty="0">
                <a:solidFill>
                  <a:srgbClr val="0E7490"/>
                </a:solidFill>
                <a:latin typeface="Courier New" pitchFamily="34" charset="0"/>
                <a:ea typeface="Courier New" pitchFamily="34" charset="-122"/>
                <a:cs typeface="Courier New" pitchFamily="34" charset="-120"/>
              </a:rPr>
              <a:t>IIT PATNA · CAPSTONE PROJECT 2 · GENERATIVE &amp; AGENTIC AI FOR DEVELOPERS</a:t>
            </a:r>
            <a:endParaRPr lang="en-US" sz="800" dirty="0"/>
          </a:p>
        </p:txBody>
      </p:sp>
      <p:sp>
        <p:nvSpPr>
          <p:cNvPr id="17" name="Text 10"/>
          <p:cNvSpPr/>
          <p:nvPr/>
        </p:nvSpPr>
        <p:spPr>
          <a:xfrm>
            <a:off x="274320" y="1599977"/>
            <a:ext cx="8595248" cy="740664"/>
          </a:xfrm>
          <a:prstGeom prst="rect">
            <a:avLst/>
          </a:prstGeom>
          <a:noFill/>
          <a:ln/>
        </p:spPr>
        <p:txBody>
          <a:bodyPr wrap="none" lIns="0" tIns="0" rIns="0" bIns="0" rtlCol="0" anchor="t"/>
          <a:lstStyle/>
          <a:p>
            <a:pPr algn="ctr" indent="0" marL="0">
              <a:lnSpc>
                <a:spcPts val="5400"/>
              </a:lnSpc>
              <a:buNone/>
            </a:pPr>
            <a:r>
              <a:rPr lang="en-US" sz="5400" b="1" spc="-108" kern="0" dirty="0">
                <a:solidFill>
                  <a:srgbClr val="0F172A"/>
                </a:solidFill>
                <a:latin typeface="Carlito" pitchFamily="34" charset="0"/>
                <a:ea typeface="Carlito" pitchFamily="34" charset="-122"/>
                <a:cs typeface="Carlito" pitchFamily="34" charset="-120"/>
              </a:rPr>
              <a:t>Thank You</a:t>
            </a:r>
            <a:endParaRPr lang="en-US" sz="5400" dirty="0"/>
          </a:p>
        </p:txBody>
      </p:sp>
      <p:sp>
        <p:nvSpPr>
          <p:cNvPr id="18" name="Text 11"/>
          <p:cNvSpPr/>
          <p:nvPr/>
        </p:nvSpPr>
        <p:spPr>
          <a:xfrm>
            <a:off x="3168793" y="2414364"/>
            <a:ext cx="2806302" cy="240619"/>
          </a:xfrm>
          <a:prstGeom prst="rect">
            <a:avLst/>
          </a:prstGeom>
          <a:noFill/>
          <a:ln/>
        </p:spPr>
        <p:txBody>
          <a:bodyPr wrap="square" lIns="0" tIns="0" rIns="0" bIns="0" rtlCol="0" anchor="t"/>
          <a:lstStyle/>
          <a:p>
            <a:pPr algn="ctr" indent="0" marL="0">
              <a:lnSpc>
                <a:spcPts val="1755"/>
              </a:lnSpc>
              <a:buNone/>
            </a:pPr>
            <a:r>
              <a:rPr lang="en-US" sz="1463" spc="-7" kern="0" dirty="0">
                <a:solidFill>
                  <a:srgbClr val="0E7490"/>
                </a:solidFill>
                <a:latin typeface="Carlito" pitchFamily="34" charset="0"/>
                <a:ea typeface="Carlito" pitchFamily="34" charset="-122"/>
                <a:cs typeface="Carlito" pitchFamily="34" charset="-120"/>
              </a:rPr>
              <a:t>Questions &amp; Live Demonstration</a:t>
            </a:r>
            <a:endParaRPr lang="en-US" sz="1463" dirty="0"/>
          </a:p>
        </p:txBody>
      </p:sp>
      <p:sp>
        <p:nvSpPr>
          <p:cNvPr id="19" name="Text 12"/>
          <p:cNvSpPr/>
          <p:nvPr/>
        </p:nvSpPr>
        <p:spPr>
          <a:xfrm>
            <a:off x="4286250" y="2765747"/>
            <a:ext cx="571500" cy="14288"/>
          </a:xfrm>
          <a:prstGeom prst="roundRect">
            <a:avLst>
              <a:gd name="adj" fmla="val 66664"/>
            </a:avLst>
          </a:prstGeom>
          <a:solidFill>
            <a:srgbClr val="0E7490"/>
          </a:solidFill>
          <a:ln/>
          <a:effectLst>
            <a:outerShdw sx="100000" sy="100000" kx="0" ky="0" algn="bl" rotWithShape="0" blurRad="133350" dist="50800" dir="16200000">
              <a:srgbClr val="06B6D4">
                <a:alpha val="70000"/>
              </a:srgbClr>
            </a:outerShdw>
          </a:effectLst>
        </p:spPr>
        <p:txBody>
          <a:bodyPr wrap="square" rtlCol="0" anchor="ctr"/>
          <a:lstStyle/>
          <a:p>
            <a:pPr indent="0" marL="0">
              <a:buNone/>
            </a:pPr>
            <a:endParaRPr lang="en-US" dirty="0"/>
          </a:p>
        </p:txBody>
      </p:sp>
      <p:sp>
        <p:nvSpPr>
          <p:cNvPr id="20" name="Text 13"/>
          <p:cNvSpPr/>
          <p:nvPr/>
        </p:nvSpPr>
        <p:spPr>
          <a:xfrm>
            <a:off x="2612268" y="2908622"/>
            <a:ext cx="3919351" cy="194328"/>
          </a:xfrm>
          <a:prstGeom prst="rect">
            <a:avLst/>
          </a:prstGeom>
          <a:noFill/>
          <a:ln/>
        </p:spPr>
        <p:txBody>
          <a:bodyPr wrap="square" lIns="0" tIns="0" rIns="0" bIns="0" rtlCol="0" anchor="t"/>
          <a:lstStyle/>
          <a:p>
            <a:pPr algn="ctr" indent="0" marL="0">
              <a:lnSpc>
                <a:spcPts val="1418"/>
              </a:lnSpc>
              <a:buNone/>
            </a:pPr>
            <a:r>
              <a:rPr lang="en-US" sz="1013" dirty="0">
                <a:solidFill>
                  <a:srgbClr val="475569"/>
                </a:solidFill>
                <a:latin typeface="Carlito" pitchFamily="34" charset="0"/>
                <a:ea typeface="Carlito" pitchFamily="34" charset="-122"/>
                <a:cs typeface="Carlito" pitchFamily="34" charset="-120"/>
              </a:rPr>
              <a:t>KGP Gyankosh — Enterprise Knowledge Assistant with Advanced RAG</a:t>
            </a:r>
            <a:endParaRPr lang="en-US" sz="1013" dirty="0"/>
          </a:p>
        </p:txBody>
      </p:sp>
      <p:sp>
        <p:nvSpPr>
          <p:cNvPr id="21" name="Text 14"/>
          <p:cNvSpPr/>
          <p:nvPr/>
        </p:nvSpPr>
        <p:spPr>
          <a:xfrm>
            <a:off x="3513444" y="3217143"/>
            <a:ext cx="2117113" cy="169980"/>
          </a:xfrm>
          <a:prstGeom prst="rect">
            <a:avLst/>
          </a:prstGeom>
          <a:noFill/>
          <a:ln/>
        </p:spPr>
        <p:txBody>
          <a:bodyPr wrap="square" lIns="0" tIns="0" rIns="0" bIns="0" rtlCol="0" anchor="t"/>
          <a:lstStyle/>
          <a:p>
            <a:pPr algn="ctr" indent="0" marL="0">
              <a:lnSpc>
                <a:spcPts val="1221"/>
              </a:lnSpc>
              <a:buNone/>
            </a:pPr>
            <a:r>
              <a:rPr lang="en-US" sz="800" u="sng" spc="47" kern="0" dirty="0">
                <a:solidFill>
                  <a:srgbClr val="0E7490"/>
                </a:solidFill>
                <a:latin typeface="Courier New" pitchFamily="34" charset="0"/>
                <a:ea typeface="Courier New" pitchFamily="34" charset="-122"/>
                <a:cs typeface="Courier New" pitchFamily="34" charset="-120"/>
              </a:rPr>
              <a:t>https://kgp-gyankosh.streamlit.app/</a:t>
            </a:r>
            <a:endParaRPr lang="en-US" sz="800" dirty="0"/>
          </a:p>
        </p:txBody>
      </p:sp>
      <p:sp>
        <p:nvSpPr>
          <p:cNvPr id="22" name="Text 15"/>
          <p:cNvSpPr/>
          <p:nvPr/>
        </p:nvSpPr>
        <p:spPr>
          <a:xfrm>
            <a:off x="2894223" y="3545009"/>
            <a:ext cx="860152" cy="261682"/>
          </a:xfrm>
          <a:prstGeom prst="roundRect">
            <a:avLst>
              <a:gd name="adj" fmla="val 363627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3" name="Text 16"/>
          <p:cNvSpPr/>
          <p:nvPr/>
        </p:nvSpPr>
        <p:spPr>
          <a:xfrm>
            <a:off x="3118180" y="3622104"/>
            <a:ext cx="555114" cy="139654"/>
          </a:xfrm>
          <a:prstGeom prst="rect">
            <a:avLst/>
          </a:prstGeom>
          <a:noFill/>
          <a:ln/>
        </p:spPr>
        <p:txBody>
          <a:bodyPr wrap="none" lIns="0" tIns="0" rIns="0" bIns="0" rtlCol="0" anchor="t"/>
          <a:lstStyle/>
          <a:p>
            <a:pPr algn="ctr" indent="0" marL="0">
              <a:lnSpc>
                <a:spcPts val="959"/>
              </a:lnSpc>
              <a:buNone/>
            </a:pPr>
            <a:r>
              <a:rPr lang="en-US" sz="619" spc="87" kern="0" dirty="0">
                <a:solidFill>
                  <a:srgbClr val="0E7490"/>
                </a:solidFill>
                <a:latin typeface="Liberation Sans Narrow" pitchFamily="34" charset="0"/>
                <a:ea typeface="Liberation Sans Narrow" pitchFamily="34" charset="-122"/>
                <a:cs typeface="Liberation Sans Narrow" pitchFamily="34" charset="-120"/>
              </a:rPr>
              <a:t>1,158 DOCS</a:t>
            </a:r>
            <a:endParaRPr lang="en-US" sz="619" dirty="0"/>
          </a:p>
        </p:txBody>
      </p:sp>
      <p:sp>
        <p:nvSpPr>
          <p:cNvPr id="24" name="Text 17"/>
          <p:cNvSpPr/>
          <p:nvPr/>
        </p:nvSpPr>
        <p:spPr>
          <a:xfrm>
            <a:off x="3001380" y="3625788"/>
            <a:ext cx="100013" cy="100013"/>
          </a:xfrm>
          <a:prstGeom prst="rect">
            <a:avLst/>
          </a:prstGeom>
          <a:noFill/>
          <a:ln/>
        </p:spPr>
        <p:txBody>
          <a:bodyPr wrap="none" lIns="0" tIns="0" rIns="0" bIns="0" rtlCol="0" anchor="ctr"/>
          <a:lstStyle/>
          <a:p>
            <a:pPr algn="ctr" indent="0" marL="0">
              <a:buNone/>
            </a:pPr>
            <a:r>
              <a:rPr lang="en-US" sz="984" dirty="0">
                <a:solidFill>
                  <a:srgbClr val="0E7490"/>
                </a:solidFill>
                <a:latin typeface="Segoe UI Symbol" pitchFamily="34" charset="0"/>
                <a:ea typeface="Segoe UI Symbol" pitchFamily="34" charset="-122"/>
                <a:cs typeface="Segoe UI Symbol" pitchFamily="34" charset="-120"/>
              </a:rPr>
              <a:t>▣</a:t>
            </a:r>
            <a:endParaRPr lang="en-US" sz="984" dirty="0"/>
          </a:p>
        </p:txBody>
      </p:sp>
      <p:sp>
        <p:nvSpPr>
          <p:cNvPr id="25" name="Text 18"/>
          <p:cNvSpPr/>
          <p:nvPr/>
        </p:nvSpPr>
        <p:spPr>
          <a:xfrm>
            <a:off x="3840100" y="3545009"/>
            <a:ext cx="1011064" cy="261682"/>
          </a:xfrm>
          <a:prstGeom prst="roundRect">
            <a:avLst>
              <a:gd name="adj" fmla="val 363627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6" name="Text 19"/>
          <p:cNvSpPr/>
          <p:nvPr/>
        </p:nvSpPr>
        <p:spPr>
          <a:xfrm>
            <a:off x="4053278" y="3622104"/>
            <a:ext cx="727584" cy="139654"/>
          </a:xfrm>
          <a:prstGeom prst="rect">
            <a:avLst/>
          </a:prstGeom>
          <a:noFill/>
          <a:ln/>
        </p:spPr>
        <p:txBody>
          <a:bodyPr wrap="none" lIns="0" tIns="0" rIns="0" bIns="0" rtlCol="0" anchor="t"/>
          <a:lstStyle/>
          <a:p>
            <a:pPr algn="ctr" indent="0" marL="0">
              <a:lnSpc>
                <a:spcPts val="959"/>
              </a:lnSpc>
              <a:buNone/>
            </a:pPr>
            <a:r>
              <a:rPr lang="en-US" sz="619" spc="87" kern="0" dirty="0">
                <a:solidFill>
                  <a:srgbClr val="0E7490"/>
                </a:solidFill>
                <a:latin typeface="Liberation Sans Narrow" pitchFamily="34" charset="0"/>
                <a:ea typeface="Liberation Sans Narrow" pitchFamily="34" charset="-122"/>
                <a:cs typeface="Liberation Sans Narrow" pitchFamily="34" charset="-120"/>
              </a:rPr>
              <a:t>8,166 CLAUSES</a:t>
            </a:r>
            <a:endParaRPr lang="en-US" sz="619" dirty="0"/>
          </a:p>
        </p:txBody>
      </p:sp>
      <p:sp>
        <p:nvSpPr>
          <p:cNvPr id="27" name="Text 20"/>
          <p:cNvSpPr/>
          <p:nvPr/>
        </p:nvSpPr>
        <p:spPr>
          <a:xfrm>
            <a:off x="3947257" y="3625788"/>
            <a:ext cx="100013" cy="100013"/>
          </a:xfrm>
          <a:prstGeom prst="rect">
            <a:avLst/>
          </a:prstGeom>
          <a:noFill/>
          <a:ln/>
        </p:spPr>
        <p:txBody>
          <a:bodyPr wrap="none" lIns="0" tIns="0" rIns="0" bIns="0" rtlCol="0" anchor="ctr"/>
          <a:lstStyle/>
          <a:p>
            <a:pPr algn="ctr" indent="0" marL="0">
              <a:buNone/>
            </a:pPr>
            <a:r>
              <a:rPr lang="en-US" sz="984" dirty="0">
                <a:solidFill>
                  <a:srgbClr val="0E7490"/>
                </a:solidFill>
                <a:latin typeface="Segoe UI Symbol" pitchFamily="34" charset="0"/>
                <a:ea typeface="Segoe UI Symbol" pitchFamily="34" charset="-122"/>
                <a:cs typeface="Segoe UI Symbol" pitchFamily="34" charset="-120"/>
              </a:rPr>
              <a:t>▦</a:t>
            </a:r>
            <a:endParaRPr lang="en-US" sz="984" dirty="0"/>
          </a:p>
        </p:txBody>
      </p:sp>
      <p:sp>
        <p:nvSpPr>
          <p:cNvPr id="28" name="Text 21"/>
          <p:cNvSpPr/>
          <p:nvPr/>
        </p:nvSpPr>
        <p:spPr>
          <a:xfrm>
            <a:off x="4936889" y="3545009"/>
            <a:ext cx="1312776" cy="261682"/>
          </a:xfrm>
          <a:prstGeom prst="roundRect">
            <a:avLst>
              <a:gd name="adj" fmla="val 3636274"/>
            </a:avLst>
          </a:prstGeom>
          <a:solidFill>
            <a:srgbClr val="0E7490">
              <a:alpha val="10000"/>
            </a:srgbClr>
          </a:solidFill>
          <a:ln w="7144">
            <a:solidFill>
              <a:srgbClr val="0E7490"/>
            </a:solidFill>
            <a:prstDash val="solid"/>
          </a:ln>
        </p:spPr>
        <p:txBody>
          <a:bodyPr wrap="square" rtlCol="0" anchor="ctr"/>
          <a:lstStyle/>
          <a:p>
            <a:pPr indent="0" marL="0">
              <a:buNone/>
            </a:pPr>
            <a:endParaRPr lang="en-US" dirty="0"/>
          </a:p>
        </p:txBody>
      </p:sp>
      <p:sp>
        <p:nvSpPr>
          <p:cNvPr id="29" name="Text 22"/>
          <p:cNvSpPr/>
          <p:nvPr/>
        </p:nvSpPr>
        <p:spPr>
          <a:xfrm>
            <a:off x="5186921" y="3622104"/>
            <a:ext cx="955588" cy="139654"/>
          </a:xfrm>
          <a:prstGeom prst="rect">
            <a:avLst/>
          </a:prstGeom>
          <a:noFill/>
          <a:ln/>
        </p:spPr>
        <p:txBody>
          <a:bodyPr wrap="none" lIns="0" tIns="0" rIns="0" bIns="0" rtlCol="0" anchor="t"/>
          <a:lstStyle/>
          <a:p>
            <a:pPr algn="ctr" indent="0" marL="0">
              <a:lnSpc>
                <a:spcPts val="959"/>
              </a:lnSpc>
              <a:buNone/>
            </a:pPr>
            <a:r>
              <a:rPr lang="en-US" sz="619" spc="87" kern="0" dirty="0">
                <a:solidFill>
                  <a:srgbClr val="0E7490"/>
                </a:solidFill>
                <a:latin typeface="Liberation Sans Narrow" pitchFamily="34" charset="0"/>
                <a:ea typeface="Liberation Sans Narrow" pitchFamily="34" charset="-122"/>
                <a:cs typeface="Liberation Sans Narrow" pitchFamily="34" charset="-120"/>
              </a:rPr>
              <a:t>26/26 TESTS PASSING</a:t>
            </a:r>
            <a:endParaRPr lang="en-US" sz="619" dirty="0"/>
          </a:p>
        </p:txBody>
      </p:sp>
      <p:sp>
        <p:nvSpPr>
          <p:cNvPr id="30" name="Text 23"/>
          <p:cNvSpPr/>
          <p:nvPr/>
        </p:nvSpPr>
        <p:spPr>
          <a:xfrm>
            <a:off x="5044046" y="3625788"/>
            <a:ext cx="100013" cy="100013"/>
          </a:xfrm>
          <a:prstGeom prst="rect">
            <a:avLst/>
          </a:prstGeom>
          <a:noFill/>
          <a:ln/>
        </p:spPr>
        <p:txBody>
          <a:bodyPr wrap="none" lIns="0" tIns="0" rIns="0" bIns="0" rtlCol="0" anchor="ctr"/>
          <a:lstStyle/>
          <a:p>
            <a:pPr algn="ctr" indent="0" marL="0">
              <a:buNone/>
            </a:pPr>
            <a:r>
              <a:rPr lang="en-US" sz="984" dirty="0">
                <a:solidFill>
                  <a:srgbClr val="0E7490"/>
                </a:solidFill>
                <a:latin typeface="Segoe UI Symbol" pitchFamily="34" charset="0"/>
                <a:ea typeface="Segoe UI Symbol" pitchFamily="34" charset="-122"/>
                <a:cs typeface="Segoe UI Symbol" pitchFamily="34" charset="-120"/>
              </a:rPr>
              <a:t>✓</a:t>
            </a:r>
            <a:endParaRPr lang="en-US" sz="984"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2026-09-10T07:30:50Z</dcterms:created>
  <dcterms:modified xsi:type="dcterms:W3CDTF">2026-09-10T07:30:50Z</dcterms:modified>
</cp:coreProperties>
</file>