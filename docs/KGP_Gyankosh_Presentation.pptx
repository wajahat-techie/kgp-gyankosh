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faculty. Today I am presenting my capstone project: 'KGP Gyankosh: Enterprise Knowledge Assistant with Advanced RAG'. This project is a production-grade administrative intelligence platform designed specifically for Kashmir Government Polytechnic College, Srinagar. It is built as a flexible hybrid system—deployed live online on the cloud for general access, while also offering a completely offline local option for institutional privacy.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administrative context: KGP Srinagar operates across eight engineering disciplines. Every semester, the college administration handles thousands of regulatory circulars, government sanction orders, and examination notifications from the Board of Technical Education. Because these records are distributed across multiple desks and physical registers, simple rule verification can tie up administrative staff for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 was to develop an enterprise-ready system called KGP Gyankosh. It solves the search problem through a two-stage RAG pipeline combining BM25 and FAISS. It provides dual deployment—running live online via Streamlit Cloud and Google Gemini, while also running locally offline on campus via Ollama and Llama 3.1. Most importantly, it enforces strict grounding with page-level citations to eliminate AI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cleanly divided into two stages. Stage 1 runs in the background: it reads documents, performs OCR on scanned pages, chunks them, and builds two persistent stores: FAISS for vector search and BM25 for keyword search. Stage 2 is the user-facing application: it handles authentication, conversational memory, hybrid search, reranking, and passes the best context chunks to either an online cloud model or a local offline LLM.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dataset, we indexed 1,158 real administrative documents from the college, yielding 8,166 searchable semantic clauses. Our ingestion pipeline handles native PDFs, Word documents, and scanned circulars. We built an automated OCR detection mechanism with persistent disk caching and an MD5 manifest so the system only re-indexes newly added or modified documents without re-running the entire dataset.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chunking parameters were deliberately tuned for government circulars. Administrative rules are compact—one short paragraph often sets eligibility or deadlines. By choosing 500-character chunks with a 100-character overlap, each rule remains complete and focused. Furthermore, we attach the source filename and page number to every chunk so the user can always verify the original document.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engineering decision was to avoid relying solely on vector embeddings. Government orders frequently contain exact reference numbers like 'Order 15-KGP of 2026'. Embeddings often blur these alphanumeric codes. By combining a BM25 keyword index with a FAISS vector index, we capture both semantic intent and exact administrative reference codes.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both search engines produce results, we merge them using Reciprocal Rank Fusion. Then, to ensure high precision, we pass these candidates through a Cross-Encoder reranker. Unlike standard vector embeddings, the Cross-Encoder analyzes the query and the document clause together using full self-attention. This weeds out superficial matches and leaves only the top 6 most accurate clauses for the LLM.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real administrative work, staff ask follow-up questions. If someone asks 'Who is the HOD?' and then asks 'When was he appointed?', standard RAG fails because it searches for the pronoun 'he'. Our system preserves recent conversation context and uses a query reformulation step to rewrite the question into a complete, standalone query before performing search.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administrative governance, an incorrect answer can lead to legal or regulatory issues. We implemented a strict zero-hallucination constraint. The model is explicitly forbidden from guessing. If a rule does not exist in our indexed documents, it states so openly. When an answer is found, it cites the exact document and page number, and provides a direct download link for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the tool practical for day-to-day work, we built two operational modes accessible from the sidebar. Mode 1 is 'College Records', which is our strict RAG pipeline for answering questions from official files. Mode 2 is 'General AI Assistant', which bypasses retrieval to help administrative clerks draft circulars, meeting minutes, and official correspondence.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our model layer so the institution is never locked into a single provider. The administrator can switch backends directly from the user interface. For fast, everyday online use, staff can select Google Gemini or GPT-4o-mini. For confidential tasks or during internet outages, staff can select local Llama 3.1 via Ollama, which runs 100% offline on college hardware at zero cost.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Administrative security is built-in from the ground up. We implemented salted bcrypt password hashing and established four institutional roles: the Principal with administrative oversight, the Academic section, the Examination wing, and Department Heads. This ensures that sensitive documents are protected behind authenticated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building a standard prototype, we created a custom dark glassmorphic user interface tailored to the institution. It includes the official college branding, a live metric badge displaying the document count, and quick-action suggestion chips for common administrative inquiries. Answers are displayed as structured cards with direct document download buttons.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guarantee system stability, we built a comprehensive automated test suite. We wrote 26 unit and integration tests covering chunking logic, embedding dimensions, memory windowing, and retrieval fusion. All 26 tests pass consistently. We also developed a command-line test harness so administrators can benchmark retrieval accuracy directly from the terminal.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demonstrate production readiness, KGP Gyankosh is deployed live on Streamlit Cloud at kgp-gyankosh.streamlit.app. We implemented several key optimizations: we pinned PyTorch to CPU wheels, reducing package size from 3GB to 180MB to prevent memory crashes. We also pre-built the search indexes and added a GitHub Actions keepalive workflow that pings the application to keep it live 24/7.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five verified use cases tested on the live platform. For attendance queries, it retrieves the Board regulation allowing up to 10% condonation. For staff allowances, it pulls the exact monthly rupee rate for Child Education Allowance. In drafting mode, it produces a complete, formatted administrative circular ready for printing and dispatch.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development, we resolved three main technical hurdles. First, scanned orders with physical stamps produced noisy text, which we solved using text-density filters and caching. Second, administrative queries often use colloquial words while circulars use formal bureaucratic terms; our hybrid retrieval bridged this gap. Third, we optimized memory consumption to ensure smooth operation on cloud hosting without crashes.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KGP Gyankosh demonstrates how Modern Generative AI and Advanced RAG can solve real document discovery challenges in public education administration. By offering both online cloud convenience and local offline privacy, the institution is never locked into a single infrastructure. The system is live today at kgp-gyankosh.streamlit.app. Thank you for your time, and I am now ready for your questions.</a:t>
            </a:r>
          </a:p>
          <a:p>
            <a:r>
              <a:t>Quick Copy-Paste Instructions for PowerPoint:</a:t>
            </a:r>
          </a:p>
          <a:p>
            <a:r>
              <a:t>In PowerPoint, create a new presentation with 20 blank slides.</a:t>
            </a:r>
          </a:p>
          <a:p>
            <a:r>
              <a:t>For each slide:</a:t>
            </a:r>
          </a:p>
          <a:p>
            <a:r>
              <a:t>Copy [TITLE] into the top Title box.</a:t>
            </a:r>
          </a:p>
          <a:p>
            <a:r>
              <a:t>Copy [SLIDE BODY] into the main content box.</a:t>
            </a:r>
          </a:p>
          <a:p>
            <a:r>
              <a:t>Copy [SPEAKER NOTES] into the bottom Notes pane (press Ctrl + Shift + H or click "Notes" at the bottom of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KGP Gyankosh: Enterprise Knowledge Assistant with Advanced RAG</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A Hybrid (Online Cloud &amp; Offline Local) Administrative Intelligence Platform</a:t>
            </a:r>
          </a:p>
          <a:p>
            <a:pPr>
              <a:spcAft>
                <a:spcPts val="600"/>
              </a:spcAft>
              <a:defRPr sz="1600">
                <a:solidFill>
                  <a:srgbClr val="E2E8F0"/>
                </a:solidFill>
                <a:latin typeface="Arial"/>
              </a:defRPr>
            </a:pPr>
            <a:r>
              <a:t>Developed for Kashmir Government Polytechnic (KGP) College, Srinagar</a:t>
            </a:r>
          </a:p>
          <a:p>
            <a:pPr>
              <a:spcAft>
                <a:spcPts val="600"/>
              </a:spcAft>
              <a:defRPr sz="1600">
                <a:solidFill>
                  <a:srgbClr val="E2E8F0"/>
                </a:solidFill>
                <a:latin typeface="Arial"/>
              </a:defRPr>
            </a:pPr>
            <a:r>
              <a:t>Capstone Project Evaluation — Generative AI &amp; Agentic AI</a:t>
            </a:r>
          </a:p>
          <a:p>
            <a:pPr>
              <a:spcAft>
                <a:spcPts val="600"/>
              </a:spcAft>
              <a:defRPr sz="1600">
                <a:solidFill>
                  <a:srgbClr val="E2E8F0"/>
                </a:solidFill>
                <a:latin typeface="Arial"/>
              </a:defRPr>
            </a:pPr>
            <a:r>
              <a:t>Student Name: [Your Name]</a:t>
            </a:r>
          </a:p>
          <a:p>
            <a:pPr>
              <a:spcAft>
                <a:spcPts val="600"/>
              </a:spcAft>
              <a:defRPr sz="1600">
                <a:solidFill>
                  <a:srgbClr val="E2E8F0"/>
                </a:solidFill>
                <a:latin typeface="Arial"/>
              </a:defRPr>
            </a:pPr>
            <a:r>
              <a:t>Roll / Enrollment No.: [Your Roll Number]</a:t>
            </a:r>
          </a:p>
          <a:p>
            <a:pPr>
              <a:spcAft>
                <a:spcPts val="600"/>
              </a:spcAft>
              <a:defRPr sz="1600">
                <a:solidFill>
                  <a:srgbClr val="E2E8F0"/>
                </a:solidFill>
                <a:latin typeface="Arial"/>
              </a:defRPr>
            </a:pPr>
            <a:r>
              <a:t>Institution / Department: Kashmir Government Polytechnic College</a:t>
            </a:r>
          </a:p>
          <a:p>
            <a:pPr>
              <a:spcAft>
                <a:spcPts val="600"/>
              </a:spcAft>
              <a:defRPr sz="1600">
                <a:solidFill>
                  <a:srgbClr val="E2E8F0"/>
                </a:solidFill>
                <a:latin typeface="Arial"/>
              </a:defRPr>
            </a:pPr>
            <a:r>
              <a:t>Project Guide / Evaluator: [Guide / Faculty Name]</a:t>
            </a:r>
          </a:p>
          <a:p>
            <a:pPr>
              <a:spcAft>
                <a:spcPts val="600"/>
              </a:spcAft>
              <a:defRPr sz="1600">
                <a:solidFill>
                  <a:srgbClr val="E2E8F0"/>
                </a:solidFill>
                <a:latin typeface="Arial"/>
              </a:defRPr>
            </a:pPr>
            <a:r>
              <a:t>Live System: https://kgp-gyankosh.streamlit.app/</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Place the J&amp;K Government insignia / College crest on the top right, with two visual badges: "🌐 Live Cloud Hosted" and "💻 Local Intranet 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Institutional Background &amp; Administrative Context</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Institution Profile:</a:t>
            </a:r>
          </a:p>
          <a:p>
            <a:pPr>
              <a:spcAft>
                <a:spcPts val="600"/>
              </a:spcAft>
              <a:defRPr sz="1600">
                <a:solidFill>
                  <a:srgbClr val="E2E8F0"/>
                </a:solidFill>
                <a:latin typeface="Arial"/>
              </a:defRPr>
            </a:pPr>
            <a:r>
              <a:t>Kashmir Government Polytechnic (KGP) is a premier technical diploma institution in Srinagar.</a:t>
            </a:r>
          </a:p>
          <a:p>
            <a:pPr>
              <a:spcAft>
                <a:spcPts val="600"/>
              </a:spcAft>
              <a:defRPr sz="1600">
                <a:solidFill>
                  <a:srgbClr val="E2E8F0"/>
                </a:solidFill>
                <a:latin typeface="Arial"/>
              </a:defRPr>
            </a:pPr>
            <a:r>
              <a:t>Operates 8 core engineering disciplines (Civil, Mechanical, Electrical, Computer, Automobile, etc.).</a:t>
            </a:r>
          </a:p>
          <a:p>
            <a:pPr>
              <a:spcAft>
                <a:spcPts val="600"/>
              </a:spcAft>
              <a:defRPr sz="1600">
                <a:solidFill>
                  <a:srgbClr val="E2E8F0"/>
                </a:solidFill>
                <a:latin typeface="Arial"/>
              </a:defRPr>
            </a:pPr>
            <a:r>
              <a:t>Administrative Scope:</a:t>
            </a:r>
          </a:p>
          <a:p>
            <a:pPr>
              <a:spcAft>
                <a:spcPts val="600"/>
              </a:spcAft>
              <a:defRPr sz="1600">
                <a:solidFill>
                  <a:srgbClr val="E2E8F0"/>
                </a:solidFill>
                <a:latin typeface="Arial"/>
              </a:defRPr>
            </a:pPr>
            <a:r>
              <a:t>Manages high-volume student enrollments, faculty service records, and academic schedules.</a:t>
            </a:r>
          </a:p>
          <a:p>
            <a:pPr>
              <a:spcAft>
                <a:spcPts val="600"/>
              </a:spcAft>
              <a:defRPr sz="1600">
                <a:solidFill>
                  <a:srgbClr val="E2E8F0"/>
                </a:solidFill>
                <a:latin typeface="Arial"/>
              </a:defRPr>
            </a:pPr>
            <a:r>
              <a:t>Governed by J&amp;K Civil Services Rules (1979) and J&amp;K Board of Technical Education (BOTE) directives.</a:t>
            </a:r>
          </a:p>
          <a:p>
            <a:pPr>
              <a:spcAft>
                <a:spcPts val="600"/>
              </a:spcAft>
              <a:defRPr sz="1600">
                <a:solidFill>
                  <a:srgbClr val="E2E8F0"/>
                </a:solidFill>
                <a:latin typeface="Arial"/>
              </a:defRPr>
            </a:pPr>
            <a:r>
              <a:t>The Record Lifecycle:</a:t>
            </a:r>
          </a:p>
          <a:p>
            <a:pPr>
              <a:spcAft>
                <a:spcPts val="600"/>
              </a:spcAft>
              <a:defRPr sz="1600">
                <a:solidFill>
                  <a:srgbClr val="E2E8F0"/>
                </a:solidFill>
                <a:latin typeface="Arial"/>
              </a:defRPr>
            </a:pPr>
            <a:r>
              <a:t>Generates thousands of official notices, examination date sheets, financial sanction orders, and leave approvals every academic session.</a:t>
            </a:r>
          </a:p>
          <a:p>
            <a:pPr>
              <a:spcAft>
                <a:spcPts val="600"/>
              </a:spcAft>
              <a:defRPr sz="1600">
                <a:solidFill>
                  <a:srgbClr val="E2E8F0"/>
                </a:solidFill>
                <a:latin typeface="Arial"/>
              </a:defRPr>
            </a:pPr>
            <a:r>
              <a:t>Documents are historically stored in scattered physical dispatch binders and distributed departmental drives.</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Use a 3-column layout: Column 1 = Academic Scale; Column 2 = Regulatory Bodies (BOTE / J&amp;K CSR); Column 3 = Document Volume.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The Core Problem: Search Bottlenecks &amp; The Cloud Dilemma</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The Search Failure:</a:t>
            </a:r>
          </a:p>
          <a:p>
            <a:pPr>
              <a:spcAft>
                <a:spcPts val="600"/>
              </a:spcAft>
              <a:defRPr sz="1600">
                <a:solidFill>
                  <a:srgbClr val="E2E8F0"/>
                </a:solidFill>
                <a:latin typeface="Arial"/>
              </a:defRPr>
            </a:pPr>
            <a:r>
              <a:t>Many government circulars are physical scans with no selectable text layer; standard desktop search fails completely.</a:t>
            </a:r>
          </a:p>
          <a:p>
            <a:pPr>
              <a:spcAft>
                <a:spcPts val="600"/>
              </a:spcAft>
              <a:defRPr sz="1600">
                <a:solidFill>
                  <a:srgbClr val="E2E8F0"/>
                </a:solidFill>
                <a:latin typeface="Arial"/>
              </a:defRPr>
            </a:pPr>
            <a:r>
              <a:t>Keyword search fails on administrative jargon (e.g., searching for "tuition fee waiver" misses "Child Education Allowance" or "EWS concession").</a:t>
            </a:r>
          </a:p>
          <a:p>
            <a:pPr>
              <a:spcAft>
                <a:spcPts val="600"/>
              </a:spcAft>
              <a:defRPr sz="1600">
                <a:solidFill>
                  <a:srgbClr val="E2E8F0"/>
                </a:solidFill>
                <a:latin typeface="Arial"/>
              </a:defRPr>
            </a:pPr>
            <a:r>
              <a:t>The Cloud vs. Local Dilemma:</a:t>
            </a:r>
          </a:p>
          <a:p>
            <a:pPr>
              <a:spcAft>
                <a:spcPts val="600"/>
              </a:spcAft>
              <a:defRPr sz="1600">
                <a:solidFill>
                  <a:srgbClr val="E2E8F0"/>
                </a:solidFill>
                <a:latin typeface="Arial"/>
              </a:defRPr>
            </a:pPr>
            <a:r>
              <a:t>Cloud-Only Platforms: Highly accessible, but pose data confidentiality risks for sensitive faculty records and incur recurring API costs.</a:t>
            </a:r>
          </a:p>
          <a:p>
            <a:pPr>
              <a:spcAft>
                <a:spcPts val="600"/>
              </a:spcAft>
              <a:defRPr sz="1600">
                <a:solidFill>
                  <a:srgbClr val="E2E8F0"/>
                </a:solidFill>
                <a:latin typeface="Arial"/>
              </a:defRPr>
            </a:pPr>
            <a:r>
              <a:t>Offline-Only Platforms: Completely private, but cannot be accessed remotely by administrative officers working off-campus.</a:t>
            </a:r>
          </a:p>
          <a:p>
            <a:pPr>
              <a:spcAft>
                <a:spcPts val="600"/>
              </a:spcAft>
              <a:defRPr sz="1600">
                <a:solidFill>
                  <a:srgbClr val="E2E8F0"/>
                </a:solidFill>
                <a:latin typeface="Arial"/>
              </a:defRPr>
            </a:pPr>
            <a:r>
              <a:t>The Required Solution:</a:t>
            </a:r>
          </a:p>
          <a:p>
            <a:pPr>
              <a:spcAft>
                <a:spcPts val="600"/>
              </a:spcAft>
              <a:defRPr sz="1600">
                <a:solidFill>
                  <a:srgbClr val="E2E8F0"/>
                </a:solidFill>
                <a:latin typeface="Arial"/>
              </a:defRPr>
            </a:pPr>
            <a:r>
              <a:t>A hybrid platform that offers online convenience for everyday staff, alongside an offline on-premise mode for confidential local records.</a:t>
            </a:r>
          </a:p>
          <a:p>
            <a:pPr>
              <a:spcAft>
                <a:spcPts val="600"/>
              </a:spcAft>
              <a:defRPr sz="1600">
                <a:solidFill>
                  <a:srgbClr val="E2E8F0"/>
                </a:solidFill>
                <a:latin typeface="Arial"/>
              </a:defRPr>
            </a:pPr>
            <a:r>
              <a:t>When staff try to search records today, two major problems occur. First, many orders are physically stamped and scanned with no digital text, making Windows search useless. Second, there is a fundamental conflict between cloud accessibility and privacy. A pure cloud tool risks leaking confidential personnel files, while a pure offline tool cannot be accessed outside the campus LAN. We needed a hybrid system that offers both.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Project Objectives &amp; System Scope</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1. Comprehensive Document Ingestion:</a:t>
            </a:r>
          </a:p>
          <a:p>
            <a:pPr>
              <a:spcAft>
                <a:spcPts val="600"/>
              </a:spcAft>
              <a:defRPr sz="1600">
                <a:solidFill>
                  <a:srgbClr val="E2E8F0"/>
                </a:solidFill>
                <a:latin typeface="Arial"/>
              </a:defRPr>
            </a:pPr>
            <a:r>
              <a:t>Automatically parse, OCR, and index official institutional records across PDF, DOCX, and scanned formats.</a:t>
            </a:r>
          </a:p>
          <a:p>
            <a:pPr>
              <a:spcAft>
                <a:spcPts val="600"/>
              </a:spcAft>
              <a:defRPr sz="1600">
                <a:solidFill>
                  <a:srgbClr val="E2E8F0"/>
                </a:solidFill>
                <a:latin typeface="Arial"/>
              </a:defRPr>
            </a:pPr>
            <a:r>
              <a:t>2. Advanced Two-Stage RAG Pipeline:</a:t>
            </a:r>
          </a:p>
          <a:p>
            <a:pPr>
              <a:spcAft>
                <a:spcPts val="600"/>
              </a:spcAft>
              <a:defRPr sz="1600">
                <a:solidFill>
                  <a:srgbClr val="E2E8F0"/>
                </a:solidFill>
                <a:latin typeface="Arial"/>
              </a:defRPr>
            </a:pPr>
            <a:r>
              <a:t>Combine lexical keyword search (BM25) with dense semantic search (FAISS) and Cross-Encoder reranking.</a:t>
            </a:r>
          </a:p>
          <a:p>
            <a:pPr>
              <a:spcAft>
                <a:spcPts val="600"/>
              </a:spcAft>
              <a:defRPr sz="1600">
                <a:solidFill>
                  <a:srgbClr val="E2E8F0"/>
                </a:solidFill>
                <a:latin typeface="Arial"/>
              </a:defRPr>
            </a:pPr>
            <a:r>
              <a:t>3. Dual Deployment Flexibility:</a:t>
            </a:r>
          </a:p>
          <a:p>
            <a:pPr>
              <a:spcAft>
                <a:spcPts val="600"/>
              </a:spcAft>
              <a:defRPr sz="1600">
                <a:solidFill>
                  <a:srgbClr val="E2E8F0"/>
                </a:solidFill>
                <a:latin typeface="Arial"/>
              </a:defRPr>
            </a:pPr>
            <a:r>
              <a:t>Online Cloud: Hosted live on Streamlit Cloud using Google Gemini and OpenAI for fast reasoning.</a:t>
            </a:r>
          </a:p>
          <a:p>
            <a:pPr>
              <a:spcAft>
                <a:spcPts val="600"/>
              </a:spcAft>
              <a:defRPr sz="1600">
                <a:solidFill>
                  <a:srgbClr val="E2E8F0"/>
                </a:solidFill>
                <a:latin typeface="Arial"/>
              </a:defRPr>
            </a:pPr>
            <a:r>
              <a:t>Offline Local: Self-hosted via Ollama (Llama 3.1 8B) for zero cloud cost and 100% data sovereignty.</a:t>
            </a:r>
          </a:p>
          <a:p>
            <a:pPr>
              <a:spcAft>
                <a:spcPts val="600"/>
              </a:spcAft>
              <a:defRPr sz="1600">
                <a:solidFill>
                  <a:srgbClr val="E2E8F0"/>
                </a:solidFill>
                <a:latin typeface="Arial"/>
              </a:defRPr>
            </a:pPr>
            <a:r>
              <a:t>4. Strict Grounding &amp; Anti-Hallucination:</a:t>
            </a:r>
          </a:p>
          <a:p>
            <a:pPr>
              <a:spcAft>
                <a:spcPts val="600"/>
              </a:spcAft>
              <a:defRPr sz="1600">
                <a:solidFill>
                  <a:srgbClr val="E2E8F0"/>
                </a:solidFill>
                <a:latin typeface="Arial"/>
              </a:defRPr>
            </a:pPr>
            <a:r>
              <a:t>Zero tolerance for made-up rules; every response must cite the verified document name and page number.</a:t>
            </a:r>
          </a:p>
          <a:p>
            <a:pPr>
              <a:spcAft>
                <a:spcPts val="600"/>
              </a:spcAft>
              <a:defRPr sz="1600">
                <a:solidFill>
                  <a:srgbClr val="E2E8F0"/>
                </a:solidFill>
                <a:latin typeface="Arial"/>
              </a:defRPr>
            </a:pPr>
            <a:r>
              <a:t>5. Role-Based Administrative Security:</a:t>
            </a:r>
          </a:p>
          <a:p>
            <a:pPr>
              <a:spcAft>
                <a:spcPts val="600"/>
              </a:spcAft>
              <a:defRPr sz="1600">
                <a:solidFill>
                  <a:srgbClr val="E2E8F0"/>
                </a:solidFill>
                <a:latin typeface="Arial"/>
              </a:defRPr>
            </a:pPr>
            <a:r>
              <a:t>Secure bcrypt-authenticated login portals tailored for distinct administrative roles.</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Display 5 numbered horizontal cards highlighting "Ingest", "Hybrid Search", "Dual Deployment", "Zero Hallucination", and "Role-Based Auth".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System Architecture: Two-Stage Hybrid Pipeline</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Stage 1: Offline Ingestion &amp; Indexing Engine</a:t>
            </a:r>
          </a:p>
          <a:p>
            <a:pPr>
              <a:spcAft>
                <a:spcPts val="600"/>
              </a:spcAft>
              <a:defRPr sz="1600">
                <a:solidFill>
                  <a:srgbClr val="E2E8F0"/>
                </a:solidFill>
                <a:latin typeface="Arial"/>
              </a:defRPr>
            </a:pPr>
            <a:r>
              <a:t>Ingests circulars (PDFs, DOCX, scanned notices).</a:t>
            </a:r>
          </a:p>
          <a:p>
            <a:pPr>
              <a:spcAft>
                <a:spcPts val="600"/>
              </a:spcAft>
              <a:defRPr sz="1600">
                <a:solidFill>
                  <a:srgbClr val="E2E8F0"/>
                </a:solidFill>
                <a:latin typeface="Arial"/>
              </a:defRPr>
            </a:pPr>
            <a:r>
              <a:t>Auto-detects scanned pages and runs OCR with persistent disk caching.</a:t>
            </a:r>
          </a:p>
          <a:p>
            <a:pPr>
              <a:spcAft>
                <a:spcPts val="600"/>
              </a:spcAft>
              <a:defRPr sz="1600">
                <a:solidFill>
                  <a:srgbClr val="E2E8F0"/>
                </a:solidFill>
                <a:latin typeface="Arial"/>
              </a:defRPr>
            </a:pPr>
            <a:r>
              <a:t>Splits content into 500-character clauses with 100-character overlap.</a:t>
            </a:r>
          </a:p>
          <a:p>
            <a:pPr>
              <a:spcAft>
                <a:spcPts val="600"/>
              </a:spcAft>
              <a:defRPr sz="1600">
                <a:solidFill>
                  <a:srgbClr val="E2E8F0"/>
                </a:solidFill>
                <a:latin typeface="Arial"/>
              </a:defRPr>
            </a:pPr>
            <a:r>
              <a:t>Generates synchronized FAISS vector index and BM25 sparse keyword index.</a:t>
            </a:r>
          </a:p>
          <a:p>
            <a:pPr>
              <a:spcAft>
                <a:spcPts val="600"/>
              </a:spcAft>
              <a:defRPr sz="1600">
                <a:solidFill>
                  <a:srgbClr val="E2E8F0"/>
                </a:solidFill>
                <a:latin typeface="Arial"/>
              </a:defRPr>
            </a:pPr>
            <a:r>
              <a:t>Stage 2: Online Retrieval &amp; Interactive Generation</a:t>
            </a:r>
          </a:p>
          <a:p>
            <a:pPr>
              <a:spcAft>
                <a:spcPts val="600"/>
              </a:spcAft>
              <a:defRPr sz="1600">
                <a:solidFill>
                  <a:srgbClr val="E2E8F0"/>
                </a:solidFill>
                <a:latin typeface="Arial"/>
              </a:defRPr>
            </a:pPr>
            <a:r>
              <a:t>Authenticates users via bcrypt role-based access control.</a:t>
            </a:r>
          </a:p>
          <a:p>
            <a:pPr>
              <a:spcAft>
                <a:spcPts val="600"/>
              </a:spcAft>
              <a:defRPr sz="1600">
                <a:solidFill>
                  <a:srgbClr val="E2E8F0"/>
                </a:solidFill>
                <a:latin typeface="Arial"/>
              </a:defRPr>
            </a:pPr>
            <a:r>
              <a:t>Conversational memory reformulates follow-up queries into standalone search strings.</a:t>
            </a:r>
          </a:p>
          <a:p>
            <a:pPr>
              <a:spcAft>
                <a:spcPts val="600"/>
              </a:spcAft>
              <a:defRPr sz="1600">
                <a:solidFill>
                  <a:srgbClr val="E2E8F0"/>
                </a:solidFill>
                <a:latin typeface="Arial"/>
              </a:defRPr>
            </a:pPr>
            <a:r>
              <a:t>Hybrid search merges BM25 and FAISS candidates via Reciprocal Rank Fusion (RRF).</a:t>
            </a:r>
          </a:p>
          <a:p>
            <a:pPr>
              <a:spcAft>
                <a:spcPts val="600"/>
              </a:spcAft>
              <a:defRPr sz="1600">
                <a:solidFill>
                  <a:srgbClr val="E2E8F0"/>
                </a:solidFill>
                <a:latin typeface="Arial"/>
              </a:defRPr>
            </a:pPr>
            <a:r>
              <a:t>Cross-Encoder reranks candidate clauses to select the top 6 most relevant excerpts.</a:t>
            </a:r>
          </a:p>
          <a:p>
            <a:pPr>
              <a:spcAft>
                <a:spcPts val="600"/>
              </a:spcAft>
              <a:defRPr sz="1600">
                <a:solidFill>
                  <a:srgbClr val="E2E8F0"/>
                </a:solidFill>
                <a:latin typeface="Arial"/>
              </a:defRPr>
            </a:pPr>
            <a:r>
              <a:t>Routes context to either Online Cloud LLMs (Gemini / GPT) or Offline Local LLM (Llama 3.1).</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 clean block diagram: Left box = Stage 1 (Ingestion &amp; Stores); Right box = Stage 2 (Query Pipeline branching to Online Cloud or Offline Local LLM).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Dataset Scale &amp; Document Ingestion Pipeline</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Live Institutional Dataset:</a:t>
            </a:r>
          </a:p>
          <a:p>
            <a:pPr>
              <a:spcAft>
                <a:spcPts val="600"/>
              </a:spcAft>
              <a:defRPr sz="1600">
                <a:solidFill>
                  <a:srgbClr val="E2E8F0"/>
                </a:solidFill>
                <a:latin typeface="Arial"/>
              </a:defRPr>
            </a:pPr>
            <a:r>
              <a:t>1,158 Official College Administrative Documents ingested.</a:t>
            </a:r>
          </a:p>
          <a:p>
            <a:pPr>
              <a:spcAft>
                <a:spcPts val="600"/>
              </a:spcAft>
              <a:defRPr sz="1600">
                <a:solidFill>
                  <a:srgbClr val="E2E8F0"/>
                </a:solidFill>
                <a:latin typeface="Arial"/>
              </a:defRPr>
            </a:pPr>
            <a:r>
              <a:t>8,166 Searchable Semantic Clauses indexed and searchable in real time.</a:t>
            </a:r>
          </a:p>
          <a:p>
            <a:pPr>
              <a:spcAft>
                <a:spcPts val="600"/>
              </a:spcAft>
              <a:defRPr sz="1600">
                <a:solidFill>
                  <a:srgbClr val="E2E8F0"/>
                </a:solidFill>
                <a:latin typeface="Arial"/>
              </a:defRPr>
            </a:pPr>
            <a:r>
              <a:t>Multi-Format Parsing Architecture:</a:t>
            </a:r>
          </a:p>
          <a:p>
            <a:pPr>
              <a:spcAft>
                <a:spcPts val="600"/>
              </a:spcAft>
              <a:defRPr sz="1600">
                <a:solidFill>
                  <a:srgbClr val="E2E8F0"/>
                </a:solidFill>
                <a:latin typeface="Arial"/>
              </a:defRPr>
            </a:pPr>
            <a:r>
              <a:t>Native digital PDFs parsed via pdfplumber and pypdf.</a:t>
            </a:r>
          </a:p>
          <a:p>
            <a:pPr>
              <a:spcAft>
                <a:spcPts val="600"/>
              </a:spcAft>
              <a:defRPr sz="1600">
                <a:solidFill>
                  <a:srgbClr val="E2E8F0"/>
                </a:solidFill>
                <a:latin typeface="Arial"/>
              </a:defRPr>
            </a:pPr>
            <a:r>
              <a:t>Administrative memos and typed notes parsed via python-docx.</a:t>
            </a:r>
          </a:p>
          <a:p>
            <a:pPr>
              <a:spcAft>
                <a:spcPts val="600"/>
              </a:spcAft>
              <a:defRPr sz="1600">
                <a:solidFill>
                  <a:srgbClr val="E2E8F0"/>
                </a:solidFill>
                <a:latin typeface="Arial"/>
              </a:defRPr>
            </a:pPr>
            <a:r>
              <a:t>Integrated Optical Character Recognition (OCR):</a:t>
            </a:r>
          </a:p>
          <a:p>
            <a:pPr>
              <a:spcAft>
                <a:spcPts val="600"/>
              </a:spcAft>
              <a:defRPr sz="1600">
                <a:solidFill>
                  <a:srgbClr val="E2E8F0"/>
                </a:solidFill>
                <a:latin typeface="Arial"/>
              </a:defRPr>
            </a:pPr>
            <a:r>
              <a:t>Automatic text-density checks identify scanned pages containing zero digital text.</a:t>
            </a:r>
          </a:p>
          <a:p>
            <a:pPr>
              <a:spcAft>
                <a:spcPts val="600"/>
              </a:spcAft>
              <a:defRPr sz="1600">
                <a:solidFill>
                  <a:srgbClr val="E2E8F0"/>
                </a:solidFill>
                <a:latin typeface="Arial"/>
              </a:defRPr>
            </a:pPr>
            <a:r>
              <a:t>Integrated OCR extracts readable text from scanned notices.</a:t>
            </a:r>
          </a:p>
          <a:p>
            <a:pPr>
              <a:spcAft>
                <a:spcPts val="600"/>
              </a:spcAft>
              <a:defRPr sz="1600">
                <a:solidFill>
                  <a:srgbClr val="E2E8F0"/>
                </a:solidFill>
                <a:latin typeface="Arial"/>
              </a:defRPr>
            </a:pPr>
            <a:r>
              <a:t>MD5 disk-based caching (output/ocr_cache/) prevents redundant re-OCR operations.</a:t>
            </a:r>
          </a:p>
          <a:p>
            <a:pPr>
              <a:spcAft>
                <a:spcPts val="600"/>
              </a:spcAft>
              <a:defRPr sz="1600">
                <a:solidFill>
                  <a:srgbClr val="E2E8F0"/>
                </a:solidFill>
                <a:latin typeface="Arial"/>
              </a:defRPr>
            </a:pPr>
            <a:r>
              <a:t>Incremental Delta Indexing:</a:t>
            </a:r>
          </a:p>
          <a:p>
            <a:pPr>
              <a:spcAft>
                <a:spcPts val="600"/>
              </a:spcAft>
              <a:defRPr sz="1600">
                <a:solidFill>
                  <a:srgbClr val="E2E8F0"/>
                </a:solidFill>
                <a:latin typeface="Arial"/>
              </a:defRPr>
            </a:pPr>
            <a:r>
              <a:t>Tracks document hashes in index_manifest.json; only new or edited circulars are indexed during updates.</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Add a prominent metric badge in the center: 1,158 Official Documents · 8,166 Clauses Indexed, with arrows showing PDF, DOCX, and Scans feeding into the OCR/Parser.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Semantic Chunking Strategy &amp; Metadata Architecture</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Chunking Configuration:</a:t>
            </a:r>
          </a:p>
          <a:p>
            <a:pPr>
              <a:spcAft>
                <a:spcPts val="600"/>
              </a:spcAft>
              <a:defRPr sz="1600">
                <a:solidFill>
                  <a:srgbClr val="E2E8F0"/>
                </a:solidFill>
                <a:latin typeface="Arial"/>
              </a:defRPr>
            </a:pPr>
            <a:r>
              <a:t>Splitter: RecursiveCharacterTextSplitter.</a:t>
            </a:r>
          </a:p>
          <a:p>
            <a:pPr>
              <a:spcAft>
                <a:spcPts val="600"/>
              </a:spcAft>
              <a:defRPr sz="1600">
                <a:solidFill>
                  <a:srgbClr val="E2E8F0"/>
                </a:solidFill>
                <a:latin typeface="Arial"/>
              </a:defRPr>
            </a:pPr>
            <a:r>
              <a:t>Chunk Size: 500 characters | Chunk Overlap: 100 characters.</a:t>
            </a:r>
          </a:p>
          <a:p>
            <a:pPr>
              <a:spcAft>
                <a:spcPts val="600"/>
              </a:spcAft>
              <a:defRPr sz="1600">
                <a:solidFill>
                  <a:srgbClr val="E2E8F0"/>
                </a:solidFill>
                <a:latin typeface="Arial"/>
              </a:defRPr>
            </a:pPr>
            <a:r>
              <a:t>Why 500 Characters?:</a:t>
            </a:r>
          </a:p>
          <a:p>
            <a:pPr>
              <a:spcAft>
                <a:spcPts val="600"/>
              </a:spcAft>
              <a:defRPr sz="1600">
                <a:solidFill>
                  <a:srgbClr val="E2E8F0"/>
                </a:solidFill>
                <a:latin typeface="Arial"/>
              </a:defRPr>
            </a:pPr>
            <a:r>
              <a:t>Government orders and circulars are written in tight, clause-specific paragraphs.</a:t>
            </a:r>
          </a:p>
          <a:p>
            <a:pPr>
              <a:spcAft>
                <a:spcPts val="600"/>
              </a:spcAft>
              <a:defRPr sz="1600">
                <a:solidFill>
                  <a:srgbClr val="E2E8F0"/>
                </a:solidFill>
                <a:latin typeface="Arial"/>
              </a:defRPr>
            </a:pPr>
            <a:r>
              <a:t>A 500-character boundary preserves individual rules (e.g., minimum attendance criteria) without diluting the semantic meaning across unrelated sections.</a:t>
            </a:r>
          </a:p>
          <a:p>
            <a:pPr>
              <a:spcAft>
                <a:spcPts val="600"/>
              </a:spcAft>
              <a:defRPr sz="1600">
                <a:solidFill>
                  <a:srgbClr val="E2E8F0"/>
                </a:solidFill>
                <a:latin typeface="Arial"/>
              </a:defRPr>
            </a:pPr>
            <a:r>
              <a:t>Attached Metadata Schema per Clause:</a:t>
            </a:r>
          </a:p>
          <a:p>
            <a:pPr>
              <a:spcAft>
                <a:spcPts val="600"/>
              </a:spcAft>
              <a:defRPr sz="1600">
                <a:solidFill>
                  <a:srgbClr val="E2E8F0"/>
                </a:solidFill>
                <a:latin typeface="Arial"/>
              </a:defRPr>
            </a:pPr>
            <a:r>
              <a:t>source: Original file name (e.g., BOTE_Admission_Rules_2026.pdf).</a:t>
            </a:r>
          </a:p>
          <a:p>
            <a:pPr>
              <a:spcAft>
                <a:spcPts val="600"/>
              </a:spcAft>
              <a:defRPr sz="1600">
                <a:solidFill>
                  <a:srgbClr val="E2E8F0"/>
                </a:solidFill>
                <a:latin typeface="Arial"/>
              </a:defRPr>
            </a:pPr>
            <a:r>
              <a:t>page: Exact physical page number for verifiable citations.</a:t>
            </a:r>
          </a:p>
          <a:p>
            <a:pPr>
              <a:spcAft>
                <a:spcPts val="600"/>
              </a:spcAft>
              <a:defRPr sz="1600">
                <a:solidFill>
                  <a:srgbClr val="E2E8F0"/>
                </a:solidFill>
                <a:latin typeface="Arial"/>
              </a:defRPr>
            </a:pPr>
            <a:r>
              <a:t>chunk_id: Unique deterministic hash for audit trails and verification.</a:t>
            </a:r>
          </a:p>
          <a:p>
            <a:pPr>
              <a:spcAft>
                <a:spcPts val="600"/>
              </a:spcAft>
              <a:defRPr sz="1600">
                <a:solidFill>
                  <a:srgbClr val="E2E8F0"/>
                </a:solidFill>
                <a:latin typeface="Arial"/>
              </a:defRPr>
            </a:pPr>
            <a:r>
              <a:t>file_type: Origin extension (.pdf, .docx, .scan).</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 diagram showing an administrative page split into 500-character blocks with 100-character overlaps, with a sample JSON metadata tag attached to each block.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Hybrid Search: Combining Keyword &amp; Semantic Strengths</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The Failure of Single-Method Search:</a:t>
            </a:r>
          </a:p>
          <a:p>
            <a:pPr>
              <a:spcAft>
                <a:spcPts val="600"/>
              </a:spcAft>
              <a:defRPr sz="1600">
                <a:solidFill>
                  <a:srgbClr val="E2E8F0"/>
                </a:solidFill>
                <a:latin typeface="Arial"/>
              </a:defRPr>
            </a:pPr>
            <a:r>
              <a:t>Vector Search alone: Struggles with exact administrative order numbers, notification codes, and dates.</a:t>
            </a:r>
          </a:p>
          <a:p>
            <a:pPr>
              <a:spcAft>
                <a:spcPts val="600"/>
              </a:spcAft>
              <a:defRPr sz="1600">
                <a:solidFill>
                  <a:srgbClr val="E2E8F0"/>
                </a:solidFill>
                <a:latin typeface="Arial"/>
              </a:defRPr>
            </a:pPr>
            <a:r>
              <a:t>BM25 Keyword Search alone: Completely misses questions phrased with synonyms or natural language.</a:t>
            </a:r>
          </a:p>
          <a:p>
            <a:pPr>
              <a:spcAft>
                <a:spcPts val="600"/>
              </a:spcAft>
              <a:defRPr sz="1600">
                <a:solidFill>
                  <a:srgbClr val="E2E8F0"/>
                </a:solidFill>
                <a:latin typeface="Arial"/>
              </a:defRPr>
            </a:pPr>
            <a:r>
              <a:t>1. Dense Vector Search (Semantic Understanding):</a:t>
            </a:r>
          </a:p>
          <a:p>
            <a:pPr>
              <a:spcAft>
                <a:spcPts val="600"/>
              </a:spcAft>
              <a:defRPr sz="1600">
                <a:solidFill>
                  <a:srgbClr val="E2E8F0"/>
                </a:solidFill>
                <a:latin typeface="Arial"/>
              </a:defRPr>
            </a:pPr>
            <a:r>
              <a:t>Model: all-MiniLM-L6-v2 (SentenceTransformers, 384 dimensions).</a:t>
            </a:r>
          </a:p>
          <a:p>
            <a:pPr>
              <a:spcAft>
                <a:spcPts val="600"/>
              </a:spcAft>
              <a:defRPr sz="1600">
                <a:solidFill>
                  <a:srgbClr val="E2E8F0"/>
                </a:solidFill>
                <a:latin typeface="Arial"/>
              </a:defRPr>
            </a:pPr>
            <a:r>
              <a:t>Storage: FAISS (Facebook AI Similarity Search) index.</a:t>
            </a:r>
          </a:p>
          <a:p>
            <a:pPr>
              <a:spcAft>
                <a:spcPts val="600"/>
              </a:spcAft>
              <a:defRPr sz="1600">
                <a:solidFill>
                  <a:srgbClr val="E2E8F0"/>
                </a:solidFill>
                <a:latin typeface="Arial"/>
              </a:defRPr>
            </a:pPr>
            <a:r>
              <a:t>Function: Captures intent, concepts, and synonyms (Retrieves Top 30 candidate clauses).</a:t>
            </a:r>
          </a:p>
          <a:p>
            <a:pPr>
              <a:spcAft>
                <a:spcPts val="600"/>
              </a:spcAft>
              <a:defRPr sz="1600">
                <a:solidFill>
                  <a:srgbClr val="E2E8F0"/>
                </a:solidFill>
                <a:latin typeface="Arial"/>
              </a:defRPr>
            </a:pPr>
            <a:r>
              <a:t>2. Sparse Keyword Search (Lexical Precision):</a:t>
            </a:r>
          </a:p>
          <a:p>
            <a:pPr>
              <a:spcAft>
                <a:spcPts val="600"/>
              </a:spcAft>
              <a:defRPr sz="1600">
                <a:solidFill>
                  <a:srgbClr val="E2E8F0"/>
                </a:solidFill>
                <a:latin typeface="Arial"/>
              </a:defRPr>
            </a:pPr>
            <a:r>
              <a:t>Algorithm: BM25 Okapi tokenized index.</a:t>
            </a:r>
          </a:p>
          <a:p>
            <a:pPr>
              <a:spcAft>
                <a:spcPts val="600"/>
              </a:spcAft>
              <a:defRPr sz="1600">
                <a:solidFill>
                  <a:srgbClr val="E2E8F0"/>
                </a:solidFill>
                <a:latin typeface="Arial"/>
              </a:defRPr>
            </a:pPr>
            <a:r>
              <a:t>Function: Matches exact order numbers (e.g., Order No: 15/KGP/2026), acronyms, and officer names (Retrieves Top 30 candidate clauses).</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Two parallel tracks: Top track = Dense Vector (FAISS); Bottom track = Sparse Keyword (BM25). Both run in parallel and produce 30 candidate chunks each.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Two-Stage Ranking: RRF &amp; Cross-Encoder Reranker</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Step 1: Reciprocal Rank Fusion (RRF):</a:t>
            </a:r>
          </a:p>
          <a:p>
            <a:pPr>
              <a:spcAft>
                <a:spcPts val="600"/>
              </a:spcAft>
              <a:defRPr sz="1600">
                <a:solidFill>
                  <a:srgbClr val="E2E8F0"/>
                </a:solidFill>
                <a:latin typeface="Arial"/>
              </a:defRPr>
            </a:pPr>
            <a:r>
              <a:t>Merges ranked lists from FAISS and BM25 without requiring score normalization.</a:t>
            </a:r>
          </a:p>
          <a:p>
            <a:pPr>
              <a:spcAft>
                <a:spcPts val="600"/>
              </a:spcAft>
              <a:defRPr sz="1600">
                <a:solidFill>
                  <a:srgbClr val="E2E8F0"/>
                </a:solidFill>
                <a:latin typeface="Arial"/>
              </a:defRPr>
            </a:pPr>
            <a:r>
              <a:t>Uses the standard formula: $RRF(d) = \sum \frac{1}{k + rank(d)}$ (with smoothing constant $k = 60$).</a:t>
            </a:r>
          </a:p>
          <a:p>
            <a:pPr>
              <a:spcAft>
                <a:spcPts val="600"/>
              </a:spcAft>
              <a:defRPr sz="1600">
                <a:solidFill>
                  <a:srgbClr val="E2E8F0"/>
                </a:solidFill>
                <a:latin typeface="Arial"/>
              </a:defRPr>
            </a:pPr>
            <a:r>
              <a:t>Produces an integrated pool of the top 30 most promising clauses.</a:t>
            </a:r>
          </a:p>
          <a:p>
            <a:pPr>
              <a:spcAft>
                <a:spcPts val="600"/>
              </a:spcAft>
              <a:defRPr sz="1600">
                <a:solidFill>
                  <a:srgbClr val="E2E8F0"/>
                </a:solidFill>
                <a:latin typeface="Arial"/>
              </a:defRPr>
            </a:pPr>
            <a:r>
              <a:t>Step 2: Deep Cross-Encoder Reranking:</a:t>
            </a:r>
          </a:p>
          <a:p>
            <a:pPr>
              <a:spcAft>
                <a:spcPts val="600"/>
              </a:spcAft>
              <a:defRPr sz="1600">
                <a:solidFill>
                  <a:srgbClr val="E2E8F0"/>
                </a:solidFill>
                <a:latin typeface="Arial"/>
              </a:defRPr>
            </a:pPr>
            <a:r>
              <a:t>Model: cross-encoder/ms-marco-MiniLM-L-6-v2.</a:t>
            </a:r>
          </a:p>
          <a:p>
            <a:pPr>
              <a:spcAft>
                <a:spcPts val="600"/>
              </a:spcAft>
              <a:defRPr sz="1600">
                <a:solidFill>
                  <a:srgbClr val="E2E8F0"/>
                </a:solidFill>
                <a:latin typeface="Arial"/>
              </a:defRPr>
            </a:pPr>
            <a:r>
              <a:t>Processes the query and candidate clause simultaneously using full cross-attention.</a:t>
            </a:r>
          </a:p>
          <a:p>
            <a:pPr>
              <a:spcAft>
                <a:spcPts val="600"/>
              </a:spcAft>
              <a:defRPr sz="1600">
                <a:solidFill>
                  <a:srgbClr val="E2E8F0"/>
                </a:solidFill>
                <a:latin typeface="Arial"/>
              </a:defRPr>
            </a:pPr>
            <a:r>
              <a:t>Accurately scores semantic relevance and eliminates false positives.</a:t>
            </a:r>
          </a:p>
          <a:p>
            <a:pPr>
              <a:spcAft>
                <a:spcPts val="600"/>
              </a:spcAft>
              <a:defRPr sz="1600">
                <a:solidFill>
                  <a:srgbClr val="E2E8F0"/>
                </a:solidFill>
                <a:latin typeface="Arial"/>
              </a:defRPr>
            </a:pPr>
            <a:r>
              <a:t>Final Delivery to LLM:</a:t>
            </a:r>
          </a:p>
          <a:p>
            <a:pPr>
              <a:spcAft>
                <a:spcPts val="600"/>
              </a:spcAft>
              <a:defRPr sz="1600">
                <a:solidFill>
                  <a:srgbClr val="E2E8F0"/>
                </a:solidFill>
                <a:latin typeface="Arial"/>
              </a:defRPr>
            </a:pPr>
            <a:r>
              <a:t>Filters 8,166 clauses down to the Top 6 highest-relevance excerpts for final answer generation.</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 funnel graphic: 8,166 Total Clauses ➔ Top 60 Candidates (FAISS + BM25) ➔ RRF Fusion (Top 30) ➔ Cross-Encoder Filter ➔ Top 6 Final Chunks.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Conversational Memory &amp; Contextual Query Reformulation</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The Follow-Up Query Problem:</a:t>
            </a:r>
          </a:p>
          <a:p>
            <a:pPr>
              <a:spcAft>
                <a:spcPts val="600"/>
              </a:spcAft>
              <a:defRPr sz="1600">
                <a:solidFill>
                  <a:srgbClr val="E2E8F0"/>
                </a:solidFill>
                <a:latin typeface="Arial"/>
              </a:defRPr>
            </a:pPr>
            <a:r>
              <a:t>Administrative dialogues naturally involve follow-up questions.</a:t>
            </a:r>
          </a:p>
          <a:p>
            <a:pPr>
              <a:spcAft>
                <a:spcPts val="600"/>
              </a:spcAft>
              <a:defRPr sz="1600">
                <a:solidFill>
                  <a:srgbClr val="E2E8F0"/>
                </a:solidFill>
                <a:latin typeface="Arial"/>
              </a:defRPr>
            </a:pPr>
            <a:r>
              <a:t>Turn 1: "Who is the Head of the Computer Engineering Department?"</a:t>
            </a:r>
          </a:p>
          <a:p>
            <a:pPr>
              <a:spcAft>
                <a:spcPts val="600"/>
              </a:spcAft>
              <a:defRPr sz="1600">
                <a:solidFill>
                  <a:srgbClr val="E2E8F0"/>
                </a:solidFill>
                <a:latin typeface="Arial"/>
              </a:defRPr>
            </a:pPr>
            <a:r>
              <a:t>Turn 2: "When was he appointed?"</a:t>
            </a:r>
          </a:p>
          <a:p>
            <a:pPr>
              <a:spcAft>
                <a:spcPts val="600"/>
              </a:spcAft>
              <a:defRPr sz="1600">
                <a:solidFill>
                  <a:srgbClr val="E2E8F0"/>
                </a:solidFill>
                <a:latin typeface="Arial"/>
              </a:defRPr>
            </a:pPr>
            <a:r>
              <a:t>Standard RAG retrieves documents for "When was he appointed?" and returns irrelevant text.</a:t>
            </a:r>
          </a:p>
          <a:p>
            <a:pPr>
              <a:spcAft>
                <a:spcPts val="600"/>
              </a:spcAft>
              <a:defRPr sz="1600">
                <a:solidFill>
                  <a:srgbClr val="E2E8F0"/>
                </a:solidFill>
                <a:latin typeface="Arial"/>
              </a:defRPr>
            </a:pPr>
            <a:r>
              <a:t>Intelligent Query Reformulation:</a:t>
            </a:r>
          </a:p>
          <a:p>
            <a:pPr>
              <a:spcAft>
                <a:spcPts val="600"/>
              </a:spcAft>
              <a:defRPr sz="1600">
                <a:solidFill>
                  <a:srgbClr val="E2E8F0"/>
                </a:solidFill>
                <a:latin typeface="Arial"/>
              </a:defRPr>
            </a:pPr>
            <a:r>
              <a:t>The system maintains a sliding context buffer of recent conversation turns.</a:t>
            </a:r>
          </a:p>
          <a:p>
            <a:pPr>
              <a:spcAft>
                <a:spcPts val="600"/>
              </a:spcAft>
              <a:defRPr sz="1600">
                <a:solidFill>
                  <a:srgbClr val="E2E8F0"/>
                </a:solidFill>
                <a:latin typeface="Arial"/>
              </a:defRPr>
            </a:pPr>
            <a:r>
              <a:t>An LLM reformulation prompt transforms pronoun-heavy queries into standalone search queries before hitting the index.</a:t>
            </a:r>
          </a:p>
          <a:p>
            <a:pPr>
              <a:spcAft>
                <a:spcPts val="600"/>
              </a:spcAft>
              <a:defRPr sz="1600">
                <a:solidFill>
                  <a:srgbClr val="E2E8F0"/>
                </a:solidFill>
                <a:latin typeface="Arial"/>
              </a:defRPr>
            </a:pPr>
            <a:r>
              <a:t>Demonstrated Transformation:</a:t>
            </a:r>
          </a:p>
          <a:p>
            <a:pPr>
              <a:spcAft>
                <a:spcPts val="600"/>
              </a:spcAft>
              <a:defRPr sz="1600">
                <a:solidFill>
                  <a:srgbClr val="E2E8F0"/>
                </a:solidFill>
                <a:latin typeface="Arial"/>
              </a:defRPr>
            </a:pPr>
            <a:r>
              <a:t>Raw Input: "When was he appointed?"</a:t>
            </a:r>
          </a:p>
          <a:p>
            <a:pPr>
              <a:spcAft>
                <a:spcPts val="600"/>
              </a:spcAft>
              <a:defRPr sz="1600">
                <a:solidFill>
                  <a:srgbClr val="E2E8F0"/>
                </a:solidFill>
                <a:latin typeface="Arial"/>
              </a:defRPr>
            </a:pPr>
            <a:r>
              <a:t>Reformulated Query: "When was Er. Shabir Ahmad Ahanger appointed as Incharge Computer Engineering at KGP Srinagar?"</a:t>
            </a:r>
          </a:p>
          <a:p>
            <a:pPr>
              <a:spcAft>
                <a:spcPts val="600"/>
              </a:spcAft>
              <a:defRPr sz="1600">
                <a:solidFill>
                  <a:srgbClr val="E2E8F0"/>
                </a:solidFill>
                <a:latin typeface="Arial"/>
              </a:defRPr>
            </a:pPr>
            <a:r>
              <a:t>Result: Direct hit on the actual appointment order in the retrieval database.</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 3-step sequence diagram: User Question ➔ History Buffer ➔ Reformulated Standalone Query ➔ Retrieval Engine.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Zero-Hallucination Guardrails &amp; Source Verification</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Strict Grounding Policy:</a:t>
            </a:r>
          </a:p>
          <a:p>
            <a:pPr>
              <a:spcAft>
                <a:spcPts val="600"/>
              </a:spcAft>
              <a:defRPr sz="1600">
                <a:solidFill>
                  <a:srgbClr val="E2E8F0"/>
                </a:solidFill>
                <a:latin typeface="Arial"/>
              </a:defRPr>
            </a:pPr>
            <a:r>
              <a:t>The system prompt explicitly forbids the model from extrapolating, guessing, or using unverified outside knowledge.</a:t>
            </a:r>
          </a:p>
          <a:p>
            <a:pPr>
              <a:spcAft>
                <a:spcPts val="600"/>
              </a:spcAft>
              <a:defRPr sz="1600">
                <a:solidFill>
                  <a:srgbClr val="E2E8F0"/>
                </a:solidFill>
                <a:latin typeface="Arial"/>
              </a:defRPr>
            </a:pPr>
            <a:r>
              <a:t>Responses must be derived exclusively from the provided institutional excerpts.</a:t>
            </a:r>
          </a:p>
          <a:p>
            <a:pPr>
              <a:spcAft>
                <a:spcPts val="600"/>
              </a:spcAft>
              <a:defRPr sz="1600">
                <a:solidFill>
                  <a:srgbClr val="E2E8F0"/>
                </a:solidFill>
                <a:latin typeface="Arial"/>
              </a:defRPr>
            </a:pPr>
            <a:r>
              <a:t>Explicit Missing-Data Fallback:</a:t>
            </a:r>
          </a:p>
          <a:p>
            <a:pPr>
              <a:spcAft>
                <a:spcPts val="600"/>
              </a:spcAft>
              <a:defRPr sz="1600">
                <a:solidFill>
                  <a:srgbClr val="E2E8F0"/>
                </a:solidFill>
                <a:latin typeface="Arial"/>
              </a:defRPr>
            </a:pPr>
            <a:r>
              <a:t>If the indexed official documents do not contain the answer, the assistant responds:</a:t>
            </a:r>
          </a:p>
          <a:p>
            <a:pPr>
              <a:spcAft>
                <a:spcPts val="600"/>
              </a:spcAft>
              <a:defRPr sz="1600">
                <a:solidFill>
                  <a:srgbClr val="E2E8F0"/>
                </a:solidFill>
                <a:latin typeface="Arial"/>
              </a:defRPr>
            </a:pPr>
            <a:r>
              <a:t>"I could not find this information in the available official college documents."</a:t>
            </a:r>
          </a:p>
          <a:p>
            <a:pPr>
              <a:spcAft>
                <a:spcPts val="600"/>
              </a:spcAft>
              <a:defRPr sz="1600">
                <a:solidFill>
                  <a:srgbClr val="E2E8F0"/>
                </a:solidFill>
                <a:latin typeface="Arial"/>
              </a:defRPr>
            </a:pPr>
            <a:r>
              <a:t>Verifiable Document Citations:</a:t>
            </a:r>
          </a:p>
          <a:p>
            <a:pPr>
              <a:spcAft>
                <a:spcPts val="600"/>
              </a:spcAft>
              <a:defRPr sz="1600">
                <a:solidFill>
                  <a:srgbClr val="E2E8F0"/>
                </a:solidFill>
                <a:latin typeface="Arial"/>
              </a:defRPr>
            </a:pPr>
            <a:r>
              <a:t>Every factual assertion includes its verified document source and page number:</a:t>
            </a:r>
          </a:p>
          <a:p>
            <a:pPr>
              <a:spcAft>
                <a:spcPts val="600"/>
              </a:spcAft>
              <a:defRPr sz="1600">
                <a:solidFill>
                  <a:srgbClr val="E2E8F0"/>
                </a:solidFill>
                <a:latin typeface="Arial"/>
              </a:defRPr>
            </a:pPr>
            <a:r>
              <a:t>Example: [BOTE_Examination_Rules.pdf, Page 4]</a:t>
            </a:r>
          </a:p>
          <a:p>
            <a:pPr>
              <a:spcAft>
                <a:spcPts val="600"/>
              </a:spcAft>
              <a:defRPr sz="1600">
                <a:solidFill>
                  <a:srgbClr val="E2E8F0"/>
                </a:solidFill>
                <a:latin typeface="Arial"/>
              </a:defRPr>
            </a:pPr>
            <a:r>
              <a:t>Direct Document Download Cards:</a:t>
            </a:r>
          </a:p>
          <a:p>
            <a:pPr>
              <a:spcAft>
                <a:spcPts val="600"/>
              </a:spcAft>
              <a:defRPr sz="1600">
                <a:solidFill>
                  <a:srgbClr val="E2E8F0"/>
                </a:solidFill>
                <a:latin typeface="Arial"/>
              </a:defRPr>
            </a:pPr>
            <a:r>
              <a:t>Responsive source cards allow staff to open or download the original PDF/DOCX file with one click to verify stamps and signatures.</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Mockup of an assistant response showing a green verified citation badge and a clickable "Download Original Order" file card.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Dual Operational Modes: College Records vs. General AI</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Mode 1: 🏛️ College Records (Strict RAG Mode)</a:t>
            </a:r>
          </a:p>
          <a:p>
            <a:pPr>
              <a:spcAft>
                <a:spcPts val="600"/>
              </a:spcAft>
              <a:defRPr sz="1600">
                <a:solidFill>
                  <a:srgbClr val="E2E8F0"/>
                </a:solidFill>
                <a:latin typeface="Arial"/>
              </a:defRPr>
            </a:pPr>
            <a:r>
              <a:t>Purpose: Policy verification, administrative queries, and regulatory inquiries.</a:t>
            </a:r>
          </a:p>
          <a:p>
            <a:pPr>
              <a:spcAft>
                <a:spcPts val="600"/>
              </a:spcAft>
              <a:defRPr sz="1600">
                <a:solidFill>
                  <a:srgbClr val="E2E8F0"/>
                </a:solidFill>
                <a:latin typeface="Arial"/>
              </a:defRPr>
            </a:pPr>
            <a:r>
              <a:t>Behavior: Full hybrid retrieval active; responses are strictly grounded in indexed college documents.</a:t>
            </a:r>
          </a:p>
          <a:p>
            <a:pPr>
              <a:spcAft>
                <a:spcPts val="600"/>
              </a:spcAft>
              <a:defRPr sz="1600">
                <a:solidFill>
                  <a:srgbClr val="E2E8F0"/>
                </a:solidFill>
                <a:latin typeface="Arial"/>
              </a:defRPr>
            </a:pPr>
            <a:r>
              <a:t>Output: Accurate, cited answers accompanied by document download cards.</a:t>
            </a:r>
          </a:p>
          <a:p>
            <a:pPr>
              <a:spcAft>
                <a:spcPts val="600"/>
              </a:spcAft>
              <a:defRPr sz="1600">
                <a:solidFill>
                  <a:srgbClr val="E2E8F0"/>
                </a:solidFill>
                <a:latin typeface="Arial"/>
              </a:defRPr>
            </a:pPr>
            <a:r>
              <a:t>Mode 2: 🌐 General AI Assistant (Direct LLM Mode)</a:t>
            </a:r>
          </a:p>
          <a:p>
            <a:pPr>
              <a:spcAft>
                <a:spcPts val="600"/>
              </a:spcAft>
              <a:defRPr sz="1600">
                <a:solidFill>
                  <a:srgbClr val="E2E8F0"/>
                </a:solidFill>
                <a:latin typeface="Arial"/>
              </a:defRPr>
            </a:pPr>
            <a:r>
              <a:t>Purpose: Day-to-day clerical drafting and academic assistance.</a:t>
            </a:r>
          </a:p>
          <a:p>
            <a:pPr>
              <a:spcAft>
                <a:spcPts val="600"/>
              </a:spcAft>
              <a:defRPr sz="1600">
                <a:solidFill>
                  <a:srgbClr val="E2E8F0"/>
                </a:solidFill>
                <a:latin typeface="Arial"/>
              </a:defRPr>
            </a:pPr>
            <a:r>
              <a:t>Key Capabilities:</a:t>
            </a:r>
          </a:p>
          <a:p>
            <a:pPr>
              <a:spcAft>
                <a:spcPts val="600"/>
              </a:spcAft>
              <a:defRPr sz="1600">
                <a:solidFill>
                  <a:srgbClr val="E2E8F0"/>
                </a:solidFill>
                <a:latin typeface="Arial"/>
              </a:defRPr>
            </a:pPr>
            <a:r>
              <a:t>Drafts official circulars, show-cause notices, memos, and formal emails.</a:t>
            </a:r>
          </a:p>
          <a:p>
            <a:pPr>
              <a:spcAft>
                <a:spcPts val="600"/>
              </a:spcAft>
              <a:defRPr sz="1600">
                <a:solidFill>
                  <a:srgbClr val="E2E8F0"/>
                </a:solidFill>
                <a:latin typeface="Arial"/>
              </a:defRPr>
            </a:pPr>
            <a:r>
              <a:t>Formulates structured responses for leave sanctions under J&amp;K CSR.</a:t>
            </a:r>
          </a:p>
          <a:p>
            <a:pPr>
              <a:spcAft>
                <a:spcPts val="600"/>
              </a:spcAft>
              <a:defRPr sz="1600">
                <a:solidFill>
                  <a:srgbClr val="E2E8F0"/>
                </a:solidFill>
                <a:latin typeface="Arial"/>
              </a:defRPr>
            </a:pPr>
            <a:r>
              <a:t>Assists polytechnic faculty with technical engineering syllabi and lab documentation.</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Side-by-side card layout comparing Mode 1 (Search icon, Strict RAG, Citations) and Mode 2 (Pencil icon, Direct LLM, Drafting tools).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Model Flexibility: Online Cloud Speed &amp; Offline Local Privacy</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No Vendor Lock-In: Hot-swap between cloud and local providers on the fly directly from the UI dropdown:</a:t>
            </a:r>
          </a:p>
          <a:p>
            <a:pPr>
              <a:spcAft>
                <a:spcPts val="600"/>
              </a:spcAft>
              <a:defRPr sz="1600">
                <a:solidFill>
                  <a:srgbClr val="E2E8F0"/>
                </a:solidFill>
                <a:latin typeface="Arial"/>
              </a:defRPr>
            </a:pPr>
            <a:r>
              <a:t>🌐 Online Cloud Option 1: Google GenAI (Gemini 3.5 Flash / 1.5 Flash)</a:t>
            </a:r>
          </a:p>
          <a:p>
            <a:pPr>
              <a:spcAft>
                <a:spcPts val="600"/>
              </a:spcAft>
              <a:defRPr sz="1600">
                <a:solidFill>
                  <a:srgbClr val="E2E8F0"/>
                </a:solidFill>
                <a:latin typeface="Arial"/>
              </a:defRPr>
            </a:pPr>
            <a:r>
              <a:t>High-speed online reasoning with sub-second response times.</a:t>
            </a:r>
          </a:p>
          <a:p>
            <a:pPr>
              <a:spcAft>
                <a:spcPts val="600"/>
              </a:spcAft>
              <a:defRPr sz="1600">
                <a:solidFill>
                  <a:srgbClr val="E2E8F0"/>
                </a:solidFill>
                <a:latin typeface="Arial"/>
              </a:defRPr>
            </a:pPr>
            <a:r>
              <a:t>Powers the live public cloud deployment on Streamlit Cloud.</a:t>
            </a:r>
          </a:p>
          <a:p>
            <a:pPr>
              <a:spcAft>
                <a:spcPts val="600"/>
              </a:spcAft>
              <a:defRPr sz="1600">
                <a:solidFill>
                  <a:srgbClr val="E2E8F0"/>
                </a:solidFill>
                <a:latin typeface="Arial"/>
              </a:defRPr>
            </a:pPr>
            <a:r>
              <a:t>Ideal for high-traffic general queries and rapid circular drafting.</a:t>
            </a:r>
          </a:p>
          <a:p>
            <a:pPr>
              <a:spcAft>
                <a:spcPts val="600"/>
              </a:spcAft>
              <a:defRPr sz="1600">
                <a:solidFill>
                  <a:srgbClr val="E2E8F0"/>
                </a:solidFill>
                <a:latin typeface="Arial"/>
              </a:defRPr>
            </a:pPr>
            <a:r>
              <a:t>🌐 Online Cloud Option 2: OpenAI (GPT-4o-mini)</a:t>
            </a:r>
          </a:p>
          <a:p>
            <a:pPr>
              <a:spcAft>
                <a:spcPts val="600"/>
              </a:spcAft>
              <a:defRPr sz="1600">
                <a:solidFill>
                  <a:srgbClr val="E2E8F0"/>
                </a:solidFill>
                <a:latin typeface="Arial"/>
              </a:defRPr>
            </a:pPr>
            <a:r>
              <a:t>High-precision cloud intelligence for deep synthesis of complex government orders.</a:t>
            </a:r>
          </a:p>
          <a:p>
            <a:pPr>
              <a:spcAft>
                <a:spcPts val="600"/>
              </a:spcAft>
              <a:defRPr sz="1600">
                <a:solidFill>
                  <a:srgbClr val="E2E8F0"/>
                </a:solidFill>
                <a:latin typeface="Arial"/>
              </a:defRPr>
            </a:pPr>
            <a:r>
              <a:t>💻 Offline Local Option: Local Ollama (Llama 3.1 8B)</a:t>
            </a:r>
          </a:p>
          <a:p>
            <a:pPr>
              <a:spcAft>
                <a:spcPts val="600"/>
              </a:spcAft>
              <a:defRPr sz="1600">
                <a:solidFill>
                  <a:srgbClr val="E2E8F0"/>
                </a:solidFill>
                <a:latin typeface="Arial"/>
              </a:defRPr>
            </a:pPr>
            <a:r>
              <a:t>100% Offline &amp; Private: Runs on campus hardware with zero internet connectivity required.</a:t>
            </a:r>
          </a:p>
          <a:p>
            <a:pPr>
              <a:spcAft>
                <a:spcPts val="600"/>
              </a:spcAft>
              <a:defRPr sz="1600">
                <a:solidFill>
                  <a:srgbClr val="E2E8F0"/>
                </a:solidFill>
                <a:latin typeface="Arial"/>
              </a:defRPr>
            </a:pPr>
            <a:r>
              <a:t>Zero Operational Cost: No recurring API tokens or third-party cloud fees.</a:t>
            </a:r>
          </a:p>
          <a:p>
            <a:pPr>
              <a:spcAft>
                <a:spcPts val="600"/>
              </a:spcAft>
              <a:defRPr sz="1600">
                <a:solidFill>
                  <a:srgbClr val="E2E8F0"/>
                </a:solidFill>
                <a:latin typeface="Arial"/>
              </a:defRPr>
            </a:pPr>
            <a:r>
              <a:t>Confidentiality Guarantee: Sensitive personnel records and disciplinary files never leave the institutional server.</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Three vertical feature columns: (1) Google Gemini [Online], (2) OpenAI GPT-4o-mini [Online], and (3) Ollama Llama 3.1 [Offline Local].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Security &amp; Role-Based Access Control (RBAC)</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Cryptographic Credential Security:</a:t>
            </a:r>
          </a:p>
          <a:p>
            <a:pPr>
              <a:spcAft>
                <a:spcPts val="600"/>
              </a:spcAft>
              <a:defRPr sz="1600">
                <a:solidFill>
                  <a:srgbClr val="E2E8F0"/>
                </a:solidFill>
                <a:latin typeface="Arial"/>
              </a:defRPr>
            </a:pPr>
            <a:r>
              <a:t>Implemented using streamlit-authenticator with bcrypt salted hashing.</a:t>
            </a:r>
          </a:p>
          <a:p>
            <a:pPr>
              <a:spcAft>
                <a:spcPts val="600"/>
              </a:spcAft>
              <a:defRPr sz="1600">
                <a:solidFill>
                  <a:srgbClr val="E2E8F0"/>
                </a:solidFill>
                <a:latin typeface="Arial"/>
              </a:defRPr>
            </a:pPr>
            <a:r>
              <a:t>Passwords are never stored in plaintext in memory or configuration files.</a:t>
            </a:r>
          </a:p>
          <a:p>
            <a:pPr>
              <a:spcAft>
                <a:spcPts val="600"/>
              </a:spcAft>
              <a:defRPr sz="1600">
                <a:solidFill>
                  <a:srgbClr val="E2E8F0"/>
                </a:solidFill>
                <a:latin typeface="Arial"/>
              </a:defRPr>
            </a:pPr>
            <a:r>
              <a:t>Four Designated Administrative Roles:</a:t>
            </a:r>
          </a:p>
          <a:p>
            <a:pPr>
              <a:spcAft>
                <a:spcPts val="600"/>
              </a:spcAft>
              <a:defRPr sz="1600">
                <a:solidFill>
                  <a:srgbClr val="E2E8F0"/>
                </a:solidFill>
                <a:latin typeface="Arial"/>
              </a:defRPr>
            </a:pPr>
            <a:r>
              <a:t>1. Principal / Head of Administration (admin_kgp - Role: admin):</a:t>
            </a:r>
          </a:p>
          <a:p>
            <a:pPr>
              <a:spcAft>
                <a:spcPts val="600"/>
              </a:spcAft>
              <a:defRPr sz="1600">
                <a:solidFill>
                  <a:srgbClr val="E2E8F0"/>
                </a:solidFill>
                <a:latin typeface="Arial"/>
              </a:defRPr>
            </a:pPr>
            <a:r>
              <a:t>Complete oversight of administrative, financial, and confidential inquiry records.</a:t>
            </a:r>
          </a:p>
          <a:p>
            <a:pPr>
              <a:spcAft>
                <a:spcPts val="600"/>
              </a:spcAft>
              <a:defRPr sz="1600">
                <a:solidFill>
                  <a:srgbClr val="E2E8F0"/>
                </a:solidFill>
                <a:latin typeface="Arial"/>
              </a:defRPr>
            </a:pPr>
            <a:r>
              <a:t>2. Academic Section In-Charge (clerk_academic - Role: staff):</a:t>
            </a:r>
          </a:p>
          <a:p>
            <a:pPr>
              <a:spcAft>
                <a:spcPts val="600"/>
              </a:spcAft>
              <a:defRPr sz="1600">
                <a:solidFill>
                  <a:srgbClr val="E2E8F0"/>
                </a:solidFill>
                <a:latin typeface="Arial"/>
              </a:defRPr>
            </a:pPr>
            <a:r>
              <a:t>Access to student admissions, syllabus circulars, and scholarship records.</a:t>
            </a:r>
          </a:p>
          <a:p>
            <a:pPr>
              <a:spcAft>
                <a:spcPts val="600"/>
              </a:spcAft>
              <a:defRPr sz="1600">
                <a:solidFill>
                  <a:srgbClr val="E2E8F0"/>
                </a:solidFill>
                <a:latin typeface="Arial"/>
              </a:defRPr>
            </a:pPr>
            <a:r>
              <a:t>3. Examination Wing Controller (exam_wing - Role: staff):</a:t>
            </a:r>
          </a:p>
          <a:p>
            <a:pPr>
              <a:spcAft>
                <a:spcPts val="600"/>
              </a:spcAft>
              <a:defRPr sz="1600">
                <a:solidFill>
                  <a:srgbClr val="E2E8F0"/>
                </a:solidFill>
                <a:latin typeface="Arial"/>
              </a:defRPr>
            </a:pPr>
            <a:r>
              <a:t>Access to BOTE datesheets, attendance condonation, and exam fee notices.</a:t>
            </a:r>
          </a:p>
          <a:p>
            <a:pPr>
              <a:spcAft>
                <a:spcPts val="600"/>
              </a:spcAft>
              <a:defRPr sz="1600">
                <a:solidFill>
                  <a:srgbClr val="E2E8F0"/>
                </a:solidFill>
                <a:latin typeface="Arial"/>
              </a:defRPr>
            </a:pPr>
            <a:r>
              <a:t>4. Head of Department / Senior Faculty (hod_polytechnic - Role: faculty):</a:t>
            </a:r>
          </a:p>
          <a:p>
            <a:pPr>
              <a:spcAft>
                <a:spcPts val="600"/>
              </a:spcAft>
              <a:defRPr sz="1600">
                <a:solidFill>
                  <a:srgbClr val="E2E8F0"/>
                </a:solidFill>
                <a:latin typeface="Arial"/>
              </a:defRPr>
            </a:pPr>
            <a:r>
              <a:t>Access to departmental circulars, faculty notices, and lab guidelines.</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An institutional hierarchy table showing the 4 roles, designated user accounts, and their respective administrative access scopes.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User Interface &amp; Administrative Design System</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Institutional Branding &amp; Styling:</a:t>
            </a:r>
          </a:p>
          <a:p>
            <a:pPr>
              <a:spcAft>
                <a:spcPts val="600"/>
              </a:spcAft>
              <a:defRPr sz="1600">
                <a:solidFill>
                  <a:srgbClr val="E2E8F0"/>
                </a:solidFill>
                <a:latin typeface="Arial"/>
              </a:defRPr>
            </a:pPr>
            <a:r>
              <a:t>Styled with the official Government of Jammu &amp; Kashmir insignia and college identity.</a:t>
            </a:r>
          </a:p>
          <a:p>
            <a:pPr>
              <a:spcAft>
                <a:spcPts val="600"/>
              </a:spcAft>
              <a:defRPr sz="1600">
                <a:solidFill>
                  <a:srgbClr val="E2E8F0"/>
                </a:solidFill>
                <a:latin typeface="Arial"/>
              </a:defRPr>
            </a:pPr>
            <a:r>
              <a:t>Typography: Google Fonts (Outfit for headings and Plus Jakarta Sans for body text).</a:t>
            </a:r>
          </a:p>
          <a:p>
            <a:pPr>
              <a:spcAft>
                <a:spcPts val="600"/>
              </a:spcAft>
              <a:defRPr sz="1600">
                <a:solidFill>
                  <a:srgbClr val="E2E8F0"/>
                </a:solidFill>
                <a:latin typeface="Arial"/>
              </a:defRPr>
            </a:pPr>
            <a:r>
              <a:t>Styled using an external CSS design system (static/style.css).</a:t>
            </a:r>
          </a:p>
          <a:p>
            <a:pPr>
              <a:spcAft>
                <a:spcPts val="600"/>
              </a:spcAft>
              <a:defRPr sz="1600">
                <a:solidFill>
                  <a:srgbClr val="E2E8F0"/>
                </a:solidFill>
                <a:latin typeface="Arial"/>
              </a:defRPr>
            </a:pPr>
            <a:r>
              <a:t>Key Usability Features in app.py:</a:t>
            </a:r>
          </a:p>
          <a:p>
            <a:pPr>
              <a:spcAft>
                <a:spcPts val="600"/>
              </a:spcAft>
              <a:defRPr sz="1600">
                <a:solidFill>
                  <a:srgbClr val="E2E8F0"/>
                </a:solidFill>
                <a:latin typeface="Arial"/>
              </a:defRPr>
            </a:pPr>
            <a:r>
              <a:t>Live Metric Badge: Real-time status counter (1,158 Official Documents · 8,166 Clauses Live).</a:t>
            </a:r>
          </a:p>
          <a:p>
            <a:pPr>
              <a:spcAft>
                <a:spcPts val="600"/>
              </a:spcAft>
              <a:defRPr sz="1600">
                <a:solidFill>
                  <a:srgbClr val="E2E8F0"/>
                </a:solidFill>
                <a:latin typeface="Arial"/>
              </a:defRPr>
            </a:pPr>
            <a:r>
              <a:t>Interactive Suggestion Chips: One-click quick-query buttons for common student and administrative inquiries.</a:t>
            </a:r>
          </a:p>
          <a:p>
            <a:pPr>
              <a:spcAft>
                <a:spcPts val="600"/>
              </a:spcAft>
              <a:defRPr sz="1600">
                <a:solidFill>
                  <a:srgbClr val="E2E8F0"/>
                </a:solidFill>
                <a:latin typeface="Arial"/>
              </a:defRPr>
            </a:pPr>
            <a:r>
              <a:t>Responsive Citation Cards: Structured cards showing verified sources, page numbers, and direct download links.</a:t>
            </a:r>
          </a:p>
          <a:p>
            <a:pPr>
              <a:spcAft>
                <a:spcPts val="600"/>
              </a:spcAft>
              <a:defRPr sz="1600">
                <a:solidFill>
                  <a:srgbClr val="E2E8F0"/>
                </a:solidFill>
                <a:latin typeface="Arial"/>
              </a:defRPr>
            </a:pPr>
            <a:r>
              <a:t>Non-Overlapping Input Dock: Clean, floating bottom query bar with responsive desktop and mobile padding.</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Screenshot of the actual KGP Gyankosh UI showing the institutional header, dark glassmorphic styling, suggestion chips, and citation cards.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Automated Testing, Verification &amp; Quality Assurance</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26 Automated Unit &amp; Integration Tests (pytest):</a:t>
            </a:r>
          </a:p>
          <a:p>
            <a:pPr>
              <a:spcAft>
                <a:spcPts val="600"/>
              </a:spcAft>
              <a:defRPr sz="1600">
                <a:solidFill>
                  <a:srgbClr val="E2E8F0"/>
                </a:solidFill>
                <a:latin typeface="Arial"/>
              </a:defRPr>
            </a:pPr>
            <a:r>
              <a:t>tests/test_chunker.py: Validates text chunk boundaries, overlap consistency, and metadata preservation.</a:t>
            </a:r>
          </a:p>
          <a:p>
            <a:pPr>
              <a:spcAft>
                <a:spcPts val="600"/>
              </a:spcAft>
              <a:defRPr sz="1600">
                <a:solidFill>
                  <a:srgbClr val="E2E8F0"/>
                </a:solidFill>
                <a:latin typeface="Arial"/>
              </a:defRPr>
            </a:pPr>
            <a:r>
              <a:t>tests/test_embeddings.py: Tests SentenceTransformers initialization, embedding dimensions (384), and API fallbacks.</a:t>
            </a:r>
          </a:p>
          <a:p>
            <a:pPr>
              <a:spcAft>
                <a:spcPts val="600"/>
              </a:spcAft>
              <a:defRPr sz="1600">
                <a:solidFill>
                  <a:srgbClr val="E2E8F0"/>
                </a:solidFill>
                <a:latin typeface="Arial"/>
              </a:defRPr>
            </a:pPr>
            <a:r>
              <a:t>tests/test_memory.py: Verifies multi-turn dialogue buffers and query reformulation logic.</a:t>
            </a:r>
          </a:p>
          <a:p>
            <a:pPr>
              <a:spcAft>
                <a:spcPts val="600"/>
              </a:spcAft>
              <a:defRPr sz="1600">
                <a:solidFill>
                  <a:srgbClr val="E2E8F0"/>
                </a:solidFill>
                <a:latin typeface="Arial"/>
              </a:defRPr>
            </a:pPr>
            <a:r>
              <a:t>tests/test_retrieval.py: Tests BM25 tokenization, RRF rank fusion, and Cross-Encoder fallbacks.</a:t>
            </a:r>
          </a:p>
          <a:p>
            <a:pPr>
              <a:spcAft>
                <a:spcPts val="600"/>
              </a:spcAft>
              <a:defRPr sz="1600">
                <a:solidFill>
                  <a:srgbClr val="E2E8F0"/>
                </a:solidFill>
                <a:latin typeface="Arial"/>
              </a:defRPr>
            </a:pPr>
            <a:r>
              <a:t>Test Suite Performance:</a:t>
            </a:r>
          </a:p>
          <a:p>
            <a:pPr>
              <a:spcAft>
                <a:spcPts val="600"/>
              </a:spcAft>
              <a:defRPr sz="1600">
                <a:solidFill>
                  <a:srgbClr val="E2E8F0"/>
                </a:solidFill>
                <a:latin typeface="Arial"/>
              </a:defRPr>
            </a:pPr>
            <a:r>
              <a:t>26 out of 26 tests passing consistently across Python 3.10 through 3.14.</a:t>
            </a:r>
          </a:p>
          <a:p>
            <a:pPr>
              <a:spcAft>
                <a:spcPts val="600"/>
              </a:spcAft>
              <a:defRPr sz="1600">
                <a:solidFill>
                  <a:srgbClr val="E2E8F0"/>
                </a:solidFill>
                <a:latin typeface="Arial"/>
              </a:defRPr>
            </a:pPr>
            <a:r>
              <a:t>Developer CLI Test Harness:</a:t>
            </a:r>
          </a:p>
          <a:p>
            <a:pPr>
              <a:spcAft>
                <a:spcPts val="600"/>
              </a:spcAft>
              <a:defRPr sz="1600">
                <a:solidFill>
                  <a:srgbClr val="E2E8F0"/>
                </a:solidFill>
                <a:latin typeface="Arial"/>
              </a:defRPr>
            </a:pPr>
            <a:r>
              <a:t>scripts/test_queries.py: Enables automated command-line evaluation and retrieval benchmarking without launching a browser.</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 screenshot or terminal box showing pytest -v passing all 26 tests with green status badges for Chunker, Embeddings, Memory, and Retrieval.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Live Online Cloud Deployment &amp; Engineering Optimizations</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 Live Online Web Application:</a:t>
            </a:r>
          </a:p>
          <a:p>
            <a:pPr>
              <a:spcAft>
                <a:spcPts val="600"/>
              </a:spcAft>
              <a:defRPr sz="1600">
                <a:solidFill>
                  <a:srgbClr val="E2E8F0"/>
                </a:solidFill>
                <a:latin typeface="Arial"/>
              </a:defRPr>
            </a:pPr>
            <a:r>
              <a:t>Deployed and accessible 24/7 at: https://kgp-gyankosh.streamlit.app/</a:t>
            </a:r>
          </a:p>
          <a:p>
            <a:pPr>
              <a:spcAft>
                <a:spcPts val="600"/>
              </a:spcAft>
              <a:defRPr sz="1600">
                <a:solidFill>
                  <a:srgbClr val="E2E8F0"/>
                </a:solidFill>
                <a:latin typeface="Arial"/>
              </a:defRPr>
            </a:pPr>
            <a:r>
              <a:t>Accessible from desktop, laptop, or mobile browsers by college staff.</a:t>
            </a:r>
          </a:p>
          <a:p>
            <a:pPr>
              <a:spcAft>
                <a:spcPts val="600"/>
              </a:spcAft>
              <a:defRPr sz="1600">
                <a:solidFill>
                  <a:srgbClr val="E2E8F0"/>
                </a:solidFill>
                <a:latin typeface="Arial"/>
              </a:defRPr>
            </a:pPr>
            <a:r>
              <a:t>Production Engineering Optimizations:</a:t>
            </a:r>
          </a:p>
          <a:p>
            <a:pPr>
              <a:spcAft>
                <a:spcPts val="600"/>
              </a:spcAft>
              <a:defRPr sz="1600">
                <a:solidFill>
                  <a:srgbClr val="E2E8F0"/>
                </a:solidFill>
                <a:latin typeface="Arial"/>
              </a:defRPr>
            </a:pPr>
            <a:r>
              <a:t>PyTorch CPU Build Optimization: Configured --extra-index-url https://download.pytorch.org/whl/cpu in requirements.txt. Reduced build size from ~3GB (CUDA) to ~180MB, completely eliminating out-of-memory cloud crashes.</a:t>
            </a:r>
          </a:p>
          <a:p>
            <a:pPr>
              <a:spcAft>
                <a:spcPts val="600"/>
              </a:spcAft>
              <a:defRPr sz="1600">
                <a:solidFill>
                  <a:srgbClr val="E2E8F0"/>
                </a:solidFill>
                <a:latin typeface="Arial"/>
              </a:defRPr>
            </a:pPr>
            <a:r>
              <a:t>Pre-Built Ingestion Stores: Serialized FAISS and BM25 databases pre-built in output/, providing instant startup with zero indexing lag.</a:t>
            </a:r>
          </a:p>
          <a:p>
            <a:pPr>
              <a:spcAft>
                <a:spcPts val="600"/>
              </a:spcAft>
              <a:defRPr sz="1600">
                <a:solidFill>
                  <a:srgbClr val="E2E8F0"/>
                </a:solidFill>
                <a:latin typeface="Arial"/>
              </a:defRPr>
            </a:pPr>
            <a:r>
              <a:t>Resource Caching (@st.cache_resource): Caches models and vector stores in memory for low-latency multi-user sessions.</a:t>
            </a:r>
          </a:p>
          <a:p>
            <a:pPr>
              <a:spcAft>
                <a:spcPts val="600"/>
              </a:spcAft>
              <a:defRPr sz="1600">
                <a:solidFill>
                  <a:srgbClr val="E2E8F0"/>
                </a:solidFill>
                <a:latin typeface="Arial"/>
              </a:defRPr>
            </a:pPr>
            <a:r>
              <a:t>Automated Keepalive Ping Workflow: A GitHub Actions workflow (.github/workflows/keepalive.yaml) runs every 3 days to prevent cloud app hibernation.</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 deployment architecture diagram: GitHub Repository ➔ Automated Keepalive Workflow ➔ Streamlit Community Cloud (with PyTorch CPU badge).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Demonstrated Administrative Use Cases</a:t>
            </a:r>
          </a:p>
        </p:txBody>
      </p:sp>
      <p:sp>
        <p:nvSpPr>
          <p:cNvPr id="3" name="TextBox 2"/>
          <p:cNvSpPr txBox="1"/>
          <p:nvPr/>
        </p:nvSpPr>
        <p:spPr>
          <a:xfrm>
            <a:off x="731520" y="1463040"/>
            <a:ext cx="10698480" cy="4389120"/>
          </a:xfrm>
          <a:prstGeom prst="rect">
            <a:avLst/>
          </a:prstGeom>
          <a:noFill/>
        </p:spPr>
        <p:txBody>
          <a:bodyPr wrap="square">
            <a:spAutoFit/>
          </a:bodyPr>
          <a:lstStyle/>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A clean, styled 5-row table highlighting the query, the factual result, and the exact citation.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Engineering Challenges &amp; Technical Solutions</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Challenge 1: OCR Degradation on Old Scanned Circulars</a:t>
            </a:r>
          </a:p>
          <a:p>
            <a:pPr>
              <a:spcAft>
                <a:spcPts val="600"/>
              </a:spcAft>
              <a:defRPr sz="1600">
                <a:solidFill>
                  <a:srgbClr val="E2E8F0"/>
                </a:solidFill>
                <a:latin typeface="Arial"/>
              </a:defRPr>
            </a:pPr>
            <a:r>
              <a:t>Issue: Scanned notices with faded text, stamps, and signatures caused corrupted text.</a:t>
            </a:r>
          </a:p>
          <a:p>
            <a:pPr>
              <a:spcAft>
                <a:spcPts val="600"/>
              </a:spcAft>
              <a:defRPr sz="1600">
                <a:solidFill>
                  <a:srgbClr val="E2E8F0"/>
                </a:solidFill>
                <a:latin typeface="Arial"/>
              </a:defRPr>
            </a:pPr>
            <a:r>
              <a:t>Solution: Implemented text-density filters, fallback to pure-Python OCR, and persistent disk-based hash caching.</a:t>
            </a:r>
          </a:p>
          <a:p>
            <a:pPr>
              <a:spcAft>
                <a:spcPts val="600"/>
              </a:spcAft>
              <a:defRPr sz="1600">
                <a:solidFill>
                  <a:srgbClr val="E2E8F0"/>
                </a:solidFill>
                <a:latin typeface="Arial"/>
              </a:defRPr>
            </a:pPr>
            <a:r>
              <a:t>Challenge 2: Query-Document Terminology Mismatch</a:t>
            </a:r>
          </a:p>
          <a:p>
            <a:pPr>
              <a:spcAft>
                <a:spcPts val="600"/>
              </a:spcAft>
              <a:defRPr sz="1600">
                <a:solidFill>
                  <a:srgbClr val="E2E8F0"/>
                </a:solidFill>
                <a:latin typeface="Arial"/>
              </a:defRPr>
            </a:pPr>
            <a:r>
              <a:t>Issue: Clerks ask questions in everyday language while orders use formal bureaucratic legal terms.</a:t>
            </a:r>
          </a:p>
          <a:p>
            <a:pPr>
              <a:spcAft>
                <a:spcPts val="600"/>
              </a:spcAft>
              <a:defRPr sz="1600">
                <a:solidFill>
                  <a:srgbClr val="E2E8F0"/>
                </a:solidFill>
                <a:latin typeface="Arial"/>
              </a:defRPr>
            </a:pPr>
            <a:r>
              <a:t>Solution: Addressed by the dense vector layer (all-MiniLM-L6-v2) which maps semantic synonyms, fused with BM25 via RRF.</a:t>
            </a:r>
          </a:p>
          <a:p>
            <a:pPr>
              <a:spcAft>
                <a:spcPts val="600"/>
              </a:spcAft>
              <a:defRPr sz="1600">
                <a:solidFill>
                  <a:srgbClr val="E2E8F0"/>
                </a:solidFill>
                <a:latin typeface="Arial"/>
              </a:defRPr>
            </a:pPr>
            <a:r>
              <a:t>Challenge 3: Cloud Memory &amp; Cold-Start Limits</a:t>
            </a:r>
          </a:p>
          <a:p>
            <a:pPr>
              <a:spcAft>
                <a:spcPts val="600"/>
              </a:spcAft>
              <a:defRPr sz="1600">
                <a:solidFill>
                  <a:srgbClr val="E2E8F0"/>
                </a:solidFill>
                <a:latin typeface="Arial"/>
              </a:defRPr>
            </a:pPr>
            <a:r>
              <a:t>Issue: Running multiple deep transformer models on cloud hosting caused memory overruns.</a:t>
            </a:r>
          </a:p>
          <a:p>
            <a:pPr>
              <a:spcAft>
                <a:spcPts val="600"/>
              </a:spcAft>
              <a:defRPr sz="1600">
                <a:solidFill>
                  <a:srgbClr val="E2E8F0"/>
                </a:solidFill>
                <a:latin typeface="Arial"/>
              </a:defRPr>
            </a:pPr>
            <a:r>
              <a:t>Solution: Decoupled heavy Cross-Encoder reranker calls, cached singleton model instances, and used CPU-only dependencies.</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Three horizontal "Problem ➔ Engineering Solution" cards with distinct color accents.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2800" b="1">
                <a:solidFill>
                  <a:srgbClr val="06B6D4"/>
                </a:solidFill>
                <a:latin typeface="Arial"/>
              </a:defRPr>
            </a:pPr>
            <a:r>
              <a:t>Summary, Future Roadmap &amp; Conclusion</a:t>
            </a:r>
          </a:p>
        </p:txBody>
      </p:sp>
      <p:sp>
        <p:nvSpPr>
          <p:cNvPr id="3" name="TextBox 2"/>
          <p:cNvSpPr txBox="1"/>
          <p:nvPr/>
        </p:nvSpPr>
        <p:spPr>
          <a:xfrm>
            <a:off x="731520" y="1463040"/>
            <a:ext cx="10698480" cy="4389120"/>
          </a:xfrm>
          <a:prstGeom prst="rect">
            <a:avLst/>
          </a:prstGeom>
          <a:noFill/>
        </p:spPr>
        <p:txBody>
          <a:bodyPr wrap="square">
            <a:spAutoFit/>
          </a:bodyPr>
          <a:lstStyle/>
          <a:p>
            <a:pPr>
              <a:spcAft>
                <a:spcPts val="600"/>
              </a:spcAft>
              <a:defRPr sz="1600">
                <a:solidFill>
                  <a:srgbClr val="E2E8F0"/>
                </a:solidFill>
                <a:latin typeface="Arial"/>
              </a:defRPr>
            </a:pPr>
            <a:r>
              <a:t>Summary of Delivered Achievements:</a:t>
            </a:r>
          </a:p>
          <a:p>
            <a:pPr>
              <a:spcAft>
                <a:spcPts val="600"/>
              </a:spcAft>
              <a:defRPr sz="1600">
                <a:solidFill>
                  <a:srgbClr val="E2E8F0"/>
                </a:solidFill>
                <a:latin typeface="Arial"/>
              </a:defRPr>
            </a:pPr>
            <a:r>
              <a:t>Developed and deployed an enterprise administrative intelligence system for KGP Srinagar.</a:t>
            </a:r>
          </a:p>
          <a:p>
            <a:pPr>
              <a:spcAft>
                <a:spcPts val="600"/>
              </a:spcAft>
              <a:defRPr sz="1600">
                <a:solidFill>
                  <a:srgbClr val="E2E8F0"/>
                </a:solidFill>
                <a:latin typeface="Arial"/>
              </a:defRPr>
            </a:pPr>
            <a:r>
              <a:t>Ingested 1,158 documents and 8,166 clauses with verified page-level citations.</a:t>
            </a:r>
          </a:p>
          <a:p>
            <a:pPr>
              <a:spcAft>
                <a:spcPts val="600"/>
              </a:spcAft>
              <a:defRPr sz="1600">
                <a:solidFill>
                  <a:srgbClr val="E2E8F0"/>
                </a:solidFill>
                <a:latin typeface="Arial"/>
              </a:defRPr>
            </a:pPr>
            <a:r>
              <a:t>Flexible hybrid architecture: Live Online Cloud (Streamlit + Gemini/GPT) + Offline Local (Ollama + Llama 3.1).</a:t>
            </a:r>
          </a:p>
          <a:p>
            <a:pPr>
              <a:spcAft>
                <a:spcPts val="600"/>
              </a:spcAft>
              <a:defRPr sz="1600">
                <a:solidFill>
                  <a:srgbClr val="E2E8F0"/>
                </a:solidFill>
                <a:latin typeface="Arial"/>
              </a:defRPr>
            </a:pPr>
            <a:r>
              <a:t>Validated through 26 passing automated tests and active zero-hallucination guardrails.</a:t>
            </a:r>
          </a:p>
          <a:p>
            <a:pPr>
              <a:spcAft>
                <a:spcPts val="600"/>
              </a:spcAft>
              <a:defRPr sz="1600">
                <a:solidFill>
                  <a:srgbClr val="E2E8F0"/>
                </a:solidFill>
                <a:latin typeface="Arial"/>
              </a:defRPr>
            </a:pPr>
            <a:r>
              <a:t>Future Roadmap:</a:t>
            </a:r>
          </a:p>
          <a:p>
            <a:pPr>
              <a:spcAft>
                <a:spcPts val="600"/>
              </a:spcAft>
              <a:defRPr sz="1600">
                <a:solidFill>
                  <a:srgbClr val="E2E8F0"/>
                </a:solidFill>
                <a:latin typeface="Arial"/>
              </a:defRPr>
            </a:pPr>
            <a:r>
              <a:t>Direct API integration with the J&amp;K Board of Technical Education (BOTE) examination portal.</a:t>
            </a:r>
          </a:p>
          <a:p>
            <a:pPr>
              <a:spcAft>
                <a:spcPts val="600"/>
              </a:spcAft>
              <a:defRPr sz="1600">
                <a:solidFill>
                  <a:srgbClr val="E2E8F0"/>
                </a:solidFill>
                <a:latin typeface="Arial"/>
              </a:defRPr>
            </a:pPr>
            <a:r>
              <a:t>Multilingual support for parsing and answering circulars in Urdu and Kashmiri.</a:t>
            </a:r>
          </a:p>
          <a:p>
            <a:pPr>
              <a:spcAft>
                <a:spcPts val="600"/>
              </a:spcAft>
              <a:defRPr sz="1600">
                <a:solidFill>
                  <a:srgbClr val="E2E8F0"/>
                </a:solidFill>
                <a:latin typeface="Arial"/>
              </a:defRPr>
            </a:pPr>
            <a:r>
              <a:t>Automated file-watcher daemon for background ingestion of newly scanned notices.</a:t>
            </a:r>
          </a:p>
          <a:p>
            <a:pPr>
              <a:spcAft>
                <a:spcPts val="600"/>
              </a:spcAft>
              <a:defRPr sz="1600">
                <a:solidFill>
                  <a:srgbClr val="E2E8F0"/>
                </a:solidFill>
                <a:latin typeface="Arial"/>
              </a:defRPr>
            </a:pPr>
            <a:r>
              <a:t>🌐 Live Web Application: https://kgp-gyankosh.streamlit.app/</a:t>
            </a:r>
          </a:p>
          <a:p>
            <a:pPr>
              <a:spcAft>
                <a:spcPts val="600"/>
              </a:spcAft>
              <a:defRPr sz="1600">
                <a:solidFill>
                  <a:srgbClr val="E2E8F0"/>
                </a:solidFill>
                <a:latin typeface="Arial"/>
              </a:defRPr>
            </a:pPr>
            <a:r>
              <a:t>Thank You — Questions &amp; Discussion</a:t>
            </a:r>
          </a:p>
        </p:txBody>
      </p:sp>
      <p:sp>
        <p:nvSpPr>
          <p:cNvPr id="4" name="TextBox 3"/>
          <p:cNvSpPr txBox="1"/>
          <p:nvPr/>
        </p:nvSpPr>
        <p:spPr>
          <a:xfrm>
            <a:off x="731520" y="5943600"/>
            <a:ext cx="10698480" cy="548640"/>
          </a:xfrm>
          <a:prstGeom prst="rect">
            <a:avLst/>
          </a:prstGeom>
          <a:noFill/>
        </p:spPr>
        <p:txBody>
          <a:bodyPr wrap="square">
            <a:spAutoFit/>
          </a:bodyPr>
          <a:lstStyle/>
          <a:p>
            <a:pPr>
              <a:defRPr sz="1200" i="1">
                <a:solidFill>
                  <a:srgbClr val="94A3B8"/>
                </a:solidFill>
              </a:defRPr>
            </a:pPr>
            <a:r>
              <a:t>Visual: Left side: Delivered achievements summary; Right side: Future roadmap; Center bottom: Live web URL and QR code for evaluators to test on their phones.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